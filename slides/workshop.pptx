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4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822960"/>
            <a:ext cx="2011680" cy="12700"/>
          </a:xfrm>
          <a:prstGeom prst="rect">
            <a:avLst/>
          </a:prstGeom>
          <a:solidFill>
            <a:srgbClr val="E87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96012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400">
                <a:solidFill>
                  <a:srgbClr val="E8761B"/>
                </a:solidFill>
                <a:latin typeface="Calibri"/>
              </a:rPr>
              <a:t>A MASTERCLASS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1097280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0" b="0" i="1">
                <a:solidFill>
                  <a:srgbClr val="FFFFFF"/>
                </a:solidFill>
                <a:latin typeface="Georgia"/>
              </a:rPr>
              <a:t>Vibecoding.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9476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 i="0">
                <a:solidFill>
                  <a:srgbClr val="FAF7F0"/>
                </a:solidFill>
                <a:latin typeface="Georgia"/>
              </a:rPr>
              <a:t>Direct, verify, ship — with Claude Code.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52628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E8761B"/>
                </a:solidFill>
                <a:latin typeface="Consolas"/>
              </a:rPr>
              <a:t>&gt; a four-hour masterclass on agentic engineering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6692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300">
                <a:solidFill>
                  <a:srgbClr val="FFFFFF"/>
                </a:solidFill>
                <a:latin typeface="Calibri"/>
              </a:rPr>
              <a:t>ELIAS JELINEK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4360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FAF7F0"/>
                </a:solidFill>
                <a:latin typeface="Calibri"/>
              </a:rPr>
              <a:t>Place Beyond Bytes  ·  Chair of Sustainability and Innovation in Digital Ecosystems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172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FAF7F0"/>
                </a:solidFill>
                <a:latin typeface="Calibri"/>
              </a:rPr>
              <a:t>University of Duisburg-Essen  ·  Summer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899B0"/>
                </a:solidFill>
                <a:latin typeface="Consolas"/>
              </a:rPr>
              <a:t>01 / 100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ABOUT THE INSTRUCTOR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02 / 100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400">
                <a:solidFill>
                  <a:srgbClr val="E8761B"/>
                </a:solidFill>
                <a:latin typeface="Calibri"/>
              </a:rPr>
              <a:t>WHO IS RUNNING THIS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005840"/>
            <a:ext cx="109728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400" b="0" i="1">
                <a:solidFill>
                  <a:srgbClr val="14213D"/>
                </a:solidFill>
                <a:latin typeface="Georgia"/>
              </a:rPr>
              <a:t>Hi. I'm Elias.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743200"/>
            <a:ext cx="6858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300">
                <a:solidFill>
                  <a:srgbClr val="E8761B"/>
                </a:solidFill>
                <a:latin typeface="Calibri"/>
              </a:rPr>
              <a:t>WHAT I 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108960"/>
            <a:ext cx="685800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A1A1A"/>
                </a:solidFill>
                <a:latin typeface="Georgia"/>
              </a:rPr>
              <a:t>I research AI agents for the founding phase of startups - how teams can use agentic systems to go from idea to MVP to first revenue with a fraction of the headcount.</a:t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A1A1A"/>
                </a:solidFill>
                <a:latin typeface="Georgia"/>
              </a:rPr>
              <a:t>On the side, I build the thing I research: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63840" y="2743200"/>
            <a:ext cx="3657600" cy="1554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863840" y="2743200"/>
            <a:ext cx="146304" cy="1554480"/>
          </a:xfrm>
          <a:prstGeom prst="rect">
            <a:avLst/>
          </a:prstGeom>
          <a:solidFill>
            <a:srgbClr val="E87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92440" y="288036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 spc="300">
                <a:solidFill>
                  <a:srgbClr val="14213D"/>
                </a:solidFill>
                <a:latin typeface="Calibri"/>
              </a:rPr>
              <a:t>QUERSHIFT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92440" y="324612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E8761B"/>
                </a:solidFill>
                <a:latin typeface="Georgia"/>
              </a:rPr>
              <a:t>Agentic AI startup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92440" y="3611880"/>
            <a:ext cx="3383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Building exactly the kind of system this masterclass teaches.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863840" y="4526280"/>
            <a:ext cx="3657600" cy="12801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863840" y="4526280"/>
            <a:ext cx="146304" cy="1280160"/>
          </a:xfrm>
          <a:prstGeom prst="rect">
            <a:avLst/>
          </a:prstGeom>
          <a:solidFill>
            <a:srgbClr val="E87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92440" y="466344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 spc="300">
                <a:solidFill>
                  <a:srgbClr val="14213D"/>
                </a:solidFill>
                <a:latin typeface="Calibri"/>
              </a:rPr>
              <a:t>DIFFUSIONE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92440" y="502920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E8761B"/>
                </a:solidFill>
                <a:latin typeface="Georgia"/>
              </a:rPr>
              <a:t>Side ventures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92440" y="5394960"/>
            <a:ext cx="3383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Where I keep building things by hand.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897880"/>
            <a:ext cx="6858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6B6B6B"/>
                </a:solidFill>
                <a:latin typeface="Georgia"/>
              </a:rPr>
              <a:t>Plus a chair seat at the University of Duisburg-Essen - same topic.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WHAT THE NEXT HOUR LOOKS LIKE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03 / 100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6B6B"/>
                </a:solidFill>
                <a:latin typeface="Georgia"/>
              </a:rPr>
              <a:t>An hour of theory and demos. Then three hours of doing.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0" i="0">
                <a:solidFill>
                  <a:srgbClr val="14213D"/>
                </a:solidFill>
                <a:latin typeface="Georgia"/>
              </a:rPr>
              <a:t>Agenda.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194560"/>
            <a:ext cx="7315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E8761B"/>
                </a:solidFill>
                <a:latin typeface="Consolas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37360" y="2194560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14213D"/>
                </a:solidFill>
                <a:latin typeface="Georgia"/>
              </a:rPr>
              <a:t>What's possible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2221992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Six live demos — code, multi-agent, browser, ML, automation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697480"/>
            <a:ext cx="7315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E8761B"/>
                </a:solidFill>
                <a:latin typeface="Consolas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37360" y="2697480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14213D"/>
                </a:solidFill>
                <a:latin typeface="Georgia"/>
              </a:rPr>
              <a:t>The mindset shift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0" y="2724912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From vibe-coding to agentic engineering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200400"/>
            <a:ext cx="7315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E8761B"/>
                </a:solidFill>
                <a:latin typeface="Consolas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37360" y="3200400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14213D"/>
                </a:solidFill>
                <a:latin typeface="Georgia"/>
              </a:rPr>
              <a:t>Coding workflows — the core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0" y="3227832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Specs, plans, repo setup, tests, orchestrator, deploy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703320"/>
            <a:ext cx="7315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E8761B"/>
                </a:solidFill>
                <a:latin typeface="Consolas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37360" y="3703320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14213D"/>
                </a:solidFill>
                <a:latin typeface="Georgia"/>
              </a:rPr>
              <a:t>Beyond coding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0" y="3730752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Daily automations, project management, Second Brain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206240"/>
            <a:ext cx="7315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E8761B"/>
                </a:solidFill>
                <a:latin typeface="Consolas"/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37360" y="4206240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14213D"/>
                </a:solidFill>
                <a:latin typeface="Georgia"/>
              </a:rPr>
              <a:t>AI engineering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0" y="4233672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Using Claude Code to scaffold ML training, RAG, evals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4709160"/>
            <a:ext cx="7315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E8761B"/>
                </a:solidFill>
                <a:latin typeface="Consolas"/>
              </a:rPr>
              <a:t>06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37360" y="4709160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14213D"/>
                </a:solidFill>
                <a:latin typeface="Georgia"/>
              </a:rPr>
              <a:t>The wider toolbox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0" y="4736592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Cursor, Cline, Aider, Codex — when to use what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5212080"/>
            <a:ext cx="7315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E8761B"/>
                </a:solidFill>
                <a:latin typeface="Consolas"/>
              </a:rPr>
              <a:t>07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37360" y="5212080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14213D"/>
                </a:solidFill>
                <a:latin typeface="Georgia"/>
              </a:rPr>
              <a:t>Your turn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43600" y="5239512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Three hours of hands-on, in pairs, in this repo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4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400">
                <a:solidFill>
                  <a:srgbClr val="E8761B"/>
                </a:solidFill>
                <a:latin typeface="Calibri"/>
              </a:rPr>
              <a:t>TIME TO BUILD AN MVP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97280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5400" b="0" i="1">
                <a:solidFill>
                  <a:srgbClr val="FFFFFF"/>
                </a:solidFill>
                <a:latin typeface="Georgia"/>
              </a:rPr>
              <a:t>By 18:00 today,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108960"/>
            <a:ext cx="1097280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5400" b="0" i="1">
                <a:solidFill>
                  <a:srgbClr val="E8761B"/>
                </a:solidFill>
                <a:latin typeface="Georgia"/>
              </a:rPr>
              <a:t>you'll have shipped</a:t>
            </a:r>
          </a:p>
          <a:p>
            <a:pPr algn="l">
              <a:lnSpc>
                <a:spcPct val="110000"/>
              </a:lnSpc>
            </a:pPr>
            <a:r>
              <a:rPr sz="5400" b="0" i="1">
                <a:solidFill>
                  <a:srgbClr val="E8761B"/>
                </a:solidFill>
                <a:latin typeface="Georgia"/>
              </a:rPr>
              <a:t>something real.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4864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FAF7F0"/>
                </a:solidFill>
                <a:latin typeface="Georgia"/>
              </a:rPr>
              <a:t>Pick one: a CLI tool - a data script - a small web scraper - a trained model.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35508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899B0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20095" y="635508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899B0"/>
                </a:solidFill>
                <a:latin typeface="Consolas"/>
              </a:rPr>
              <a:t>04 / 100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DEFINITIONS  ·  01 / 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05 / 100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6B6B"/>
                </a:solidFill>
                <a:latin typeface="Georgia"/>
              </a:rPr>
              <a:t>First, two terms. They sound similar. They're not.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0" i="0">
                <a:solidFill>
                  <a:srgbClr val="14213D"/>
                </a:solidFill>
                <a:latin typeface="Georgia"/>
              </a:rPr>
              <a:t>Vibe Coding.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377440"/>
            <a:ext cx="38100" cy="2743200"/>
          </a:xfrm>
          <a:prstGeom prst="rect">
            <a:avLst/>
          </a:prstGeom>
          <a:solidFill>
            <a:srgbClr val="E87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2377440"/>
            <a:ext cx="105156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600" b="0" i="1">
                <a:solidFill>
                  <a:srgbClr val="14213D"/>
                </a:solidFill>
                <a:latin typeface="Georgia"/>
              </a:rPr>
              <a:t>“I described what I wanted in plain English</a:t>
            </a:r>
          </a:p>
          <a:p>
            <a:pPr algn="l">
              <a:lnSpc>
                <a:spcPct val="130000"/>
              </a:lnSpc>
            </a:pPr>
            <a:r>
              <a:rPr sz="2600" b="0" i="1">
                <a:solidFill>
                  <a:srgbClr val="14213D"/>
                </a:solidFill>
                <a:latin typeface="Georgia"/>
              </a:rPr>
              <a:t>and the AI built it.”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402336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1">
                <a:solidFill>
                  <a:srgbClr val="E8761B"/>
                </a:solidFill>
                <a:latin typeface="Georgia"/>
              </a:rPr>
              <a:t>Fast. Magical. Often broken on the second input.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5262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1A1A1A"/>
                </a:solidFill>
                <a:latin typeface="Calibri"/>
              </a:rPr>
              <a:t>Great for prototypes. Great for solo weekends. Less great for clients.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8521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6B6B"/>
                </a:solidFill>
                <a:latin typeface="Georgia"/>
              </a:rPr>
              <a:t>The vibe is the prompt. The result is whatever Claude felt like producing.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DEFINITIONS  ·  02 / 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06 / 100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6B6B"/>
                </a:solidFill>
                <a:latin typeface="Georgia"/>
              </a:rPr>
              <a:t>Where this masterclass actually lives.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0" i="0">
                <a:solidFill>
                  <a:srgbClr val="14213D"/>
                </a:solidFill>
                <a:latin typeface="Georgia"/>
              </a:rPr>
              <a:t>Agentic Engineering.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468880"/>
            <a:ext cx="5394960" cy="3200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2468880"/>
            <a:ext cx="5394960" cy="502920"/>
          </a:xfrm>
          <a:prstGeom prst="rect">
            <a:avLst/>
          </a:prstGeom>
          <a:solidFill>
            <a:srgbClr val="6B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587752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300">
                <a:solidFill>
                  <a:srgbClr val="FFFFFF"/>
                </a:solidFill>
                <a:latin typeface="Calibri"/>
              </a:rPr>
              <a:t>VIBE CODING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33756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1">
                <a:solidFill>
                  <a:srgbClr val="14213D"/>
                </a:solidFill>
                <a:latin typeface="Georgia"/>
              </a:rPr>
              <a:t>Prompt -&gt; result.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931920"/>
            <a:ext cx="50292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You ask. AI delivers. You verify (or don't).</a:t>
            </a:r>
          </a:p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Works for: throwaway scripts, quick prototypes, fun.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0" y="246888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0" y="2468880"/>
            <a:ext cx="5029200" cy="502920"/>
          </a:xfrm>
          <a:prstGeom prst="rect">
            <a:avLst/>
          </a:prstGeom>
          <a:solidFill>
            <a:srgbClr val="E87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5120" y="2587752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300">
                <a:solidFill>
                  <a:srgbClr val="FFFFFF"/>
                </a:solidFill>
                <a:latin typeface="Calibri"/>
              </a:rPr>
              <a:t>AGENTIC ENGINEERING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333756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1">
                <a:solidFill>
                  <a:srgbClr val="14213D"/>
                </a:solidFill>
                <a:latin typeface="Georgia"/>
              </a:rPr>
              <a:t>Spec -&gt; plan -&gt; verify -&gt; repeat.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0" y="3931920"/>
            <a:ext cx="45720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You stay the engineer. AI does the typing. Every step has evidence.</a:t>
            </a:r>
          </a:p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Works for: clients, production systems, your career.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9893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E8761B"/>
                </a:solidFill>
                <a:latin typeface="Georgia"/>
              </a:rPr>
              <a:t>Today is about the right side. The left is just where we start.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QUICK PRIMER  ·  01 / 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07 / 100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6B6B"/>
                </a:solidFill>
                <a:latin typeface="Georgia"/>
              </a:rPr>
              <a:t>Forty seconds. Enough to understand what's actually happening.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0" i="0">
                <a:solidFill>
                  <a:srgbClr val="14213D"/>
                </a:solidFill>
                <a:latin typeface="Georgia"/>
              </a:rPr>
              <a:t>What is an LLM?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468880"/>
            <a:ext cx="3611880" cy="2468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2468880"/>
            <a:ext cx="3611880" cy="457200"/>
          </a:xfrm>
          <a:prstGeom prst="rect">
            <a:avLst/>
          </a:prstGeom>
          <a:solidFill>
            <a:srgbClr val="E87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542032"/>
            <a:ext cx="3611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 spc="300">
                <a:solidFill>
                  <a:srgbClr val="FFFFFF"/>
                </a:solidFill>
                <a:latin typeface="Consolas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200400"/>
            <a:ext cx="3246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4213D"/>
                </a:solidFill>
                <a:latin typeface="Georgia"/>
              </a:rPr>
              <a:t>TRAINED ON TEXT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794760"/>
            <a:ext cx="32461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Read most of the internet, plus books, code, papers - once.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34840" y="2468880"/>
            <a:ext cx="3611880" cy="2468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34840" y="2468880"/>
            <a:ext cx="3611880" cy="457200"/>
          </a:xfrm>
          <a:prstGeom prst="rect">
            <a:avLst/>
          </a:prstGeom>
          <a:solidFill>
            <a:srgbClr val="E87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09160" y="2542032"/>
            <a:ext cx="3611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 spc="300">
                <a:solidFill>
                  <a:srgbClr val="FFFFFF"/>
                </a:solidFill>
                <a:latin typeface="Consolas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3200400"/>
            <a:ext cx="3246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4213D"/>
                </a:solidFill>
                <a:latin typeface="Georgia"/>
              </a:rPr>
              <a:t>PREDICTS NEXT TOKEN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09160" y="3794760"/>
            <a:ext cx="32461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Given a sequence so far, returns the most likely next chunk.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38160" y="2468880"/>
            <a:ext cx="3611880" cy="2468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38160" y="2468880"/>
            <a:ext cx="3611880" cy="457200"/>
          </a:xfrm>
          <a:prstGeom prst="rect">
            <a:avLst/>
          </a:prstGeom>
          <a:solidFill>
            <a:srgbClr val="E87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0" y="2542032"/>
            <a:ext cx="3611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 spc="300">
                <a:solidFill>
                  <a:srgbClr val="FFFFFF"/>
                </a:solidFill>
                <a:latin typeface="Consolas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0" y="3200400"/>
            <a:ext cx="3246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4213D"/>
                </a:solidFill>
                <a:latin typeface="Georgia"/>
              </a:rPr>
              <a:t>REPEATED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0" y="3794760"/>
            <a:ext cx="32461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Run that prediction over and over. The result looks like reasoning.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4864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1A1A1A"/>
                </a:solidFill>
                <a:latin typeface="Georgia"/>
              </a:rPr>
              <a:t>It is not a database. It is not a calculator. It is a very good guesser.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58521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E8761B"/>
                </a:solidFill>
                <a:latin typeface="Georgia"/>
              </a:rPr>
              <a:t>Everything we'll learn today is about how to make the guessing useful.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QUICK PRIMER  ·  02 / 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08 / 100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6B6B"/>
                </a:solidFill>
                <a:latin typeface="Georgia"/>
              </a:rPr>
              <a:t>Same underlying tech. Very different products.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0" i="0">
                <a:solidFill>
                  <a:srgbClr val="14213D"/>
                </a:solidFill>
                <a:latin typeface="Georgia"/>
              </a:rPr>
              <a:t>Claude - and where it sits.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28600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300">
                <a:solidFill>
                  <a:srgbClr val="E8761B"/>
                </a:solidFill>
                <a:latin typeface="Calibri"/>
              </a:rPr>
              <a:t>MODEL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2286000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300">
                <a:solidFill>
                  <a:srgbClr val="E8761B"/>
                </a:solidFill>
                <a:latin typeface="Calibri"/>
              </a:rPr>
              <a:t>VENDOR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28600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300">
                <a:solidFill>
                  <a:srgbClr val="E8761B"/>
                </a:solidFill>
                <a:latin typeface="Calibri"/>
              </a:rPr>
              <a:t>WHAT IT'S BEST AT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2651760"/>
            <a:ext cx="1072865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2788920"/>
            <a:ext cx="3200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1">
                <a:solidFill>
                  <a:srgbClr val="1A1A1A"/>
                </a:solidFill>
                <a:latin typeface="Georgia"/>
              </a:rPr>
              <a:t>CHATGPT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2816352"/>
            <a:ext cx="2011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B6B6B"/>
                </a:solidFill>
                <a:latin typeface="Consolas"/>
              </a:rPr>
              <a:t>OpenAI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816352"/>
            <a:ext cx="5486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General-purpose chatbot, biggest mindshare, broadest API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383280"/>
            <a:ext cx="3200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1">
                <a:solidFill>
                  <a:srgbClr val="1A1A1A"/>
                </a:solidFill>
                <a:latin typeface="Georgia"/>
              </a:rPr>
              <a:t>CLAUDE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0" y="3410712"/>
            <a:ext cx="2011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B6B6B"/>
                </a:solidFill>
                <a:latin typeface="Consolas"/>
              </a:rPr>
              <a:t>Anthropic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3410712"/>
            <a:ext cx="5486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Strong on long context, careful reasoning, agentic workflows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3977640"/>
            <a:ext cx="3200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1">
                <a:solidFill>
                  <a:srgbClr val="1A1A1A"/>
                </a:solidFill>
                <a:latin typeface="Georgia"/>
              </a:rPr>
              <a:t>GEMINI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0" y="4005072"/>
            <a:ext cx="2011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B6B6B"/>
                </a:solidFill>
                <a:latin typeface="Consolas"/>
              </a:rPr>
              <a:t>Google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4005072"/>
            <a:ext cx="5486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Tight Workspace integration, strong multi-modal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4572000"/>
            <a:ext cx="3200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1">
                <a:solidFill>
                  <a:srgbClr val="1A1A1A"/>
                </a:solidFill>
                <a:latin typeface="Georgia"/>
              </a:rPr>
              <a:t>LLAMA / MISTRAL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0" y="4599432"/>
            <a:ext cx="2011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B6B6B"/>
                </a:solidFill>
                <a:latin typeface="Consolas"/>
              </a:rPr>
              <a:t>Open weights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4599432"/>
            <a:ext cx="5486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Run locally or on your own infra; smaller, hackable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5166360"/>
            <a:ext cx="3200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1">
                <a:solidFill>
                  <a:srgbClr val="E8761B"/>
                </a:solidFill>
                <a:latin typeface="Georgia"/>
              </a:rPr>
              <a:t>CLAUDE CODE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14800" y="5193792"/>
            <a:ext cx="2011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B6B6B"/>
                </a:solidFill>
                <a:latin typeface="Consolas"/>
              </a:rPr>
              <a:t>Anthropic CLI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5193792"/>
            <a:ext cx="5486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What we'll use today - a terminal-native agent harness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THE MATURITY LADDER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09 / 100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6B6B"/>
                </a:solidFill>
                <a:latin typeface="Georgia"/>
              </a:rPr>
              <a:t>Where AI lives in your workflow. Each rung needs different tools.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0" i="0">
                <a:solidFill>
                  <a:srgbClr val="14213D"/>
                </a:solidFill>
                <a:latin typeface="Georgia"/>
              </a:rPr>
              <a:t>Five levels of AI integration.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331720"/>
            <a:ext cx="548640" cy="411480"/>
          </a:xfrm>
          <a:prstGeom prst="rect">
            <a:avLst/>
          </a:prstGeom>
          <a:solidFill>
            <a:srgbClr val="6B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63040" y="2240280"/>
            <a:ext cx="548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E8761B"/>
                </a:solidFill>
                <a:latin typeface="Consolas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2267712"/>
            <a:ext cx="2286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14213D"/>
                </a:solidFill>
                <a:latin typeface="Georgia"/>
              </a:rPr>
              <a:t>CHATBOT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587752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6B6B"/>
                </a:solidFill>
                <a:latin typeface="Consolas"/>
              </a:rPr>
              <a:t>ChatGPT, Claude.ai web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2267712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Tab open. Copy-paste. Manual.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2971800"/>
            <a:ext cx="1280160" cy="411480"/>
          </a:xfrm>
          <a:prstGeom prst="rect">
            <a:avLst/>
          </a:prstGeom>
          <a:solidFill>
            <a:srgbClr val="6B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194560" y="2880360"/>
            <a:ext cx="548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E8761B"/>
                </a:solidFill>
                <a:latin typeface="Consolas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0" y="2907792"/>
            <a:ext cx="2286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14213D"/>
                </a:solidFill>
                <a:latin typeface="Georgia"/>
              </a:rPr>
              <a:t>IDE INTEGRATION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0" y="3227832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6B6B"/>
                </a:solidFill>
                <a:latin typeface="Consolas"/>
              </a:rPr>
              <a:t>Cursor, Copilot, Continue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2907792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AI in your editor. Inline completions, side-chat.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3611880"/>
            <a:ext cx="2011680" cy="411480"/>
          </a:xfrm>
          <a:prstGeom prst="rect">
            <a:avLst/>
          </a:prstGeom>
          <a:solidFill>
            <a:srgbClr val="E87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926080" y="3520440"/>
            <a:ext cx="548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E8761B"/>
                </a:solidFill>
                <a:latin typeface="Consolas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0" y="3547872"/>
            <a:ext cx="2286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14213D"/>
                </a:solidFill>
                <a:latin typeface="Georgia"/>
              </a:rPr>
              <a:t>AGENTIC CODING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0" y="3867912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6B6B"/>
                </a:solidFill>
                <a:latin typeface="Consolas"/>
              </a:rPr>
              <a:t>Claude Code, Aider, Codex CLI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0" y="3547872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Terminal-native. Plans, edits, runs tests.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" y="4251960"/>
            <a:ext cx="2743200" cy="411480"/>
          </a:xfrm>
          <a:prstGeom prst="rect">
            <a:avLst/>
          </a:prstGeom>
          <a:solidFill>
            <a:srgbClr val="E87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0" y="4160520"/>
            <a:ext cx="548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E8761B"/>
                </a:solidFill>
                <a:latin typeface="Consolas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0" y="4187952"/>
            <a:ext cx="2286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14213D"/>
                </a:solidFill>
                <a:latin typeface="Georgia"/>
              </a:rPr>
              <a:t>MULTI-AGENT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0" y="4507992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6B6B"/>
                </a:solidFill>
                <a:latin typeface="Consolas"/>
              </a:rPr>
              <a:t>Agent Teams, custom harnesses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2480" y="4187952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Orchestrator + subagents. Parallel work, verified handoffs.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31520" y="4892040"/>
            <a:ext cx="3474720" cy="411480"/>
          </a:xfrm>
          <a:prstGeom prst="rect">
            <a:avLst/>
          </a:prstGeom>
          <a:solidFill>
            <a:srgbClr val="E87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389120" y="4800600"/>
            <a:ext cx="548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E8761B"/>
                </a:solidFill>
                <a:latin typeface="Consolas"/>
              </a:rPr>
              <a:t>05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0" y="4828032"/>
            <a:ext cx="2286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14213D"/>
                </a:solidFill>
                <a:latin typeface="Georgia"/>
              </a:rPr>
              <a:t>AUTO-DEV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5148072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6B6B"/>
                </a:solidFill>
                <a:latin typeface="Consolas"/>
              </a:rPr>
              <a:t>Anthropic Routines, Devin-class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12480" y="4828032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Continuous: spec in, deployed code out. Human approves milestones.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8521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E8761B"/>
                </a:solidFill>
                <a:latin typeface="Georgia"/>
              </a:rPr>
              <a:t>Today we operate at levels 3 and 4 - and look at level 5.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THE HARNESS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10 / 100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6B6B"/>
                </a:solidFill>
                <a:latin typeface="Georgia"/>
              </a:rPr>
              <a:t>What turns a chatbot into an agent. What Claude Code actually is.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 i="0">
                <a:solidFill>
                  <a:srgbClr val="14213D"/>
                </a:solidFill>
                <a:latin typeface="Georgia"/>
              </a:rPr>
              <a:t>What is an agent harness?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37744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300">
                <a:solidFill>
                  <a:srgbClr val="E8761B"/>
                </a:solidFill>
                <a:latin typeface="Calibri"/>
              </a:rPr>
              <a:t>THE SHORT VERSION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743200"/>
            <a:ext cx="502920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1A1A1A"/>
                </a:solidFill>
                <a:latin typeface="Georgia"/>
              </a:rPr>
              <a:t>A program that gives an LLM the ability to do things.</a:t>
            </a:r>
          </a:p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1A1A1A"/>
                </a:solidFill>
                <a:latin typeface="Georgia"/>
              </a:rPr>
              <a:t>Read files. Run commands. Call APIs. Loop until done. Stop when stuck. Ask for approval.</a:t>
            </a:r>
          </a:p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1A1A1A"/>
                </a:solidFill>
                <a:latin typeface="Georgia"/>
              </a:rPr>
              <a:t>The LLM is the brain. The harness is the body.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7744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300">
                <a:solidFill>
                  <a:srgbClr val="E8761B"/>
                </a:solidFill>
                <a:latin typeface="Calibri"/>
              </a:rPr>
              <a:t>WHAT'S INSIDE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2743200"/>
            <a:ext cx="502920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0" y="2743200"/>
            <a:ext cx="128016" cy="502920"/>
          </a:xfrm>
          <a:prstGeom prst="rect">
            <a:avLst/>
          </a:prstGeom>
          <a:solidFill>
            <a:srgbClr val="E87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29400" y="2770632"/>
            <a:ext cx="2011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4213D"/>
                </a:solidFill>
                <a:latin typeface="Consolas"/>
              </a:rPr>
              <a:t>LLM CORE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2807208"/>
            <a:ext cx="2743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The model. Predicts the next action.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3346704"/>
            <a:ext cx="502920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0" y="3346704"/>
            <a:ext cx="128016" cy="502920"/>
          </a:xfrm>
          <a:prstGeom prst="rect">
            <a:avLst/>
          </a:prstGeom>
          <a:solidFill>
            <a:srgbClr val="E87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29400" y="3374136"/>
            <a:ext cx="2011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4213D"/>
                </a:solidFill>
                <a:latin typeface="Consolas"/>
              </a:rPr>
              <a:t>TOOL LAYER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3410712"/>
            <a:ext cx="2743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Read, Write, Edit, Bash, WebFetch, MCP servers.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0" y="3950208"/>
            <a:ext cx="502920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0" y="3950208"/>
            <a:ext cx="128016" cy="502920"/>
          </a:xfrm>
          <a:prstGeom prst="rect">
            <a:avLst/>
          </a:prstGeom>
          <a:solidFill>
            <a:srgbClr val="E87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29400" y="3977640"/>
            <a:ext cx="2011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4213D"/>
                </a:solidFill>
                <a:latin typeface="Consolas"/>
              </a:rPr>
              <a:t>CONTEXT MANAGER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0" y="4014216"/>
            <a:ext cx="2743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What's in the prompt right now. Files, memory, history.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0" y="4553712"/>
            <a:ext cx="502920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00800" y="4553712"/>
            <a:ext cx="128016" cy="502920"/>
          </a:xfrm>
          <a:prstGeom prst="rect">
            <a:avLst/>
          </a:prstGeom>
          <a:solidFill>
            <a:srgbClr val="E87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29400" y="4581144"/>
            <a:ext cx="2011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4213D"/>
                </a:solidFill>
                <a:latin typeface="Consolas"/>
              </a:rPr>
              <a:t>LOOP / PLANNER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0" y="4617720"/>
            <a:ext cx="2743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Decides what to do next. Detects done. Detects stuck.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0" y="5157216"/>
            <a:ext cx="502920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400800" y="5157216"/>
            <a:ext cx="128016" cy="502920"/>
          </a:xfrm>
          <a:prstGeom prst="rect">
            <a:avLst/>
          </a:prstGeom>
          <a:solidFill>
            <a:srgbClr val="E87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29400" y="5184648"/>
            <a:ext cx="2011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4213D"/>
                </a:solidFill>
                <a:latin typeface="Consolas"/>
              </a:rPr>
              <a:t>PERMISSIONS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0" y="5221224"/>
            <a:ext cx="2743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Asks before destructive actions. Sandboxes.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THE FULL LIFECYCLE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11 / 100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6B6B"/>
                </a:solidFill>
                <a:latin typeface="Georgia"/>
              </a:rPr>
              <a:t>Real software has more than five steps. Here's the bigger loop.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14213D"/>
                </a:solidFill>
                <a:latin typeface="Georgia"/>
              </a:rPr>
              <a:t>Plan -&gt; Test -&gt; Implement -&gt; Deploy -&gt; Maintain.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377440"/>
            <a:ext cx="2157984" cy="228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2377440"/>
            <a:ext cx="2157984" cy="411480"/>
          </a:xfrm>
          <a:prstGeom prst="rect">
            <a:avLst/>
          </a:prstGeom>
          <a:solidFill>
            <a:srgbClr val="142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450592"/>
            <a:ext cx="21579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 spc="300">
                <a:solidFill>
                  <a:srgbClr val="FFFFFF"/>
                </a:solidFill>
                <a:latin typeface="Consolas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971800"/>
            <a:ext cx="179222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14213D"/>
                </a:solidFill>
                <a:latin typeface="Georgia"/>
              </a:rPr>
              <a:t>PLAN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474720"/>
            <a:ext cx="1792224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Spec it. Sketch the plan. Review.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89504" y="3291840"/>
            <a:ext cx="5486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 i="0">
                <a:solidFill>
                  <a:srgbClr val="E8761B"/>
                </a:solidFill>
                <a:latin typeface="Georgia"/>
              </a:rPr>
              <a:t>-&gt;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944368" y="2377440"/>
            <a:ext cx="2157984" cy="228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944368" y="2377440"/>
            <a:ext cx="2157984" cy="411480"/>
          </a:xfrm>
          <a:prstGeom prst="rect">
            <a:avLst/>
          </a:prstGeom>
          <a:solidFill>
            <a:srgbClr val="142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172968" y="2450592"/>
            <a:ext cx="21579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 spc="300">
                <a:solidFill>
                  <a:srgbClr val="FFFFFF"/>
                </a:solidFill>
                <a:latin typeface="Consolas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72968" y="2971800"/>
            <a:ext cx="179222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14213D"/>
                </a:solidFill>
                <a:latin typeface="Georgia"/>
              </a:rPr>
              <a:t>TEST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72968" y="3474720"/>
            <a:ext cx="1792224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Failing tests first. Define done.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02352" y="3291840"/>
            <a:ext cx="5486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 i="0">
                <a:solidFill>
                  <a:srgbClr val="E8761B"/>
                </a:solidFill>
                <a:latin typeface="Georgia"/>
              </a:rPr>
              <a:t>-&gt;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157216" y="2377440"/>
            <a:ext cx="2157984" cy="228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157216" y="2377440"/>
            <a:ext cx="2157984" cy="411480"/>
          </a:xfrm>
          <a:prstGeom prst="rect">
            <a:avLst/>
          </a:prstGeom>
          <a:solidFill>
            <a:srgbClr val="142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85816" y="2450592"/>
            <a:ext cx="21579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 spc="300">
                <a:solidFill>
                  <a:srgbClr val="FFFFFF"/>
                </a:solidFill>
                <a:latin typeface="Consolas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85816" y="2971800"/>
            <a:ext cx="179222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14213D"/>
                </a:solidFill>
                <a:latin typeface="Georgia"/>
              </a:rPr>
              <a:t>IMPLEMENT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85816" y="3474720"/>
            <a:ext cx="1792224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Code. Pass the tests.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0" y="3291840"/>
            <a:ext cx="5486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 i="0">
                <a:solidFill>
                  <a:srgbClr val="E8761B"/>
                </a:solidFill>
                <a:latin typeface="Georgia"/>
              </a:rPr>
              <a:t>-&gt;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370064" y="2377440"/>
            <a:ext cx="2157984" cy="228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370064" y="2377440"/>
            <a:ext cx="2157984" cy="411480"/>
          </a:xfrm>
          <a:prstGeom prst="rect">
            <a:avLst/>
          </a:prstGeom>
          <a:solidFill>
            <a:srgbClr val="142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598664" y="2450592"/>
            <a:ext cx="21579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 spc="300">
                <a:solidFill>
                  <a:srgbClr val="FFFFFF"/>
                </a:solidFill>
                <a:latin typeface="Consolas"/>
              </a:rPr>
              <a:t>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98664" y="2971800"/>
            <a:ext cx="179222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14213D"/>
                </a:solidFill>
                <a:latin typeface="Georgia"/>
              </a:rPr>
              <a:t>DEPLOY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98664" y="3474720"/>
            <a:ext cx="1792224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Ship to staging. Smoke-check.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28048" y="3291840"/>
            <a:ext cx="5486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 i="0">
                <a:solidFill>
                  <a:srgbClr val="E8761B"/>
                </a:solidFill>
                <a:latin typeface="Georgia"/>
              </a:rPr>
              <a:t>-&gt;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582912" y="2377440"/>
            <a:ext cx="2157984" cy="228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582912" y="2377440"/>
            <a:ext cx="2157984" cy="411480"/>
          </a:xfrm>
          <a:prstGeom prst="rect">
            <a:avLst/>
          </a:prstGeom>
          <a:solidFill>
            <a:srgbClr val="E87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811512" y="2450592"/>
            <a:ext cx="21579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 spc="300">
                <a:solidFill>
                  <a:srgbClr val="FFFFFF"/>
                </a:solidFill>
                <a:latin typeface="Consolas"/>
              </a:rPr>
              <a:t>05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11512" y="2971800"/>
            <a:ext cx="179222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14213D"/>
                </a:solidFill>
                <a:latin typeface="Georgia"/>
              </a:rPr>
              <a:t>MAINTAIN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811512" y="3474720"/>
            <a:ext cx="1792224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Watch logs. Fix regressions. Loop.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520" y="493776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 i="1">
                <a:solidFill>
                  <a:srgbClr val="E8761B"/>
                </a:solidFill>
                <a:latin typeface="Georgia"/>
              </a:rPr>
              <a:t>back to PLAN.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" y="58521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1A1A1A"/>
                </a:solidFill>
                <a:latin typeface="Georgia"/>
              </a:rPr>
              <a:t>Most teams stop at step 3. The whole point of agentic work is step 5.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400">
                <a:solidFill>
                  <a:srgbClr val="E8761B"/>
                </a:solidFill>
                <a:latin typeface="Calibri"/>
              </a:rPr>
              <a:t>DISCUSSION  ·  04 MINUTES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97280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600" b="0" i="1">
                <a:solidFill>
                  <a:srgbClr val="14213D"/>
                </a:solidFill>
                <a:latin typeface="Georgia"/>
              </a:rPr>
              <a:t>What's the most boring,</a:t>
            </a:r>
          </a:p>
          <a:p>
            <a:pPr algn="l">
              <a:lnSpc>
                <a:spcPct val="110000"/>
              </a:lnSpc>
            </a:pPr>
            <a:r>
              <a:rPr sz="4600" b="0" i="1">
                <a:solidFill>
                  <a:srgbClr val="14213D"/>
                </a:solidFill>
                <a:latin typeface="Georgia"/>
              </a:rPr>
              <a:t>most repetitive thing</a:t>
            </a:r>
          </a:p>
          <a:p>
            <a:pPr algn="l">
              <a:lnSpc>
                <a:spcPct val="110000"/>
              </a:lnSpc>
            </a:pPr>
            <a:r>
              <a:rPr sz="4600" b="0" i="1">
                <a:solidFill>
                  <a:srgbClr val="14213D"/>
                </a:solidFill>
                <a:latin typeface="Georgia"/>
              </a:rPr>
              <a:t>you do every week?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5212080"/>
            <a:ext cx="10972800" cy="1097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53492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300">
                <a:solidFill>
                  <a:srgbClr val="E8761B"/>
                </a:solidFill>
                <a:latin typeface="Calibri"/>
              </a:rPr>
              <a:t>HOW TO DISCUSS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571500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1A1A1A"/>
                </a:solidFill>
                <a:latin typeface="Georgia"/>
              </a:rPr>
              <a:t>Two minutes with your buddy. Then two pairs share with the room.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12 / 100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DEMO 01  ·  HOOK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13 / 100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029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6B6B"/>
                </a:solidFill>
                <a:latin typeface="Georgia"/>
              </a:rPr>
              <a:t>From one paragraph to a working app, in under five minutes.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82296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0" i="0">
                <a:solidFill>
                  <a:srgbClr val="14213D"/>
                </a:solidFill>
                <a:latin typeface="Georgia"/>
              </a:rPr>
              <a:t>Vibe-build an MVP.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1874519"/>
            <a:ext cx="4937760" cy="2194560"/>
          </a:xfrm>
          <a:prstGeom prst="rect">
            <a:avLst/>
          </a:prstGeom>
          <a:solidFill>
            <a:srgbClr val="1E21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130551"/>
            <a:ext cx="4425696" cy="16824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300">
                <a:solidFill>
                  <a:srgbClr val="E8761B"/>
                </a:solidFill>
                <a:latin typeface="Consolas"/>
              </a:rPr>
              <a:t>&gt; claude</a:t>
            </a:r>
          </a:p>
          <a:p>
            <a:pPr>
              <a:lnSpc>
                <a:spcPct val="135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/>
            </a:r>
          </a:p>
          <a:p>
            <a:pPr>
              <a:lnSpc>
                <a:spcPct val="135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"Build a Pomodoro timer.</a:t>
            </a:r>
          </a:p>
          <a:p>
            <a:pPr>
              <a:lnSpc>
                <a:spcPct val="135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 25 min focus, 5 min rest.</a:t>
            </a:r>
          </a:p>
          <a:p>
            <a:pPr>
              <a:lnSpc>
                <a:spcPct val="135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 Stats persist. Editorial style.</a:t>
            </a:r>
          </a:p>
          <a:p>
            <a:pPr>
              <a:lnSpc>
                <a:spcPct val="135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 Cream + coral. No frameworks."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34075" y="1864994"/>
            <a:ext cx="5505450" cy="3128010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01-pomodo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874519"/>
            <a:ext cx="5486400" cy="31089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943600" y="5074919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6B6B"/>
                </a:solidFill>
                <a:latin typeface="Calibri"/>
              </a:rPr>
              <a:t>Final UI · localStorage persistence · zero dependencies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29768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300">
                <a:solidFill>
                  <a:srgbClr val="E8761B"/>
                </a:solidFill>
                <a:latin typeface="Calibri"/>
              </a:rPr>
              <a:t>ONE PROMPT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663440"/>
            <a:ext cx="51206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1A1A1A"/>
                </a:solidFill>
                <a:latin typeface="Georgia"/>
              </a:rPr>
              <a:t>No framework. No build step. Spec-tight prompt + plan mode + render = working app.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8521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E8761B"/>
                </a:solidFill>
                <a:latin typeface="Georgia"/>
              </a:rPr>
              <a:t>But this is the easy part. Now what about real software?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DEMO 02  ·  THE FULL CYCLE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14 / 100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029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6B6B"/>
                </a:solidFill>
                <a:latin typeface="Georgia"/>
              </a:rPr>
              <a:t>How production-ish features actually move through Claude Code.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82296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0" i="0">
                <a:solidFill>
                  <a:srgbClr val="14213D"/>
                </a:solidFill>
                <a:latin typeface="Georgia"/>
              </a:rPr>
              <a:t>Spec → Plan → Implementation.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737360"/>
            <a:ext cx="3611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300">
                <a:solidFill>
                  <a:srgbClr val="E8761B"/>
                </a:solidFill>
                <a:latin typeface="Calibri"/>
              </a:rPr>
              <a:t>SPEC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029968"/>
            <a:ext cx="36118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demos/02-…/spec.md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286000"/>
            <a:ext cx="3611880" cy="3566160"/>
          </a:xfrm>
          <a:prstGeom prst="rect">
            <a:avLst/>
          </a:prstGeom>
          <a:solidFill>
            <a:srgbClr val="1E21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2542032"/>
            <a:ext cx="3099816" cy="30540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000">
                <a:solidFill>
                  <a:srgbClr val="E8761B"/>
                </a:solidFill>
                <a:latin typeface="Consolas"/>
              </a:rPr>
              <a:t># Spec — CSV Export</a:t>
            </a:r>
          </a:p>
          <a:p>
            <a:pPr>
              <a:lnSpc>
                <a:spcPct val="135000"/>
              </a:lnSpc>
            </a:pPr>
            <a:r>
              <a:rPr sz="1000">
                <a:solidFill>
                  <a:srgbClr val="E6E6E6"/>
                </a:solidFill>
                <a:latin typeface="Consolas"/>
              </a:rPr>
              <a:t/>
            </a:r>
          </a:p>
          <a:p>
            <a:pPr>
              <a:lnSpc>
                <a:spcPct val="135000"/>
              </a:lnSpc>
            </a:pPr>
            <a:r>
              <a:rPr sz="1000">
                <a:solidFill>
                  <a:srgbClr val="7F848A"/>
                </a:solidFill>
                <a:latin typeface="Consolas"/>
              </a:rPr>
              <a:t>Owner: Elias</a:t>
            </a:r>
          </a:p>
          <a:p>
            <a:pPr>
              <a:lnSpc>
                <a:spcPct val="135000"/>
              </a:lnSpc>
            </a:pPr>
            <a:r>
              <a:rPr sz="1000">
                <a:solidFill>
                  <a:srgbClr val="7F848A"/>
                </a:solidFill>
                <a:latin typeface="Consolas"/>
              </a:rPr>
              <a:t>Status: approved</a:t>
            </a:r>
          </a:p>
          <a:p>
            <a:pPr>
              <a:lnSpc>
                <a:spcPct val="135000"/>
              </a:lnSpc>
            </a:pPr>
            <a:r>
              <a:rPr sz="1000">
                <a:solidFill>
                  <a:srgbClr val="E6E6E6"/>
                </a:solidFill>
                <a:latin typeface="Consolas"/>
              </a:rPr>
              <a:t/>
            </a:r>
          </a:p>
          <a:p>
            <a:pPr>
              <a:lnSpc>
                <a:spcPct val="135000"/>
              </a:lnSpc>
            </a:pPr>
            <a:r>
              <a:rPr sz="1000">
                <a:solidFill>
                  <a:srgbClr val="98C379"/>
                </a:solidFill>
                <a:latin typeface="Consolas"/>
              </a:rPr>
              <a:t>## Checkable criteria</a:t>
            </a:r>
          </a:p>
          <a:p>
            <a:pPr>
              <a:lnSpc>
                <a:spcPct val="135000"/>
              </a:lnSpc>
            </a:pPr>
            <a:r>
              <a:rPr sz="1000">
                <a:solidFill>
                  <a:srgbClr val="E6E6E6"/>
                </a:solidFill>
                <a:latin typeface="Consolas"/>
              </a:rPr>
              <a:t>1. export_to_csv(rows, out) ...</a:t>
            </a:r>
          </a:p>
          <a:p>
            <a:pPr>
              <a:lnSpc>
                <a:spcPct val="135000"/>
              </a:lnSpc>
            </a:pPr>
            <a:r>
              <a:rPr sz="1000">
                <a:solidFill>
                  <a:srgbClr val="E6E6E6"/>
                </a:solidFill>
                <a:latin typeface="Consolas"/>
              </a:rPr>
              <a:t>2. Header row present.</a:t>
            </a:r>
          </a:p>
          <a:p>
            <a:pPr>
              <a:lnSpc>
                <a:spcPct val="135000"/>
              </a:lnSpc>
            </a:pPr>
            <a:r>
              <a:rPr sz="1000">
                <a:solidFill>
                  <a:srgbClr val="E6E6E6"/>
                </a:solidFill>
                <a:latin typeface="Consolas"/>
              </a:rPr>
              <a:t>3. UTF-8, RFC 4180.</a:t>
            </a:r>
          </a:p>
          <a:p>
            <a:pPr>
              <a:lnSpc>
                <a:spcPct val="135000"/>
              </a:lnSpc>
            </a:pPr>
            <a:r>
              <a:rPr sz="1000">
                <a:solidFill>
                  <a:srgbClr val="E6E6E6"/>
                </a:solidFill>
                <a:latin typeface="Consolas"/>
              </a:rPr>
              <a:t>4. Empty rows → header only.</a:t>
            </a:r>
          </a:p>
          <a:p>
            <a:pPr>
              <a:lnSpc>
                <a:spcPct val="135000"/>
              </a:lnSpc>
            </a:pPr>
            <a:r>
              <a:rPr sz="1000">
                <a:solidFill>
                  <a:srgbClr val="E6E6E6"/>
                </a:solidFill>
                <a:latin typeface="Consolas"/>
              </a:rPr>
              <a:t>5. Refuses to overwrite.</a:t>
            </a:r>
          </a:p>
          <a:p>
            <a:pPr>
              <a:lnSpc>
                <a:spcPct val="135000"/>
              </a:lnSpc>
            </a:pPr>
            <a:r>
              <a:rPr sz="1000">
                <a:solidFill>
                  <a:srgbClr val="E6E6E6"/>
                </a:solidFill>
                <a:latin typeface="Consolas"/>
              </a:rPr>
              <a:t/>
            </a:r>
          </a:p>
          <a:p>
            <a:pPr>
              <a:lnSpc>
                <a:spcPct val="135000"/>
              </a:lnSpc>
            </a:pPr>
            <a:r>
              <a:rPr sz="1000">
                <a:solidFill>
                  <a:srgbClr val="98C379"/>
                </a:solidFill>
                <a:latin typeface="Consolas"/>
              </a:rPr>
              <a:t>## Out of scope</a:t>
            </a:r>
          </a:p>
          <a:p>
            <a:pPr>
              <a:lnSpc>
                <a:spcPct val="135000"/>
              </a:lnSpc>
            </a:pPr>
            <a:r>
              <a:rPr sz="1000">
                <a:solidFill>
                  <a:srgbClr val="7F848A"/>
                </a:solidFill>
                <a:latin typeface="Consolas"/>
              </a:rPr>
              <a:t>- xlsx output</a:t>
            </a:r>
          </a:p>
          <a:p>
            <a:pPr>
              <a:lnSpc>
                <a:spcPct val="135000"/>
              </a:lnSpc>
            </a:pPr>
            <a:r>
              <a:rPr sz="1000">
                <a:solidFill>
                  <a:srgbClr val="7F848A"/>
                </a:solidFill>
                <a:latin typeface="Consolas"/>
              </a:rPr>
              <a:t>- multi-currency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1737360"/>
            <a:ext cx="3611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300">
                <a:solidFill>
                  <a:srgbClr val="E8761B"/>
                </a:solidFill>
                <a:latin typeface="Calibri"/>
              </a:rPr>
              <a:t>PLAN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40" y="2029968"/>
            <a:ext cx="36118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demos/02-…/plan.md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34840" y="2286000"/>
            <a:ext cx="3611880" cy="3566160"/>
          </a:xfrm>
          <a:prstGeom prst="rect">
            <a:avLst/>
          </a:prstGeom>
          <a:solidFill>
            <a:srgbClr val="1E21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90872" y="2542032"/>
            <a:ext cx="3099816" cy="30540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000">
                <a:solidFill>
                  <a:srgbClr val="E8761B"/>
                </a:solidFill>
                <a:latin typeface="Consolas"/>
              </a:rPr>
              <a:t># Plan — CSV Export</a:t>
            </a:r>
          </a:p>
          <a:p>
            <a:pPr>
              <a:lnSpc>
                <a:spcPct val="135000"/>
              </a:lnSpc>
            </a:pPr>
            <a:r>
              <a:rPr sz="1000">
                <a:solidFill>
                  <a:srgbClr val="E6E6E6"/>
                </a:solidFill>
                <a:latin typeface="Consolas"/>
              </a:rPr>
              <a:t/>
            </a:r>
          </a:p>
          <a:p>
            <a:pPr>
              <a:lnSpc>
                <a:spcPct val="135000"/>
              </a:lnSpc>
            </a:pPr>
            <a:r>
              <a:rPr sz="1000">
                <a:solidFill>
                  <a:srgbClr val="E6E6E6"/>
                </a:solidFill>
                <a:latin typeface="Consolas"/>
              </a:rPr>
              <a:t>→ parser.py: add export_to_csv()</a:t>
            </a:r>
          </a:p>
          <a:p>
            <a:pPr>
              <a:lnSpc>
                <a:spcPct val="135000"/>
              </a:lnSpc>
            </a:pPr>
            <a:r>
              <a:rPr sz="1000">
                <a:solidFill>
                  <a:srgbClr val="E6E6E6"/>
                </a:solidFill>
                <a:latin typeface="Consolas"/>
              </a:rPr>
              <a:t>→ tests/test_export.py: 3 tests</a:t>
            </a:r>
          </a:p>
          <a:p>
            <a:pPr>
              <a:lnSpc>
                <a:spcPct val="135000"/>
              </a:lnSpc>
            </a:pPr>
            <a:r>
              <a:rPr sz="1000">
                <a:solidFill>
                  <a:srgbClr val="E6E6E6"/>
                </a:solidFill>
                <a:latin typeface="Consolas"/>
              </a:rPr>
              <a:t/>
            </a:r>
          </a:p>
          <a:p>
            <a:pPr>
              <a:lnSpc>
                <a:spcPct val="135000"/>
              </a:lnSpc>
            </a:pPr>
            <a:r>
              <a:rPr sz="1000">
                <a:solidFill>
                  <a:srgbClr val="98C379"/>
                </a:solidFill>
                <a:latin typeface="Consolas"/>
              </a:rPr>
              <a:t>## Assumptions</a:t>
            </a:r>
          </a:p>
          <a:p>
            <a:pPr>
              <a:lnSpc>
                <a:spcPct val="135000"/>
              </a:lnSpc>
            </a:pPr>
            <a:r>
              <a:rPr sz="1000">
                <a:solidFill>
                  <a:srgbClr val="E6E6E6"/>
                </a:solidFill>
                <a:latin typeface="Consolas"/>
              </a:rPr>
              <a:t>- csv.DictWriter, comma delim</a:t>
            </a:r>
          </a:p>
          <a:p>
            <a:pPr>
              <a:lnSpc>
                <a:spcPct val="135000"/>
              </a:lnSpc>
            </a:pPr>
            <a:r>
              <a:rPr sz="1000">
                <a:solidFill>
                  <a:srgbClr val="E6E6E6"/>
                </a:solidFill>
                <a:latin typeface="Consolas"/>
              </a:rPr>
              <a:t>- Path-wrap out_path</a:t>
            </a:r>
          </a:p>
          <a:p>
            <a:pPr>
              <a:lnSpc>
                <a:spcPct val="135000"/>
              </a:lnSpc>
            </a:pPr>
            <a:r>
              <a:rPr sz="1000">
                <a:solidFill>
                  <a:srgbClr val="E6E6E6"/>
                </a:solidFill>
                <a:latin typeface="Consolas"/>
              </a:rPr>
              <a:t/>
            </a:r>
          </a:p>
          <a:p>
            <a:pPr>
              <a:lnSpc>
                <a:spcPct val="135000"/>
              </a:lnSpc>
            </a:pPr>
            <a:r>
              <a:rPr sz="1000">
                <a:solidFill>
                  <a:srgbClr val="98C379"/>
                </a:solidFill>
                <a:latin typeface="Consolas"/>
              </a:rPr>
              <a:t>## Done when</a:t>
            </a:r>
          </a:p>
          <a:p>
            <a:pPr>
              <a:lnSpc>
                <a:spcPct val="135000"/>
              </a:lnSpc>
            </a:pPr>
            <a:r>
              <a:rPr sz="1000">
                <a:solidFill>
                  <a:srgbClr val="E6E6E6"/>
                </a:solidFill>
                <a:latin typeface="Consolas"/>
              </a:rPr>
              <a:t>- 3 tests green</a:t>
            </a:r>
          </a:p>
          <a:p>
            <a:pPr>
              <a:lnSpc>
                <a:spcPct val="135000"/>
              </a:lnSpc>
            </a:pPr>
            <a:r>
              <a:rPr sz="1000">
                <a:solidFill>
                  <a:srgbClr val="E6E6E6"/>
                </a:solidFill>
                <a:latin typeface="Consolas"/>
              </a:rPr>
              <a:t>- empty.csv has 1 line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38160" y="1737360"/>
            <a:ext cx="3611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300">
                <a:solidFill>
                  <a:srgbClr val="E8761B"/>
                </a:solidFill>
                <a:latin typeface="Calibri"/>
              </a:rPr>
              <a:t>DIFF + TEST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8160" y="2029968"/>
            <a:ext cx="36118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parser.py + pytest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38160" y="2286000"/>
            <a:ext cx="3611880" cy="3566160"/>
          </a:xfrm>
          <a:prstGeom prst="rect">
            <a:avLst/>
          </a:prstGeom>
          <a:solidFill>
            <a:srgbClr val="1E21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94192" y="2542032"/>
            <a:ext cx="3099816" cy="30540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000">
                <a:solidFill>
                  <a:srgbClr val="98C379"/>
                </a:solidFill>
                <a:latin typeface="Consolas"/>
              </a:rPr>
              <a:t>+ CSV_COLUMNS = ('date',</a:t>
            </a:r>
          </a:p>
          <a:p>
            <a:pPr>
              <a:lnSpc>
                <a:spcPct val="135000"/>
              </a:lnSpc>
            </a:pPr>
            <a:r>
              <a:rPr sz="1000">
                <a:solidFill>
                  <a:srgbClr val="98C379"/>
                </a:solidFill>
                <a:latin typeface="Consolas"/>
              </a:rPr>
              <a:t>    'shop', 'item',</a:t>
            </a:r>
          </a:p>
          <a:p>
            <a:pPr>
              <a:lnSpc>
                <a:spcPct val="135000"/>
              </a:lnSpc>
            </a:pPr>
            <a:r>
              <a:rPr sz="1000">
                <a:solidFill>
                  <a:srgbClr val="98C379"/>
                </a:solidFill>
                <a:latin typeface="Consolas"/>
              </a:rPr>
              <a:t>    'price', 'currency')</a:t>
            </a:r>
          </a:p>
          <a:p>
            <a:pPr>
              <a:lnSpc>
                <a:spcPct val="135000"/>
              </a:lnSpc>
            </a:pPr>
            <a:r>
              <a:rPr sz="1000">
                <a:solidFill>
                  <a:srgbClr val="E6E6E6"/>
                </a:solidFill>
                <a:latin typeface="Consolas"/>
              </a:rPr>
              <a:t/>
            </a:r>
          </a:p>
          <a:p>
            <a:pPr>
              <a:lnSpc>
                <a:spcPct val="135000"/>
              </a:lnSpc>
            </a:pPr>
            <a:r>
              <a:rPr sz="1000">
                <a:solidFill>
                  <a:srgbClr val="98C379"/>
                </a:solidFill>
                <a:latin typeface="Consolas"/>
              </a:rPr>
              <a:t>+ def export_to_csv(rows, out):</a:t>
            </a:r>
          </a:p>
          <a:p>
            <a:pPr>
              <a:lnSpc>
                <a:spcPct val="135000"/>
              </a:lnSpc>
            </a:pPr>
            <a:r>
              <a:rPr sz="1000">
                <a:solidFill>
                  <a:srgbClr val="98C379"/>
                </a:solidFill>
                <a:latin typeface="Consolas"/>
              </a:rPr>
              <a:t>+     if out.exists():</a:t>
            </a:r>
          </a:p>
          <a:p>
            <a:pPr>
              <a:lnSpc>
                <a:spcPct val="135000"/>
              </a:lnSpc>
            </a:pPr>
            <a:r>
              <a:rPr sz="1000">
                <a:solidFill>
                  <a:srgbClr val="98C379"/>
                </a:solidFill>
                <a:latin typeface="Consolas"/>
              </a:rPr>
              <a:t>+         raise FileExistsError</a:t>
            </a:r>
          </a:p>
          <a:p>
            <a:pPr>
              <a:lnSpc>
                <a:spcPct val="135000"/>
              </a:lnSpc>
            </a:pPr>
            <a:r>
              <a:rPr sz="1000">
                <a:solidFill>
                  <a:srgbClr val="E6E6E6"/>
                </a:solidFill>
                <a:latin typeface="Consolas"/>
              </a:rPr>
              <a:t/>
            </a:r>
          </a:p>
          <a:p>
            <a:pPr>
              <a:lnSpc>
                <a:spcPct val="135000"/>
              </a:lnSpc>
            </a:pPr>
            <a:r>
              <a:rPr sz="1000">
                <a:solidFill>
                  <a:srgbClr val="98C379"/>
                </a:solidFill>
                <a:latin typeface="Consolas"/>
              </a:rPr>
              <a:t>test_round_trip       PASSED</a:t>
            </a:r>
          </a:p>
          <a:p>
            <a:pPr>
              <a:lnSpc>
                <a:spcPct val="135000"/>
              </a:lnSpc>
            </a:pPr>
            <a:r>
              <a:rPr sz="1000">
                <a:solidFill>
                  <a:srgbClr val="98C379"/>
                </a:solidFill>
                <a:latin typeface="Consolas"/>
              </a:rPr>
              <a:t>test_empty_header     PASSED</a:t>
            </a:r>
          </a:p>
          <a:p>
            <a:pPr>
              <a:lnSpc>
                <a:spcPct val="135000"/>
              </a:lnSpc>
            </a:pPr>
            <a:r>
              <a:rPr sz="1000">
                <a:solidFill>
                  <a:srgbClr val="98C379"/>
                </a:solidFill>
                <a:latin typeface="Consolas"/>
              </a:rPr>
              <a:t>test_refuses_over     PASSED</a:t>
            </a:r>
          </a:p>
          <a:p>
            <a:pPr>
              <a:lnSpc>
                <a:spcPct val="135000"/>
              </a:lnSpc>
            </a:pPr>
            <a:r>
              <a:rPr sz="1000">
                <a:solidFill>
                  <a:srgbClr val="E6E6E6"/>
                </a:solidFill>
                <a:latin typeface="Consolas"/>
              </a:rPr>
              <a:t/>
            </a:r>
          </a:p>
          <a:p>
            <a:pPr>
              <a:lnSpc>
                <a:spcPct val="135000"/>
              </a:lnSpc>
            </a:pPr>
            <a:r>
              <a:rPr sz="1000">
                <a:solidFill>
                  <a:srgbClr val="98C379"/>
                </a:solidFill>
                <a:latin typeface="Consolas"/>
              </a:rPr>
              <a:t>=== 3 passed in 0.04s ===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9893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E8761B"/>
                </a:solidFill>
                <a:latin typeface="Georgia"/>
              </a:rPr>
              <a:t>Three artifacts. Each reviewable. Each persists after the code ships.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DEMO 03  ·  ORCHESTRATION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15 / 100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029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6B6B"/>
                </a:solidFill>
                <a:latin typeface="Georgia"/>
              </a:rPr>
              <a:t>One conversation. Three parallel investigators. Synthesized in seconds.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82296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0" i="0">
                <a:solidFill>
                  <a:srgbClr val="14213D"/>
                </a:solidFill>
                <a:latin typeface="Georgia"/>
              </a:rPr>
              <a:t>Multi-agent in motion.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1874519"/>
            <a:ext cx="10698480" cy="4023360"/>
          </a:xfrm>
          <a:prstGeom prst="rect">
            <a:avLst/>
          </a:prstGeom>
          <a:solidFill>
            <a:srgbClr val="1E21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130551"/>
            <a:ext cx="10186416" cy="35112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100">
                <a:solidFill>
                  <a:srgbClr val="E8761B"/>
                </a:solidFill>
                <a:latin typeface="Consolas"/>
              </a:rPr>
              <a:t>&gt; claude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/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You: Spawn three Explore subagents in parallel on this codebase. Ask: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     (1) where is URL validation done?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     (2) external dependencies and pinned versions?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     (3) any password or token leaking into logs?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     Synthesize.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/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[orchestrator] Dispatching 3 Explore agents in parallel...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/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  AGENT 1  →  validators ⏎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  AGENT 2  →  dependencies ⏎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  AGENT 3  →  security audit ⏎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/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[2.4s] AGENT 1 returned (1 finding)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[2.7s] AGENT 2 returned (4 findings)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[3.1s] AGENT 3 returned (2 findings, HIGH severity)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/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Synthesis: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/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  URL validation lives in validators.py:9. The shortener has a weaker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  fallback regex at shortener.py:14 — recommend consolidating.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/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  Pinned deps: requests==2.31.0, click==8.1.7, pydantic==2.6.1,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  sqlalchemy==2.0.27. All current.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9893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E8761B"/>
                </a:solidFill>
                <a:latin typeface="Georgia"/>
              </a:rPr>
              <a:t>Three parallel agents. One synthesis. You read it like a tech lead.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DEMO 04  ·  BEYOND THE TERMINAL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16 / 100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029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6B6B"/>
                </a:solidFill>
                <a:latin typeface="Georgia"/>
              </a:rPr>
              <a:t>Claude Code drives a real browser — extraction, automation, admin.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82296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0" i="0">
                <a:solidFill>
                  <a:srgbClr val="14213D"/>
                </a:solidFill>
                <a:latin typeface="Georgia"/>
              </a:rPr>
              <a:t>Browser-driving Claude.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1874519"/>
            <a:ext cx="10698480" cy="4023360"/>
          </a:xfrm>
          <a:prstGeom prst="rect">
            <a:avLst/>
          </a:prstGeom>
          <a:solidFill>
            <a:srgbClr val="1E21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130551"/>
            <a:ext cx="10186416" cy="35112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100">
                <a:solidFill>
                  <a:srgbClr val="E8761B"/>
                </a:solidFill>
                <a:latin typeface="Consolas"/>
              </a:rPr>
              <a:t>&gt; claude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/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You: Open arxiv.org/list/cs.AI/recent in Chrome. Extract the top 5 paper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     titles with their submission dates. Output as JSON.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/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[claude] Using Chrome MCP...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/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98C379"/>
                </a:solidFill>
                <a:latin typeface="Consolas"/>
              </a:rPr>
              <a:t>  ✓ tab_create  https://arxiv.org/list/cs.AI/recent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98C379"/>
                </a:solidFill>
                <a:latin typeface="Consolas"/>
              </a:rPr>
              <a:t>  ✓ get_page_text                                 (1.2s)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98C379"/>
                </a:solidFill>
                <a:latin typeface="Consolas"/>
              </a:rPr>
              <a:t>  ✓ extracted 5 entries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/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[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  {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    "title": "Direct Preference Optimization for Code Agents",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    "authors": "Wang, Chen, Müller",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    "submitted": "2026-05-13",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    "id": "2605.04812"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  },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  {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    "title": "Spec-Driven Generation: A Survey of Production Workflows",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    "authors": "Park, Iyer, Schmidt",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    "submitted": "2026-05-13",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    "id": "2605.04780"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  },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  {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    "title": "Verified Subagent Composition in Multi-Agent Coding Systems",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    "authors": "Garcia, Liu",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9893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E8761B"/>
                </a:solidFill>
                <a:latin typeface="Georgia"/>
              </a:rPr>
              <a:t>Same model, different surface. Code is just one of the surfaces.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DEMO 05  ·  TRAINING A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17 / 100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029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6B6B"/>
                </a:solidFill>
                <a:latin typeface="Georgia"/>
              </a:rPr>
              <a:t>20-newsgroups, four topics. Claude scaffolds the pipeline; you read the numbers.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82296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0" i="0">
                <a:solidFill>
                  <a:srgbClr val="14213D"/>
                </a:solidFill>
                <a:latin typeface="Georgia"/>
              </a:rPr>
              <a:t>Claude trains an ML model.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1874519"/>
            <a:ext cx="10698480" cy="4023360"/>
          </a:xfrm>
          <a:prstGeom prst="rect">
            <a:avLst/>
          </a:prstGeom>
          <a:solidFill>
            <a:srgbClr val="1E21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130551"/>
            <a:ext cx="10186416" cy="35112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Loading 20-newsgroups subset (4 topics)...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Train: 2323 docs  ·  Test: 1546 docs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Classes: graphics, hockey, space, guns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/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Training...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/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Test accuracy:  0.895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/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Confusion matrix (rows = actual, columns = predicted):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           graphics    hockey     space      guns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  graphics       353         3        28         5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    hockey         4       369        15        11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     space        23         7       346        18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      guns        13         2        34       315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/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Per-class report: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                      precision    recall  f1-score   support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  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       comp.graphics       0.90      0.91      0.90       389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    rec.sport.hockey       0.97      0.92      0.95       399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           sci.space       0.82      0.88      0.85       394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  talk.politics.guns       0.90      0.87      0.88       364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9893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E8761B"/>
                </a:solidFill>
                <a:latin typeface="Georgia"/>
              </a:rPr>
              <a:t>89.5% accuracy across four topics. Real dataset. Real numbers.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DEMO 06  ·  THE SECOND BRAIN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18 / 100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029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6B6B"/>
                </a:solidFill>
                <a:latin typeface="Georgia"/>
              </a:rPr>
              <a:t>Claude Code writes to your vault. Every session ends as a note.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82296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0" i="0">
                <a:solidFill>
                  <a:srgbClr val="14213D"/>
                </a:solidFill>
                <a:latin typeface="Georgia"/>
              </a:rPr>
              <a:t>Notes that write themselves.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1874519"/>
            <a:ext cx="6858000" cy="4023360"/>
          </a:xfrm>
          <a:prstGeom prst="rect">
            <a:avLst/>
          </a:prstGeom>
          <a:solidFill>
            <a:srgbClr val="1E21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130551"/>
            <a:ext cx="6345936" cy="35112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~/Documents/Obsidian Vault/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├── 00-Inbox/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│   └── Inbox.md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├── 01-Projects/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│   ├── Vibecoding Masterclass.md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│   ├── Inexogy Invoice Service.md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│   └── ECIS 2026 Paper.md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├── 03-Knowledge/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│   ├── Spec-Driven Development.md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│   ├── Multi-Agent Patterns.md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│   └── Claude Code Hooks.md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├── 04-People/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│   ├── Mahnoor Shah.md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│   └── Khan, Güzey, Nielsen.md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├── 05-Meetings/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│   └── 2026-05-14 SUST Triannual.md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├── 08-Sessions/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│   ├── 2026-05-14 Inbox.md         ← AUTO-GENERATED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│   ├── 2026-05-13 Forderung.md     ← AUTO-GENERATED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│   └── 2026-05-12 Aktivbank.md     ← AUTO-GENERATED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└── .claude/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  └── hooks/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      └── session-end.sh           ← writes today's session note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0" y="1874519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300">
                <a:solidFill>
                  <a:srgbClr val="E8761B"/>
                </a:solidFill>
                <a:latin typeface="Calibri"/>
              </a:rPr>
              <a:t>HOW IT WORKS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0" y="2240280"/>
            <a:ext cx="3657600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1A1A1A"/>
                </a:solidFill>
                <a:latin typeface="Georgia"/>
              </a:rPr>
              <a:t>A SessionEnd hook fires when you close Claude Code.</a:t>
            </a:r>
          </a:p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1A1A1A"/>
                </a:solidFill>
                <a:latin typeface="Georgia"/>
              </a:rPr>
              <a:t>The hook writes a markdown note to your Obsidian vault — what you worked on, decisions made, open questions.</a:t>
            </a:r>
          </a:p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1A1A1A"/>
                </a:solidFill>
                <a:latin typeface="Georgia"/>
              </a:rPr>
              <a:t>Tomorrow's session reads it back. Nothing gets lost.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9893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E8761B"/>
                </a:solidFill>
                <a:latin typeface="Georgia"/>
              </a:rPr>
              <a:t>Your brain has limits. Your filesystem doesn't.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WHAT THESE DEMOS HAVE IN COMMON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19 / 100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6B6B"/>
                </a:solidFill>
                <a:latin typeface="Georgia"/>
              </a:rPr>
              <a:t>Six demos. One shape.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0" i="0">
                <a:solidFill>
                  <a:srgbClr val="14213D"/>
                </a:solidFill>
                <a:latin typeface="Georgia"/>
              </a:rPr>
              <a:t>The thread.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286000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E8761B"/>
                </a:solidFill>
                <a:latin typeface="Consolas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304288"/>
            <a:ext cx="9601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14213D"/>
                </a:solidFill>
                <a:latin typeface="Georgia"/>
              </a:rPr>
              <a:t>You wrote the spec, not the code.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2743200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The prompt was a tight description of what you wanted.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154680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E8761B"/>
                </a:solidFill>
                <a:latin typeface="Consolas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3172968"/>
            <a:ext cx="9601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14213D"/>
                </a:solidFill>
                <a:latin typeface="Georgia"/>
              </a:rPr>
              <a:t>Claude proposed a plan before acting.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611880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Even on small demos, there's a plan you could intercept.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023360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E8761B"/>
                </a:solidFill>
                <a:latin typeface="Consolas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4041648"/>
            <a:ext cx="9601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14213D"/>
                </a:solidFill>
                <a:latin typeface="Georgia"/>
              </a:rPr>
              <a:t>The output was reviewable.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480560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Test green, screenshot, diff, accuracy — evidence each time.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892040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E8761B"/>
                </a:solidFill>
                <a:latin typeface="Consolas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4910328"/>
            <a:ext cx="9601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14213D"/>
                </a:solidFill>
                <a:latin typeface="Georgia"/>
              </a:rPr>
              <a:t>You stayed the human in the loop.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5349240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Claude did the typing. You did the judging.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9436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E8761B"/>
                </a:solidFill>
                <a:latin typeface="Georgia"/>
              </a:rPr>
              <a:t>Now let's unpack how to actually run this discipline.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4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109728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5600" b="0" i="1">
                <a:solidFill>
                  <a:srgbClr val="FFFFFF"/>
                </a:solidFill>
                <a:latin typeface="Georgia"/>
              </a:rPr>
              <a:t>Now let's unpack how</a:t>
            </a:r>
          </a:p>
          <a:p>
            <a:pPr algn="l">
              <a:lnSpc>
                <a:spcPct val="110000"/>
              </a:lnSpc>
            </a:pPr>
            <a:r>
              <a:rPr sz="5600" b="0" i="1">
                <a:solidFill>
                  <a:srgbClr val="FFFFFF"/>
                </a:solidFill>
                <a:latin typeface="Georgia"/>
              </a:rPr>
              <a:t>this actually works.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0292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FAF7F0"/>
                </a:solidFill>
                <a:latin typeface="Georgia"/>
              </a:rPr>
              <a:t>The mindset → the workflow → the wider toolbox.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35508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899B0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35508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899B0"/>
                </a:solidFill>
                <a:latin typeface="Consolas"/>
              </a:rPr>
              <a:t>20 / 100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4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400">
                <a:solidFill>
                  <a:srgbClr val="E8761B"/>
                </a:solidFill>
                <a:latin typeface="Calibri"/>
              </a:rPr>
              <a:t>PART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103120"/>
            <a:ext cx="1097280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400" b="0" i="1">
                <a:solidFill>
                  <a:srgbClr val="FFFFFF"/>
                </a:solidFill>
                <a:latin typeface="Georgia"/>
              </a:rPr>
              <a:t>Vibecoding →</a:t>
            </a:r>
          </a:p>
          <a:p>
            <a:pPr algn="l">
              <a:lnSpc>
                <a:spcPct val="105000"/>
              </a:lnSpc>
            </a:pPr>
            <a:r>
              <a:rPr sz="6400" b="0" i="1">
                <a:solidFill>
                  <a:srgbClr val="FFFFFF"/>
                </a:solidFill>
                <a:latin typeface="Georgia"/>
              </a:rPr>
              <a:t>Agentic Engineering.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FAF7F0"/>
                </a:solidFill>
                <a:latin typeface="Georgia"/>
              </a:rPr>
              <a:t>A mindset shift, not a tool swap.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82296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800" b="0" i="0">
                <a:solidFill>
                  <a:srgbClr val="E8761B"/>
                </a:solidFill>
                <a:latin typeface="Consolas"/>
              </a:rPr>
              <a:t>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35508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899B0"/>
                </a:solidFill>
                <a:latin typeface="Calibri"/>
              </a:rPr>
              <a:t>CHAIR OF SUSTAINABILITY AND INNOVATION IN DIGITAL ECOSYSTEMS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20095" y="635508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899B0"/>
                </a:solidFill>
                <a:latin typeface="Consolas"/>
              </a:rPr>
              <a:t>21 / 100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THE PREMISE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22 / 100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6B6B"/>
                </a:solidFill>
                <a:latin typeface="Georgia"/>
              </a:rPr>
              <a:t>What the marketing says.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0" i="0">
                <a:solidFill>
                  <a:srgbClr val="14213D"/>
                </a:solidFill>
                <a:latin typeface="Georgia"/>
              </a:rPr>
              <a:t>The promise.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560320"/>
            <a:ext cx="38100" cy="2743200"/>
          </a:xfrm>
          <a:prstGeom prst="rect">
            <a:avLst/>
          </a:prstGeom>
          <a:solidFill>
            <a:srgbClr val="E87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256032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1">
                <a:solidFill>
                  <a:srgbClr val="1A1A1A"/>
                </a:solidFill>
                <a:latin typeface="Georgia"/>
              </a:rPr>
              <a:t>“Describe what you want in natural language 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306324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1">
                <a:solidFill>
                  <a:srgbClr val="1A1A1A"/>
                </a:solidFill>
                <a:latin typeface="Georgia"/>
              </a:rPr>
              <a:t>the AI writes the code for you.”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11480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6B6B6B"/>
                </a:solidFill>
                <a:latin typeface="Calibri"/>
              </a:rPr>
              <a:t>— every AI coding demo on every conference stage, 2024-2026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66928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E8761B"/>
                </a:solidFill>
                <a:latin typeface="Georgia"/>
              </a:rPr>
              <a:t>And to be fair — sometimes it really does work like that.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THE REALITY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23 / 100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6B6B"/>
                </a:solidFill>
                <a:latin typeface="Georgia"/>
              </a:rPr>
              <a:t>What you ship if you stop there.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0" i="0">
                <a:solidFill>
                  <a:srgbClr val="14213D"/>
                </a:solidFill>
                <a:latin typeface="Georgia"/>
              </a:rPr>
              <a:t>And the catch.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286000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E8761B"/>
                </a:solidFill>
                <a:latin typeface="Georgia"/>
              </a:rPr>
              <a:t>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228600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 i="0">
                <a:solidFill>
                  <a:srgbClr val="14213D"/>
                </a:solidFill>
                <a:latin typeface="Georgia"/>
              </a:rPr>
              <a:t>Hallucinated APIs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2331720"/>
            <a:ext cx="5943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calls a function that doesn't exist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880360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E8761B"/>
                </a:solidFill>
                <a:latin typeface="Georgia"/>
              </a:rPr>
              <a:t>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288036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 i="0">
                <a:solidFill>
                  <a:srgbClr val="14213D"/>
                </a:solidFill>
                <a:latin typeface="Georgia"/>
              </a:rPr>
              <a:t>Silent scope creep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0" y="2926080"/>
            <a:ext cx="5943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asked for one feature, got four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474720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E8761B"/>
                </a:solidFill>
                <a:latin typeface="Georgia"/>
              </a:rPr>
              <a:t>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347472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 i="0">
                <a:solidFill>
                  <a:srgbClr val="14213D"/>
                </a:solidFill>
                <a:latin typeface="Georgia"/>
              </a:rPr>
              <a:t>Plausible bugs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0" y="3520440"/>
            <a:ext cx="5943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looks right; fails on the second input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069080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E8761B"/>
                </a:solidFill>
                <a:latin typeface="Georgia"/>
              </a:rPr>
              <a:t>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406908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 i="0">
                <a:solidFill>
                  <a:srgbClr val="14213D"/>
                </a:solidFill>
                <a:latin typeface="Georgia"/>
              </a:rPr>
              <a:t>False “done”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0" y="4114800"/>
            <a:ext cx="5943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tests not run, output not seen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663440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E8761B"/>
                </a:solidFill>
                <a:latin typeface="Georgia"/>
              </a:rPr>
              <a:t>✗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80160" y="466344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 i="0">
                <a:solidFill>
                  <a:srgbClr val="14213D"/>
                </a:solidFill>
                <a:latin typeface="Georgia"/>
              </a:rPr>
              <a:t>No paper trail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0" y="4709160"/>
            <a:ext cx="5943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no spec, no plan, can't reproduce decisions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8521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E8761B"/>
                </a:solidFill>
                <a:latin typeface="Georgia"/>
              </a:rPr>
              <a:t>We need engineering discipline back. With the AI, not despite it.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4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46888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400">
                <a:solidFill>
                  <a:srgbClr val="E8761B"/>
                </a:solidFill>
                <a:latin typeface="Calibri"/>
              </a:rPr>
              <a:t>THE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88920"/>
            <a:ext cx="18288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0" b="0" i="1">
                <a:solidFill>
                  <a:srgbClr val="E8761B"/>
                </a:solidFill>
                <a:latin typeface="Georgia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91840" y="3200400"/>
            <a:ext cx="82296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600" b="0" i="0">
                <a:solidFill>
                  <a:srgbClr val="FFFFFF"/>
                </a:solidFill>
                <a:latin typeface="Georgia"/>
              </a:rPr>
              <a:t>Three lies AI coding</a:t>
            </a:r>
          </a:p>
          <a:p>
            <a:pPr algn="l">
              <a:lnSpc>
                <a:spcPct val="110000"/>
              </a:lnSpc>
            </a:pPr>
            <a:r>
              <a:rPr sz="4600" b="0" i="0">
                <a:solidFill>
                  <a:srgbClr val="FFFFFF"/>
                </a:solidFill>
                <a:latin typeface="Georgia"/>
              </a:rPr>
              <a:t>tools tell us.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899B0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20095" y="635508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899B0"/>
                </a:solidFill>
                <a:latin typeface="Consolas"/>
              </a:rPr>
              <a:t>24 / 100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THE THREE LIES  ·  1 OF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25 / 100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400">
                <a:solidFill>
                  <a:srgbClr val="E8761B"/>
                </a:solidFill>
                <a:latin typeface="Calibri"/>
              </a:rPr>
              <a:t>LIE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005840"/>
            <a:ext cx="109728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0" b="0" i="1">
                <a:solidFill>
                  <a:srgbClr val="14213D"/>
                </a:solidFill>
                <a:latin typeface="Georgia"/>
              </a:rPr>
              <a:t>“It works.”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3108960"/>
            <a:ext cx="457200" cy="19050"/>
          </a:xfrm>
          <a:prstGeom prst="rect">
            <a:avLst/>
          </a:prstGeom>
          <a:solidFill>
            <a:srgbClr val="E87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3017520"/>
            <a:ext cx="96012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 i="0">
                <a:solidFill>
                  <a:srgbClr val="1A1A1A"/>
                </a:solidFill>
                <a:latin typeface="Georgia"/>
              </a:rPr>
              <a:t>It looks like it works. The imports look right, the signature looks right, the README looks right.</a:t>
            </a:r>
          </a:p>
          <a:p>
            <a:pPr algn="l">
              <a:lnSpc>
                <a:spcPct val="135000"/>
              </a:lnSpc>
            </a:pPr>
            <a:r>
              <a:rPr sz="2200" b="0" i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2200" b="0" i="0">
                <a:solidFill>
                  <a:srgbClr val="1A1A1A"/>
                </a:solidFill>
                <a:latin typeface="Georgia"/>
              </a:rPr>
              <a:t>But did anyone run it?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4864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300">
                <a:solidFill>
                  <a:srgbClr val="6B6B6B"/>
                </a:solidFill>
                <a:latin typeface="Calibri"/>
              </a:rPr>
              <a:t>DISCIPLINE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8064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1">
                <a:solidFill>
                  <a:srgbClr val="E8761B"/>
                </a:solidFill>
                <a:latin typeface="Georgia"/>
              </a:rPr>
              <a:t>Verification before done.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THE THREE LIES  ·  2 OF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26 / 100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400">
                <a:solidFill>
                  <a:srgbClr val="E8761B"/>
                </a:solidFill>
                <a:latin typeface="Calibri"/>
              </a:rPr>
              <a:t>LIE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005840"/>
            <a:ext cx="109728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0" b="0" i="1">
                <a:solidFill>
                  <a:srgbClr val="14213D"/>
                </a:solidFill>
                <a:latin typeface="Georgia"/>
              </a:rPr>
              <a:t>“I understand.”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3108960"/>
            <a:ext cx="457200" cy="19050"/>
          </a:xfrm>
          <a:prstGeom prst="rect">
            <a:avLst/>
          </a:prstGeom>
          <a:solidFill>
            <a:srgbClr val="E87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3017520"/>
            <a:ext cx="96012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 i="0">
                <a:solidFill>
                  <a:srgbClr val="1A1A1A"/>
                </a:solidFill>
                <a:latin typeface="Georgia"/>
              </a:rPr>
              <a:t>It pattern-matched your keywords.</a:t>
            </a:r>
          </a:p>
          <a:p>
            <a:pPr algn="l">
              <a:lnSpc>
                <a:spcPct val="135000"/>
              </a:lnSpc>
            </a:pPr>
            <a:r>
              <a:rPr sz="2200" b="0" i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2200" b="0" i="0">
                <a:solidFill>
                  <a:srgbClr val="1A1A1A"/>
                </a:solidFill>
                <a:latin typeface="Georgia"/>
              </a:rPr>
              <a:t>It may have grasped the surface. It rarely grasps the intent.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4864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300">
                <a:solidFill>
                  <a:srgbClr val="6B6B6B"/>
                </a:solidFill>
                <a:latin typeface="Calibri"/>
              </a:rPr>
              <a:t>DISCIPLINE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8064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1">
                <a:solidFill>
                  <a:srgbClr val="E8761B"/>
                </a:solidFill>
                <a:latin typeface="Georgia"/>
              </a:rPr>
              <a:t>Write a spec. Or make Claude write one — then review it.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THE THREE LIES  ·  3 OF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27 / 100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400">
                <a:solidFill>
                  <a:srgbClr val="E8761B"/>
                </a:solidFill>
                <a:latin typeface="Calibri"/>
              </a:rPr>
              <a:t>LIE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005840"/>
            <a:ext cx="109728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0" b="0" i="1">
                <a:solidFill>
                  <a:srgbClr val="14213D"/>
                </a:solidFill>
                <a:latin typeface="Georgia"/>
              </a:rPr>
              <a:t>“I'm done.”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3108960"/>
            <a:ext cx="457200" cy="19050"/>
          </a:xfrm>
          <a:prstGeom prst="rect">
            <a:avLst/>
          </a:prstGeom>
          <a:solidFill>
            <a:srgbClr val="E87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3017520"/>
            <a:ext cx="96012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 i="0">
                <a:solidFill>
                  <a:srgbClr val="1A1A1A"/>
                </a:solidFill>
                <a:latin typeface="Georgia"/>
              </a:rPr>
              <a:t>“Done” is a status, not a feeling. Done means the code is written, the tests pass, the output was seen — by you.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4864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300">
                <a:solidFill>
                  <a:srgbClr val="6B6B6B"/>
                </a:solidFill>
                <a:latin typeface="Calibri"/>
              </a:rPr>
              <a:t>DISCIPLINE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8064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1">
                <a:solidFill>
                  <a:srgbClr val="E8761B"/>
                </a:solidFill>
                <a:latin typeface="Georgia"/>
              </a:rPr>
              <a:t>Stop conditions. Show your work.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THE RHYTHM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28 / 100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6B6B"/>
                </a:solidFill>
                <a:latin typeface="Georgia"/>
              </a:rPr>
              <a:t>The five steps. In this order. Every time.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0" i="0">
                <a:solidFill>
                  <a:srgbClr val="14213D"/>
                </a:solidFill>
                <a:latin typeface="Georgia"/>
              </a:rPr>
              <a:t>The rhythm.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377440"/>
            <a:ext cx="2103120" cy="3108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2377440"/>
            <a:ext cx="146304" cy="3108960"/>
          </a:xfrm>
          <a:prstGeom prst="rect">
            <a:avLst/>
          </a:prstGeom>
          <a:solidFill>
            <a:srgbClr val="E87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65176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E8761B"/>
                </a:solidFill>
                <a:latin typeface="Consolas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3291840"/>
            <a:ext cx="1645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300" b="0" i="0">
                <a:solidFill>
                  <a:srgbClr val="14213D"/>
                </a:solidFill>
                <a:latin typeface="Georgia"/>
              </a:rPr>
              <a:t>Spec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3931920"/>
            <a:ext cx="16459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What you want. Checkable success criteria.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34640" y="3749040"/>
            <a:ext cx="91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 i="0">
                <a:solidFill>
                  <a:srgbClr val="E8761B"/>
                </a:solidFill>
                <a:latin typeface="Georgia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926080" y="2377440"/>
            <a:ext cx="2103120" cy="3108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926080" y="2377440"/>
            <a:ext cx="146304" cy="3108960"/>
          </a:xfrm>
          <a:prstGeom prst="rect">
            <a:avLst/>
          </a:prstGeom>
          <a:solidFill>
            <a:srgbClr val="E87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46120" y="265176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E8761B"/>
                </a:solidFill>
                <a:latin typeface="Consolas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46120" y="3291840"/>
            <a:ext cx="1645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300" b="0" i="0">
                <a:solidFill>
                  <a:srgbClr val="14213D"/>
                </a:solidFill>
                <a:latin typeface="Georgia"/>
              </a:rPr>
              <a:t>Plan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46120" y="3931920"/>
            <a:ext cx="16459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Recipe between spec and code. Reviewable.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0" y="3749040"/>
            <a:ext cx="91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 i="0">
                <a:solidFill>
                  <a:srgbClr val="E8761B"/>
                </a:solidFill>
                <a:latin typeface="Georgia"/>
              </a:rPr>
              <a:t>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120640" y="2377440"/>
            <a:ext cx="2103120" cy="3108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120640" y="2377440"/>
            <a:ext cx="146304" cy="3108960"/>
          </a:xfrm>
          <a:prstGeom prst="rect">
            <a:avLst/>
          </a:prstGeom>
          <a:solidFill>
            <a:srgbClr val="E87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40680" y="265176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E8761B"/>
                </a:solidFill>
                <a:latin typeface="Consolas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3291840"/>
            <a:ext cx="1645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300" b="0" i="0">
                <a:solidFill>
                  <a:srgbClr val="14213D"/>
                </a:solidFill>
                <a:latin typeface="Georgia"/>
              </a:rPr>
              <a:t>Test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40680" y="3931920"/>
            <a:ext cx="16459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At least one failing test before code.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3749040"/>
            <a:ext cx="91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 i="0">
                <a:solidFill>
                  <a:srgbClr val="E8761B"/>
                </a:solidFill>
                <a:latin typeface="Georgia"/>
              </a:rPr>
              <a:t>→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315200" y="2377440"/>
            <a:ext cx="2103120" cy="3108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315200" y="2377440"/>
            <a:ext cx="146304" cy="3108960"/>
          </a:xfrm>
          <a:prstGeom prst="rect">
            <a:avLst/>
          </a:prstGeom>
          <a:solidFill>
            <a:srgbClr val="E87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635240" y="265176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E8761B"/>
                </a:solidFill>
                <a:latin typeface="Consolas"/>
              </a:rPr>
              <a:t>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35240" y="3291840"/>
            <a:ext cx="1645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300" b="0" i="0">
                <a:solidFill>
                  <a:srgbClr val="14213D"/>
                </a:solidFill>
                <a:latin typeface="Georgia"/>
              </a:rPr>
              <a:t>Implement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35240" y="3931920"/>
            <a:ext cx="16459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The boring step.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18320" y="3749040"/>
            <a:ext cx="91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 i="0">
                <a:solidFill>
                  <a:srgbClr val="E8761B"/>
                </a:solidFill>
                <a:latin typeface="Georgia"/>
              </a:rPr>
              <a:t>→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509760" y="2377440"/>
            <a:ext cx="2103120" cy="3108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509760" y="2377440"/>
            <a:ext cx="146304" cy="3108960"/>
          </a:xfrm>
          <a:prstGeom prst="rect">
            <a:avLst/>
          </a:prstGeom>
          <a:solidFill>
            <a:srgbClr val="E87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829800" y="265176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E8761B"/>
                </a:solidFill>
                <a:latin typeface="Consolas"/>
              </a:rPr>
              <a:t>05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29800" y="3291840"/>
            <a:ext cx="1645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300" b="0" i="0">
                <a:solidFill>
                  <a:srgbClr val="14213D"/>
                </a:solidFill>
                <a:latin typeface="Georgia"/>
              </a:rPr>
              <a:t>Verify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829800" y="3931920"/>
            <a:ext cx="16459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Run it. See the output. Show evidence.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520" y="58521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E8761B"/>
                </a:solidFill>
                <a:latin typeface="Georgia"/>
              </a:rPr>
              <a:t>Skip any one of these and you didn't really ship.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4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400">
                <a:solidFill>
                  <a:srgbClr val="E8761B"/>
                </a:solidFill>
                <a:latin typeface="Calibri"/>
              </a:rPr>
              <a:t>PART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103120"/>
            <a:ext cx="1097280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400" b="0" i="1">
                <a:solidFill>
                  <a:srgbClr val="FFFFFF"/>
                </a:solidFill>
                <a:latin typeface="Georgia"/>
              </a:rPr>
              <a:t>Coding workflows.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FAF7F0"/>
                </a:solidFill>
                <a:latin typeface="Georgia"/>
              </a:rPr>
              <a:t>Where the actual discipline lives.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82296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800" b="0" i="0">
                <a:solidFill>
                  <a:srgbClr val="E8761B"/>
                </a:solidFill>
                <a:latin typeface="Consolas"/>
              </a:rPr>
              <a:t>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35508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899B0"/>
                </a:solidFill>
                <a:latin typeface="Calibri"/>
              </a:rPr>
              <a:t>CHAIR OF SUSTAINABILITY AND INNOVATION IN DIGITAL ECOSYSTEMS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20095" y="635508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899B0"/>
                </a:solidFill>
                <a:latin typeface="Consolas"/>
              </a:rPr>
              <a:t>29 / 100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SPECIFICATIONS  ·  01 / 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30 / 100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6B6B"/>
                </a:solidFill>
                <a:latin typeface="Georgia"/>
              </a:rPr>
              <a:t>A spec is not a wish list. It's a contract you can check.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200" b="0" i="0">
                <a:solidFill>
                  <a:srgbClr val="14213D"/>
                </a:solidFill>
                <a:latin typeface="Georgia"/>
              </a:rPr>
              <a:t>What is a spec?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377440"/>
            <a:ext cx="5394960" cy="3383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2377440"/>
            <a:ext cx="5394960" cy="502920"/>
          </a:xfrm>
          <a:prstGeom prst="rect">
            <a:avLst/>
          </a:prstGeom>
          <a:solidFill>
            <a:srgbClr val="6B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496312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300">
                <a:solidFill>
                  <a:srgbClr val="FFFFFF"/>
                </a:solidFill>
                <a:latin typeface="Calibri"/>
              </a:rPr>
              <a:t>VAGUE INTENT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20040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1">
                <a:solidFill>
                  <a:srgbClr val="6B6B6B"/>
                </a:solidFill>
                <a:latin typeface="Georgia"/>
              </a:rPr>
              <a:t>“Make the dashboard faster.”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79476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1">
                <a:solidFill>
                  <a:srgbClr val="6B6B6B"/>
                </a:solidFill>
                <a:latin typeface="Georgia"/>
              </a:rPr>
              <a:t>“Improve the user experience.”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38912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1">
                <a:solidFill>
                  <a:srgbClr val="6B6B6B"/>
                </a:solidFill>
                <a:latin typeface="Georgia"/>
              </a:rPr>
              <a:t>“Handle errors properly.”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98348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1">
                <a:solidFill>
                  <a:srgbClr val="6B6B6B"/>
                </a:solidFill>
                <a:latin typeface="Georgia"/>
              </a:rPr>
              <a:t>“Make it work for our enterprise client.”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2377440"/>
            <a:ext cx="5029200" cy="3383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0" y="2377440"/>
            <a:ext cx="5029200" cy="502920"/>
          </a:xfrm>
          <a:prstGeom prst="rect">
            <a:avLst/>
          </a:prstGeom>
          <a:solidFill>
            <a:srgbClr val="E87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0" y="2496312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300">
                <a:solidFill>
                  <a:srgbClr val="FFFFFF"/>
                </a:solidFill>
                <a:latin typeface="Calibri"/>
              </a:rPr>
              <a:t>CHECKABLE SUCCESS CRITERIA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0" y="320040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14213D"/>
                </a:solidFill>
                <a:latin typeface="Georgia"/>
              </a:rPr>
              <a:t>Dashboard renders &lt; 2s at p95.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0" y="379476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14213D"/>
                </a:solidFill>
                <a:latin typeface="Georgia"/>
              </a:rPr>
              <a:t>All forms submit &lt; 250ms.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0" y="438912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14213D"/>
                </a:solidFill>
                <a:latin typeface="Georgia"/>
              </a:rPr>
              <a:t>Invalid input → 400 + body.error.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0" y="498348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14213D"/>
                </a:solidFill>
                <a:latin typeface="Georgia"/>
              </a:rPr>
              <a:t>Multi-tenant: row isolation per tenant_id.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60350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E8761B"/>
                </a:solidFill>
                <a:latin typeface="Georgia"/>
              </a:rPr>
              <a:t>If you can't tell whether you're done, you don't have a spec.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SPECIFICATIONS  ·  02 / 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31 / 100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6B6B"/>
                </a:solidFill>
                <a:latin typeface="Georgia"/>
              </a:rPr>
              <a:t>Five elements. Always.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0" i="0">
                <a:solidFill>
                  <a:srgbClr val="14213D"/>
                </a:solidFill>
                <a:latin typeface="Georgia"/>
              </a:rPr>
              <a:t>Anatomy of a good spec.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28600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E8761B"/>
                </a:solidFill>
                <a:latin typeface="Consolas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37360" y="2267712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 i="0">
                <a:solidFill>
                  <a:srgbClr val="14213D"/>
                </a:solidFill>
                <a:latin typeface="Georgia"/>
              </a:rPr>
              <a:t>Why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2313432"/>
            <a:ext cx="5852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The motivation. Who asked, what problem it solves.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999232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E8761B"/>
                </a:solidFill>
                <a:latin typeface="Consolas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37360" y="2980944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 i="0">
                <a:solidFill>
                  <a:srgbClr val="14213D"/>
                </a:solidFill>
                <a:latin typeface="Georgia"/>
              </a:rPr>
              <a:t>What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0" y="3026664"/>
            <a:ext cx="5852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The thing being built — one paragraph, no jargon.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712464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E8761B"/>
                </a:solidFill>
                <a:latin typeface="Consolas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37360" y="3694176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 i="0">
                <a:solidFill>
                  <a:srgbClr val="14213D"/>
                </a:solidFill>
                <a:latin typeface="Georgia"/>
              </a:rPr>
              <a:t>Checkable success criteria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35040" y="3739896"/>
            <a:ext cx="5852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Numbered list. Each item testable. No interpretation.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425696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E8761B"/>
                </a:solidFill>
                <a:latin typeface="Consolas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37360" y="4407408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 i="0">
                <a:solidFill>
                  <a:srgbClr val="14213D"/>
                </a:solidFill>
                <a:latin typeface="Georgia"/>
              </a:rPr>
              <a:t>What it must NOT do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35040" y="4453128"/>
            <a:ext cx="5852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Failure modes, scope boundaries, things to refuse.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138928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E8761B"/>
                </a:solidFill>
                <a:latin typeface="Consolas"/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37360" y="5120640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 i="0">
                <a:solidFill>
                  <a:srgbClr val="14213D"/>
                </a:solidFill>
                <a:latin typeface="Georgia"/>
              </a:rPr>
              <a:t>Out of scope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35040" y="5166360"/>
            <a:ext cx="5852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Explicit exclusions. Prevents scope creep mid-build.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9436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B6B6B"/>
                </a:solidFill>
                <a:latin typeface="Consolas"/>
              </a:rPr>
              <a:t>See demos/02-spec-plan-impl/spec.md for a real example.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SPECIFICATIONS  ·  03 / 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32 / 100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6B6B"/>
                </a:solidFill>
                <a:latin typeface="Georgia"/>
              </a:rPr>
              <a:t>Clients give you wishes. You convert wishes into checkable criteria.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0" i="0">
                <a:solidFill>
                  <a:srgbClr val="14213D"/>
                </a:solidFill>
                <a:latin typeface="Georgia"/>
              </a:rPr>
              <a:t>Capturing specs from clients.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286000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E8761B"/>
                </a:solidFill>
                <a:latin typeface="Georgia"/>
              </a:rPr>
              <a:t>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2286000"/>
            <a:ext cx="5943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1">
                <a:solidFill>
                  <a:srgbClr val="14213D"/>
                </a:solidFill>
                <a:latin typeface="Georgia"/>
              </a:rPr>
              <a:t>“What happens when this works?”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6640" y="2331720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Forces them to describe an outcome, not a feature.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971800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E8761B"/>
                </a:solidFill>
                <a:latin typeface="Georgia"/>
              </a:rPr>
              <a:t>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2971800"/>
            <a:ext cx="5943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1">
                <a:solidFill>
                  <a:srgbClr val="14213D"/>
                </a:solidFill>
                <a:latin typeface="Georgia"/>
              </a:rPr>
              <a:t>“What does failure look like?”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06640" y="3017520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Surfaces the unspoken edge cases.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657600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E8761B"/>
                </a:solidFill>
                <a:latin typeface="Georgia"/>
              </a:rPr>
              <a:t>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3657600"/>
            <a:ext cx="5943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1">
                <a:solidFill>
                  <a:srgbClr val="14213D"/>
                </a:solidFill>
                <a:latin typeface="Georgia"/>
              </a:rPr>
              <a:t>“Who else needs to sign off?”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06640" y="3703320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Reveals the actual decision tree, not the org chart.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343400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E8761B"/>
                </a:solidFill>
                <a:latin typeface="Georgia"/>
              </a:rPr>
              <a:t>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4343400"/>
            <a:ext cx="5943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1">
                <a:solidFill>
                  <a:srgbClr val="14213D"/>
                </a:solidFill>
                <a:latin typeface="Georgia"/>
              </a:rPr>
              <a:t>“What's explicitly OUT of scope?”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06640" y="4389120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The hardest question. The most valuable answer.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029200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E8761B"/>
                </a:solidFill>
                <a:latin typeface="Georgia"/>
              </a:rPr>
              <a:t>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80160" y="5029200"/>
            <a:ext cx="5943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1">
                <a:solidFill>
                  <a:srgbClr val="14213D"/>
                </a:solidFill>
                <a:latin typeface="Georgia"/>
              </a:rPr>
              <a:t>“Can I read the spec back to you?”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06640" y="5074920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The demo-it-back loop. Catches misalignment before code.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SPECIFICATIONS  ·  04 / 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33 / 100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6B6B"/>
                </a:solidFill>
                <a:latin typeface="Georgia"/>
              </a:rPr>
              <a:t>Code rots fastest. Specs rot slowest. Treat them accordingly.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0" i="0">
                <a:solidFill>
                  <a:srgbClr val="14213D"/>
                </a:solidFill>
                <a:latin typeface="Georgia"/>
              </a:rPr>
              <a:t>Specs outlive the code.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286000"/>
            <a:ext cx="38100" cy="3200400"/>
          </a:xfrm>
          <a:prstGeom prst="rect">
            <a:avLst/>
          </a:prstGeom>
          <a:solidFill>
            <a:srgbClr val="E87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286000"/>
            <a:ext cx="5486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14213D"/>
                </a:solidFill>
                <a:latin typeface="Georgia"/>
              </a:rPr>
              <a:t>Code is an implementation.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2834640"/>
            <a:ext cx="5486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1">
                <a:solidFill>
                  <a:srgbClr val="14213D"/>
                </a:solidFill>
                <a:latin typeface="Georgia"/>
              </a:rPr>
              <a:t>It changes weekly.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023360"/>
            <a:ext cx="5486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E8761B"/>
                </a:solidFill>
                <a:latin typeface="Georgia"/>
              </a:rPr>
              <a:t>The spec is the contract.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572000"/>
            <a:ext cx="5486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1">
                <a:solidFill>
                  <a:srgbClr val="E8761B"/>
                </a:solidFill>
                <a:latin typeface="Georgia"/>
              </a:rPr>
              <a:t>It changes when the deal changes.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0" y="228600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300">
                <a:solidFill>
                  <a:srgbClr val="E8761B"/>
                </a:solidFill>
                <a:latin typeface="Calibri"/>
              </a:rPr>
              <a:t>WHY THIS MATTERS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2651760"/>
            <a:ext cx="457200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When a regression hits production six months later, you don't ask “what did the code do.” You ask “what was this supposed to do.”</a:t>
            </a:r>
          </a:p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The spec answers that. The code does not.</a:t>
            </a:r>
          </a:p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Store specs in version control. Reference them in PRs. They are the contract.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PLANS  ·  01 / 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34 / 100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6B6B"/>
                </a:solidFill>
                <a:latin typeface="Georgia"/>
              </a:rPr>
              <a:t>The recipe between the spec and the code.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200" b="0" i="0">
                <a:solidFill>
                  <a:srgbClr val="14213D"/>
                </a:solidFill>
                <a:latin typeface="Georgia"/>
              </a:rPr>
              <a:t>What is a plan?</a:t>
            </a:r>
          </a:p>
        </p:txBody>
      </p:sp>
      <p:sp>
        <p:nvSpPr>
          <p:cNvPr id="9" name="Rectangle 8"/>
          <p:cNvSpPr/>
          <p:nvPr/>
        </p:nvSpPr>
        <p:spPr>
          <a:xfrm>
            <a:off x="1371600" y="2743200"/>
            <a:ext cx="292608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371600" y="2743200"/>
            <a:ext cx="2926080" cy="502920"/>
          </a:xfrm>
          <a:prstGeom prst="rect">
            <a:avLst/>
          </a:prstGeom>
          <a:solidFill>
            <a:srgbClr val="142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45920" y="285292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 spc="300">
                <a:solidFill>
                  <a:srgbClr val="FFFFFF"/>
                </a:solidFill>
                <a:latin typeface="Calibri"/>
              </a:rPr>
              <a:t>SPEC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3474720"/>
            <a:ext cx="2926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 i="1">
                <a:solidFill>
                  <a:srgbClr val="14213D"/>
                </a:solidFill>
                <a:latin typeface="Georgia"/>
              </a:rPr>
              <a:t>What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0" y="32918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0" i="0">
                <a:solidFill>
                  <a:srgbClr val="6B6B6B"/>
                </a:solidFill>
                <a:latin typeface="Georgia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846320" y="2743200"/>
            <a:ext cx="292608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46320" y="2743200"/>
            <a:ext cx="2926080" cy="502920"/>
          </a:xfrm>
          <a:prstGeom prst="rect">
            <a:avLst/>
          </a:prstGeom>
          <a:solidFill>
            <a:srgbClr val="E87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0640" y="285292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 spc="300">
                <a:solidFill>
                  <a:srgbClr val="FFFFFF"/>
                </a:solidFill>
                <a:latin typeface="Calibri"/>
              </a:rPr>
              <a:t>PLAN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0" y="3474720"/>
            <a:ext cx="2926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 i="1">
                <a:solidFill>
                  <a:srgbClr val="E8761B"/>
                </a:solidFill>
                <a:latin typeface="Georgia"/>
              </a:rPr>
              <a:t>How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32918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0" i="0">
                <a:solidFill>
                  <a:srgbClr val="6B6B6B"/>
                </a:solidFill>
                <a:latin typeface="Georgia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321040" y="2743200"/>
            <a:ext cx="292608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321040" y="2743200"/>
            <a:ext cx="2926080" cy="502920"/>
          </a:xfrm>
          <a:prstGeom prst="rect">
            <a:avLst/>
          </a:prstGeom>
          <a:solidFill>
            <a:srgbClr val="142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95360" y="285292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 spc="300">
                <a:solidFill>
                  <a:srgbClr val="FFFFFF"/>
                </a:solidFill>
                <a:latin typeface="Calibri"/>
              </a:rPr>
              <a:t>CODE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95360" y="3474720"/>
            <a:ext cx="2926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 i="1">
                <a:solidFill>
                  <a:srgbClr val="14213D"/>
                </a:solidFill>
                <a:latin typeface="Georgia"/>
              </a:rPr>
              <a:t>Done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4864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1A1A1A"/>
                </a:solidFill>
                <a:latin typeface="Georgia"/>
              </a:rPr>
              <a:t>Without a plan, the spec stays an idea and the code becomes a guess.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9436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E8761B"/>
                </a:solidFill>
                <a:latin typeface="Georgia"/>
              </a:rPr>
              <a:t>A good plan is shorter than you expect.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PLANS  ·  02 / 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35 / 100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6B6B"/>
                </a:solidFill>
                <a:latin typeface="Georgia"/>
              </a:rPr>
              <a:t>Five questions on every plan Claude proposes. Always.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0" i="0">
                <a:solidFill>
                  <a:srgbClr val="14213D"/>
                </a:solidFill>
                <a:latin typeface="Georgia"/>
              </a:rPr>
              <a:t>Anatomy of a good plan.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286000"/>
            <a:ext cx="548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E8761B"/>
                </a:solidFill>
                <a:latin typeface="Georgia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286000"/>
            <a:ext cx="5943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 i="0">
                <a:solidFill>
                  <a:srgbClr val="14213D"/>
                </a:solidFill>
                <a:latin typeface="Georgia"/>
              </a:rPr>
              <a:t>States its assumptions out loud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79" y="2331720"/>
            <a:ext cx="4389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1">
                <a:solidFill>
                  <a:srgbClr val="6B6B6B"/>
                </a:solidFill>
                <a:latin typeface="Consolas"/>
              </a:rPr>
              <a:t>“I'm assuming X.” Not silent guessing.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999232"/>
            <a:ext cx="548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E8761B"/>
                </a:solidFill>
                <a:latin typeface="Georgia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999232"/>
            <a:ext cx="5943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 i="0">
                <a:solidFill>
                  <a:srgbClr val="14213D"/>
                </a:solidFill>
                <a:latin typeface="Georgia"/>
              </a:rPr>
              <a:t>Names the exact files it will touch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79" y="3044952"/>
            <a:ext cx="4389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1">
                <a:solidFill>
                  <a:srgbClr val="6B6B6B"/>
                </a:solidFill>
                <a:latin typeface="Consolas"/>
              </a:rPr>
              <a:t>parser.py:42, not “the parser”.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712464"/>
            <a:ext cx="548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E8761B"/>
                </a:solidFill>
                <a:latin typeface="Georgia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712464"/>
            <a:ext cx="5943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 i="0">
                <a:solidFill>
                  <a:srgbClr val="14213D"/>
                </a:solidFill>
                <a:latin typeface="Georgia"/>
              </a:rPr>
              <a:t>Proposes at least one test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79" y="3758184"/>
            <a:ext cx="4389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1">
                <a:solidFill>
                  <a:srgbClr val="6B6B6B"/>
                </a:solidFill>
                <a:latin typeface="Consolas"/>
              </a:rPr>
              <a:t>“Here's the test that proves this works.”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425696"/>
            <a:ext cx="548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E8761B"/>
                </a:solidFill>
                <a:latin typeface="Georgia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425696"/>
            <a:ext cx="5943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 i="0">
                <a:solidFill>
                  <a:srgbClr val="14213D"/>
                </a:solidFill>
                <a:latin typeface="Georgia"/>
              </a:rPr>
              <a:t>Stays scoped to what you asked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79" y="4471416"/>
            <a:ext cx="4389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1">
                <a:solidFill>
                  <a:srgbClr val="6B6B6B"/>
                </a:solidFill>
                <a:latin typeface="Consolas"/>
              </a:rPr>
              <a:t>Count the verbs. Cut bonus features.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138928"/>
            <a:ext cx="548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E8761B"/>
                </a:solidFill>
                <a:latin typeface="Georgia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5138928"/>
            <a:ext cx="5943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 i="0">
                <a:solidFill>
                  <a:srgbClr val="14213D"/>
                </a:solidFill>
                <a:latin typeface="Georgia"/>
              </a:rPr>
              <a:t>Doesn't claim what it can't know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79" y="5184648"/>
            <a:ext cx="4389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1">
                <a:solidFill>
                  <a:srgbClr val="6B6B6B"/>
                </a:solidFill>
                <a:latin typeface="Consolas"/>
              </a:rPr>
              <a:t>“Following the existing convention” — which?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PLANS  ·  03 / 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36 / 100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6B6B"/>
                </a:solidFill>
                <a:latin typeface="Georgia"/>
              </a:rPr>
              <a:t>Plan mode = read-only exploration before any approval-gated change.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 i="0">
                <a:solidFill>
                  <a:srgbClr val="14213D"/>
                </a:solidFill>
                <a:latin typeface="Georgia"/>
              </a:rPr>
              <a:t>Plan mode in Claude Code.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194560"/>
            <a:ext cx="10698480" cy="3383280"/>
          </a:xfrm>
          <a:prstGeom prst="rect">
            <a:avLst/>
          </a:prstGeom>
          <a:solidFill>
            <a:srgbClr val="1E21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450592"/>
            <a:ext cx="10186416" cy="28712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200">
                <a:solidFill>
                  <a:srgbClr val="E8761B"/>
                </a:solidFill>
                <a:latin typeface="Consolas"/>
              </a:rPr>
              <a:t>&gt; claude /plan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/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Task: refactor the auth middleware.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/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7F848A"/>
                </a:solidFill>
                <a:latin typeface="Consolas"/>
              </a:rPr>
              <a:t>[exploring codebase ...]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7F848A"/>
                </a:solidFill>
                <a:latin typeface="Consolas"/>
              </a:rPr>
              <a:t>[reading 14 files in ./src/auth/]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7F848A"/>
                </a:solidFill>
                <a:latin typeface="Consolas"/>
              </a:rPr>
              <a:t>[reading 3 test files]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/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98C379"/>
                </a:solidFill>
                <a:latin typeface="Consolas"/>
              </a:rPr>
              <a:t>Plan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1. Extract token validation into auth/tokens.py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2. Replace direct DB calls with the new repo class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3. Add 5 unit tests in tests/auth/test_tokens.py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/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5C07B"/>
                </a:solidFill>
                <a:latin typeface="Consolas"/>
              </a:rPr>
              <a:t>Assumptions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- Keeping the existing JWT secret env var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- NOT changing the public API surface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/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98C379"/>
                </a:solidFill>
                <a:latin typeface="Consolas"/>
              </a:rPr>
              <a:t>Approve? (y/n/edit)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8521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E8761B"/>
                </a:solidFill>
                <a:latin typeface="Georgia"/>
              </a:rPr>
              <a:t>Nothing changes on disk until you approve. That's the point.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PLAN MODE  ·  WHAT YOU ACTUALLY GET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37 / 100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6B6B"/>
                </a:solidFill>
                <a:latin typeface="Georgia"/>
              </a:rPr>
              <a:t>From the plan above to the change on disk. Side by side.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0" i="0">
                <a:solidFill>
                  <a:srgbClr val="14213D"/>
                </a:solidFill>
                <a:latin typeface="Georgia"/>
              </a:rPr>
              <a:t>Plan -&gt; approved -&gt; outcome.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1031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300">
                <a:solidFill>
                  <a:srgbClr val="E8761B"/>
                </a:solidFill>
                <a:latin typeface="Calibri"/>
              </a:rPr>
              <a:t>THE APPROVED PLAN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2468880"/>
            <a:ext cx="5486400" cy="3383280"/>
          </a:xfrm>
          <a:prstGeom prst="rect">
            <a:avLst/>
          </a:prstGeom>
          <a:solidFill>
            <a:srgbClr val="1E21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2724912"/>
            <a:ext cx="4974336" cy="28712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200">
                <a:solidFill>
                  <a:srgbClr val="98C379"/>
                </a:solidFill>
                <a:latin typeface="Consolas"/>
              </a:rPr>
              <a:t>Plan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1. Extract token validation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 -&gt; auth/tokens.py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2. Replace direct DB calls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3. Add 5 unit tests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/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7F848A"/>
                </a:solidFill>
                <a:latin typeface="Consolas"/>
              </a:rPr>
              <a:t>Approved by Elias at 14:23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10312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300">
                <a:solidFill>
                  <a:srgbClr val="E8761B"/>
                </a:solidFill>
                <a:latin typeface="Calibri"/>
              </a:rPr>
              <a:t>THE OUTCOME ON DISK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0" y="2468880"/>
            <a:ext cx="5212080" cy="3383280"/>
          </a:xfrm>
          <a:prstGeom prst="rect">
            <a:avLst/>
          </a:prstGeom>
          <a:solidFill>
            <a:srgbClr val="1E21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56832" y="2724912"/>
            <a:ext cx="4700016" cy="28712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$ git diff --stat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auth/middleware.py  | -28 +6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98C379"/>
                </a:solidFill>
                <a:latin typeface="Consolas"/>
              </a:rPr>
              <a:t>  auth/tokens.py      | +42 (new)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98C379"/>
                </a:solidFill>
                <a:latin typeface="Consolas"/>
              </a:rPr>
              <a:t>  tests/test_tokens.py| +73 (new)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3 files, +121 -28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/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$ pytest auth/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98C379"/>
                </a:solidFill>
                <a:latin typeface="Consolas"/>
              </a:rPr>
              <a:t>  5 passed in 0.06s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/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$ git status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98C379"/>
                </a:solidFill>
                <a:latin typeface="Consolas"/>
              </a:rPr>
              <a:t>  clean working tree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59893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E8761B"/>
                </a:solidFill>
                <a:latin typeface="Georgia"/>
              </a:rPr>
              <a:t>The plan was the spec. The outcome was the implementation. Both reviewable.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REPO STRUCTURE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38 / 100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6B6B"/>
                </a:solidFill>
                <a:latin typeface="Georgia"/>
              </a:rPr>
              <a:t>A layout Claude Code can navigate without guessing.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 i="0">
                <a:solidFill>
                  <a:srgbClr val="14213D"/>
                </a:solidFill>
                <a:latin typeface="Georgia"/>
              </a:rPr>
              <a:t>Repo setup for agent-friendly work.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194560"/>
            <a:ext cx="6400800" cy="3749039"/>
          </a:xfrm>
          <a:prstGeom prst="rect">
            <a:avLst/>
          </a:prstGeom>
          <a:solidFill>
            <a:srgbClr val="1E21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450592"/>
            <a:ext cx="5888736" cy="32369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project/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├── README.md         ← what + how to run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8761B"/>
                </a:solidFill>
                <a:latin typeface="Consolas"/>
              </a:rPr>
              <a:t>├── CLAUDE.md         ← conventions, ≤ 200 lines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├── specs/            ← versioned specs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7F848A"/>
                </a:solidFill>
                <a:latin typeface="Consolas"/>
              </a:rPr>
              <a:t>│   └── 0001-csv-export.md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├── src/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7F848A"/>
                </a:solidFill>
                <a:latin typeface="Consolas"/>
              </a:rPr>
              <a:t>│   └── parser.py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├── tests/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7F848A"/>
                </a:solidFill>
                <a:latin typeface="Consolas"/>
              </a:rPr>
              <a:t>│   └── test_parser.py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├── .claude/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8761B"/>
                </a:solidFill>
                <a:latin typeface="Consolas"/>
              </a:rPr>
              <a:t>│   ├── hooks/        ← deterministic automation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7F848A"/>
                </a:solidFill>
                <a:latin typeface="Consolas"/>
              </a:rPr>
              <a:t>│   │   └── pre-commit.sh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8761B"/>
                </a:solidFill>
                <a:latin typeface="Consolas"/>
              </a:rPr>
              <a:t>│   └── skills/       ← capability uplift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7F848A"/>
                </a:solidFill>
                <a:latin typeface="Consolas"/>
              </a:rPr>
              <a:t>│       └── csv-export.md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└── .github/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  └── workflows/    ← CI as a verify gate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79" y="219456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300">
                <a:solidFill>
                  <a:srgbClr val="E8761B"/>
                </a:solidFill>
                <a:latin typeface="Calibri"/>
              </a:rPr>
              <a:t>PRINCIPLES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79" y="260604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1A"/>
                </a:solidFill>
                <a:latin typeface="Georgia"/>
              </a:rPr>
              <a:t>·  One CLAUDE.md per repo, root level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79" y="306324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1A"/>
                </a:solidFill>
                <a:latin typeface="Georgia"/>
              </a:rPr>
              <a:t>·  Specs as first-class artifacts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79" y="352044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1A"/>
                </a:solidFill>
                <a:latin typeface="Georgia"/>
              </a:rPr>
              <a:t>·  Hooks for the things you forget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79" y="397764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1A"/>
                </a:solidFill>
                <a:latin typeface="Georgia"/>
              </a:rPr>
              <a:t>·  Skills for the things you repeat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79" y="443484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1A"/>
                </a:solidFill>
                <a:latin typeface="Georgia"/>
              </a:rPr>
              <a:t>·  CI = automated verify gate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79" y="489204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1A"/>
                </a:solidFill>
                <a:latin typeface="Georgia"/>
              </a:rPr>
              <a:t>·  No deep nesting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THE PERSISTENCE LAYER  ·  01 / 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39 / 100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6B6B"/>
                </a:solidFill>
                <a:latin typeface="Georgia"/>
              </a:rPr>
              <a:t>Read at session start. Sticks across every prompt. Keep it short.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0" i="0">
                <a:solidFill>
                  <a:srgbClr val="14213D"/>
                </a:solidFill>
                <a:latin typeface="Georgia"/>
              </a:rPr>
              <a:t>CLAUDE.md — project DNA.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194560"/>
            <a:ext cx="6400800" cy="3749039"/>
          </a:xfrm>
          <a:prstGeom prst="rect">
            <a:avLst/>
          </a:prstGeom>
          <a:solidFill>
            <a:srgbClr val="1E21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450592"/>
            <a:ext cx="5888736" cy="32369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150">
                <a:solidFill>
                  <a:srgbClr val="E8761B"/>
                </a:solidFill>
                <a:latin typeface="Consolas"/>
              </a:rPr>
              <a:t># Project conventions</a:t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/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98C379"/>
                </a:solidFill>
                <a:latin typeface="Consolas"/>
              </a:rPr>
              <a:t>## The rhythm</a:t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>SPEC → PLAN → TEST → IMPL → VERIFY</a:t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/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98C379"/>
                </a:solidFill>
                <a:latin typeface="Consolas"/>
              </a:rPr>
              <a:t>## When you're working here</a:t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>- Use plan mode for &gt;1 file changes</a:t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>- Tests before implementation</a:t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>- Never claim done without output</a:t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>- Cite file:line for every reference</a:t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>- No real client data, ever</a:t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/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98C379"/>
                </a:solidFill>
                <a:latin typeface="Consolas"/>
              </a:rPr>
              <a:t>## What to avoid</a:t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>- Long try/except that swallow errors</a:t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>- Premature abstraction (&lt; 3 callers)</a:t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>- Comments that say what code does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79" y="219456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300">
                <a:solidFill>
                  <a:srgbClr val="E8761B"/>
                </a:solidFill>
                <a:latin typeface="Calibri"/>
              </a:rPr>
              <a:t>RULES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79" y="260604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1A"/>
                </a:solidFill>
                <a:latin typeface="Georgia"/>
              </a:rPr>
              <a:t>·  ≤ 200 lines. Hard cap.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79" y="306324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1A"/>
                </a:solidFill>
                <a:latin typeface="Georgia"/>
              </a:rPr>
              <a:t>·  Conventions, not code.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79" y="352044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1A"/>
                </a:solidFill>
                <a:latin typeface="Georgia"/>
              </a:rPr>
              <a:t>·  “Why” over “what”.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79" y="397764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1A"/>
                </a:solidFill>
                <a:latin typeface="Georgia"/>
              </a:rPr>
              <a:t>·  Update when the project drifts.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79" y="443484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1A"/>
                </a:solidFill>
                <a:latin typeface="Georgia"/>
              </a:rPr>
              <a:t>·  Run `claude /init` to bootstrap.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79" y="489204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1A"/>
                </a:solidFill>
                <a:latin typeface="Georgia"/>
              </a:rPr>
              <a:t>·  It's advisory — ~80% compliance.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THE PERSISTENCE LAYER  ·  02 / 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40 / 100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6B6B"/>
                </a:solidFill>
                <a:latin typeface="Georgia"/>
              </a:rPr>
              <a:t>When 80% isn't good enough. Deterministic, every time.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0" i="0">
                <a:solidFill>
                  <a:srgbClr val="14213D"/>
                </a:solidFill>
                <a:latin typeface="Georgia"/>
              </a:rPr>
              <a:t>Hooks — automate the must-haves.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194560"/>
            <a:ext cx="6400800" cy="3749039"/>
          </a:xfrm>
          <a:prstGeom prst="rect">
            <a:avLst/>
          </a:prstGeom>
          <a:solidFill>
            <a:srgbClr val="1E21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450592"/>
            <a:ext cx="5888736" cy="32369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200">
                <a:solidFill>
                  <a:srgbClr val="7F848A"/>
                </a:solidFill>
                <a:latin typeface="Consolas"/>
              </a:rPr>
              <a:t># .claude/settings.json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{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"hooks": {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  "PreToolUse": [{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    "matcher": "Edit|Write",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8761B"/>
                </a:solidFill>
                <a:latin typeface="Consolas"/>
              </a:rPr>
              <a:t>      "command": "ruff format --check"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  }],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  "PostToolUse": [{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    "matcher": "Edit",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8761B"/>
                </a:solidFill>
                <a:latin typeface="Consolas"/>
              </a:rPr>
              <a:t>      "command": "pytest -q tests/"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  }],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  "SessionEnd": [{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8761B"/>
                </a:solidFill>
                <a:latin typeface="Consolas"/>
              </a:rPr>
              <a:t>      "command": "~/.claude/session-note.sh"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  }]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}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}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79" y="219456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300">
                <a:solidFill>
                  <a:srgbClr val="E8761B"/>
                </a:solidFill>
                <a:latin typeface="Calibri"/>
              </a:rPr>
              <a:t>USE FOR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79" y="260604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1A"/>
                </a:solidFill>
                <a:latin typeface="Georgia"/>
              </a:rPr>
              <a:t>·  Linting and formatting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79" y="306324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1A"/>
                </a:solidFill>
                <a:latin typeface="Georgia"/>
              </a:rPr>
              <a:t>·  Security checks before commit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79" y="352044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1A"/>
                </a:solidFill>
                <a:latin typeface="Georgia"/>
              </a:rPr>
              <a:t>·  Auto-tests on file changes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79" y="397764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1A"/>
                </a:solidFill>
                <a:latin typeface="Georgia"/>
              </a:rPr>
              <a:t>·  Session notes to your vault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79" y="443484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1A"/>
                </a:solidFill>
                <a:latin typeface="Georgia"/>
              </a:rPr>
              <a:t>·  Logging, telemetry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79" y="489204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1A"/>
                </a:solidFill>
                <a:latin typeface="Georgia"/>
              </a:rPr>
              <a:t>·  Refusing forbidden patterns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HOOKS  ·  WHAT YOU ACTUALLY GET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41 / 100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6B6B"/>
                </a:solidFill>
                <a:latin typeface="Georgia"/>
              </a:rPr>
              <a:t>The hook fires. The wrong commit gets blocked. The right one ships.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 i="0">
                <a:solidFill>
                  <a:srgbClr val="14213D"/>
                </a:solidFill>
                <a:latin typeface="Georgia"/>
              </a:rPr>
              <a:t>Hooks in action.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1031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300">
                <a:solidFill>
                  <a:srgbClr val="E8761B"/>
                </a:solidFill>
                <a:latin typeface="Calibri"/>
              </a:rPr>
              <a:t>FAILING COMMIT  ·  BLOCKED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2468880"/>
            <a:ext cx="5486400" cy="3383280"/>
          </a:xfrm>
          <a:prstGeom prst="rect">
            <a:avLst/>
          </a:prstGeom>
          <a:solidFill>
            <a:srgbClr val="1E21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2724912"/>
            <a:ext cx="4974336" cy="28712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$ git commit -m "add CSV export"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/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7F848A"/>
                </a:solidFill>
                <a:latin typeface="Consolas"/>
              </a:rPr>
              <a:t>[hook] pre-commit: ruff format --check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06C75"/>
                </a:solidFill>
                <a:latin typeface="Consolas"/>
              </a:rPr>
              <a:t>Would reformat: parser.py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7F848A"/>
                </a:solidFill>
                <a:latin typeface="Consolas"/>
              </a:rPr>
              <a:t>[hook] pre-commit: pytest -q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06C75"/>
                </a:solidFill>
                <a:latin typeface="Consolas"/>
              </a:rPr>
              <a:t>  test_round_trip       FAILED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06C75"/>
                </a:solidFill>
                <a:latin typeface="Consolas"/>
              </a:rPr>
              <a:t>  AssertionError at line 47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/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06C75"/>
                </a:solidFill>
                <a:latin typeface="Consolas"/>
              </a:rPr>
              <a:t>Commit blocked.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8761B"/>
                </a:solidFill>
                <a:latin typeface="Consolas"/>
              </a:rPr>
              <a:t>$ 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10312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300">
                <a:solidFill>
                  <a:srgbClr val="E8761B"/>
                </a:solidFill>
                <a:latin typeface="Calibri"/>
              </a:rPr>
              <a:t>PASSING COMMIT  ·  SHIPS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0" y="2468880"/>
            <a:ext cx="5212080" cy="3383280"/>
          </a:xfrm>
          <a:prstGeom prst="rect">
            <a:avLst/>
          </a:prstGeom>
          <a:solidFill>
            <a:srgbClr val="1E21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56832" y="2724912"/>
            <a:ext cx="4700016" cy="28712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$ git commit -m "add CSV export"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/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7F848A"/>
                </a:solidFill>
                <a:latin typeface="Consolas"/>
              </a:rPr>
              <a:t>[hook] pre-commit: ruff format --check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98C379"/>
                </a:solidFill>
                <a:latin typeface="Consolas"/>
              </a:rPr>
              <a:t>All formatted.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7F848A"/>
                </a:solidFill>
                <a:latin typeface="Consolas"/>
              </a:rPr>
              <a:t>[hook] pre-commit: pytest -q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98C379"/>
                </a:solidFill>
                <a:latin typeface="Consolas"/>
              </a:rPr>
              <a:t>  3 passed in 0.04s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/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98C379"/>
                </a:solidFill>
                <a:latin typeface="Consolas"/>
              </a:rPr>
              <a:t>[main 7a3f2c1] add CSV export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98C379"/>
                </a:solidFill>
                <a:latin typeface="Consolas"/>
              </a:rPr>
              <a:t> 2 files changed, 49 +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8761B"/>
                </a:solidFill>
                <a:latin typeface="Consolas"/>
              </a:rPr>
              <a:t>$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59893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E8761B"/>
                </a:solidFill>
                <a:latin typeface="Georgia"/>
              </a:rPr>
              <a:t>The verify step is now part of the commit. You can't forget it.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THE PERSISTENCE LAYER  ·  03 / 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42 / 100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6B6B"/>
                </a:solidFill>
                <a:latin typeface="Georgia"/>
              </a:rPr>
              <a:t>Two kinds: give Claude new abilities, or encode your taste.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0" i="0">
                <a:solidFill>
                  <a:srgbClr val="14213D"/>
                </a:solidFill>
                <a:latin typeface="Georgia"/>
              </a:rPr>
              <a:t>Skills — capabilities + preferences.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286000"/>
            <a:ext cx="5394960" cy="3474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2286000"/>
            <a:ext cx="5394960" cy="502920"/>
          </a:xfrm>
          <a:prstGeom prst="rect">
            <a:avLst/>
          </a:prstGeom>
          <a:solidFill>
            <a:srgbClr val="142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404872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300">
                <a:solidFill>
                  <a:srgbClr val="FFFFFF"/>
                </a:solidFill>
                <a:latin typeface="Calibri"/>
              </a:rPr>
              <a:t>CAPABILITY UPLIFT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154680"/>
            <a:ext cx="5029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14213D"/>
                </a:solidFill>
                <a:latin typeface="Georgia"/>
              </a:rPr>
              <a:t>Give Claude a new ability.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88620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A1A1A"/>
                </a:solidFill>
                <a:latin typeface="Consolas"/>
              </a:rPr>
              <a:t>·  pdf — read and edit PDF files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20624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A1A1A"/>
                </a:solidFill>
                <a:latin typeface="Consolas"/>
              </a:rPr>
              <a:t>·  browser — open pages, fill forms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52628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A1A1A"/>
                </a:solidFill>
                <a:latin typeface="Consolas"/>
              </a:rPr>
              <a:t>·  playwright — generate E2E tests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484632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A1A1A"/>
                </a:solidFill>
                <a:latin typeface="Consolas"/>
              </a:rPr>
              <a:t>·  fastapi-backend-design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516636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A1A1A"/>
                </a:solidFill>
                <a:latin typeface="Consolas"/>
              </a:rPr>
              <a:t>·  database-design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548640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A1A1A"/>
                </a:solidFill>
                <a:latin typeface="Consolas"/>
              </a:rPr>
              <a:t>·  ml-training-pipelines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0" y="2286000"/>
            <a:ext cx="5029200" cy="3474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0" y="2286000"/>
            <a:ext cx="5029200" cy="502920"/>
          </a:xfrm>
          <a:prstGeom prst="rect">
            <a:avLst/>
          </a:prstGeom>
          <a:solidFill>
            <a:srgbClr val="E87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75120" y="2404872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300">
                <a:solidFill>
                  <a:srgbClr val="FFFFFF"/>
                </a:solidFill>
                <a:latin typeface="Calibri"/>
              </a:rPr>
              <a:t>ENCODED PREFERENCE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0" y="3154680"/>
            <a:ext cx="4572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14213D"/>
                </a:solidFill>
                <a:latin typeface="Georgia"/>
              </a:rPr>
              <a:t>Guide existing capabilities.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0" y="388620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A1A1A"/>
                </a:solidFill>
                <a:latin typeface="Consolas"/>
              </a:rPr>
              <a:t>·  german-client-communication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0" y="420624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A1A1A"/>
                </a:solidFill>
                <a:latin typeface="Consolas"/>
              </a:rPr>
              <a:t>·  gdpr-dsgvo-compliance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0" y="452628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A1A1A"/>
                </a:solidFill>
                <a:latin typeface="Consolas"/>
              </a:rPr>
              <a:t>·  meeting-to-actions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A1A1A"/>
                </a:solidFill>
                <a:latin typeface="Consolas"/>
              </a:rPr>
              <a:t>·  writing-plans (this discipline!)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75120" y="516636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A1A1A"/>
                </a:solidFill>
                <a:latin typeface="Consolas"/>
              </a:rPr>
              <a:t>·  polished-ui-design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75120" y="548640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A1A1A"/>
                </a:solidFill>
                <a:latin typeface="Consolas"/>
              </a:rPr>
              <a:t>·  verification-before-completion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59893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E8761B"/>
                </a:solidFill>
                <a:latin typeface="Georgia"/>
              </a:rPr>
              <a:t>Skills are markdown. MCP is JSON-RPC. Skills know things; MCP does things.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THE PERSISTENCE LAYER  ·  04 / 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43 / 100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6B6B"/>
                </a:solidFill>
                <a:latin typeface="Georgia"/>
              </a:rPr>
              <a:t>Claude can now act outside the terminal — through any MCP-speaking tool.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0" i="0">
                <a:solidFill>
                  <a:srgbClr val="14213D"/>
                </a:solidFill>
                <a:latin typeface="Georgia"/>
              </a:rPr>
              <a:t>MCP — the action layer.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194560"/>
            <a:ext cx="6400800" cy="3749039"/>
          </a:xfrm>
          <a:prstGeom prst="rect">
            <a:avLst/>
          </a:prstGeom>
          <a:solidFill>
            <a:srgbClr val="1E21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450592"/>
            <a:ext cx="5888736" cy="32369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150">
                <a:solidFill>
                  <a:srgbClr val="E8761B"/>
                </a:solidFill>
                <a:latin typeface="Consolas"/>
              </a:rPr>
              <a:t>$ claude mcp add notion --token=...</a:t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E8761B"/>
                </a:solidFill>
                <a:latin typeface="Consolas"/>
              </a:rPr>
              <a:t>$ claude mcp add slack --workspace=...</a:t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E8761B"/>
                </a:solidFill>
                <a:latin typeface="Consolas"/>
              </a:rPr>
              <a:t>$ claude mcp add postgres --conn=...</a:t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E8761B"/>
                </a:solidFill>
                <a:latin typeface="Consolas"/>
              </a:rPr>
              <a:t>$ claude mcp add chrome</a:t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/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>$ claude</a:t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>&gt; "Read today's standup notes from Slack,</a:t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>   create a Notion page summarising blockers,</a:t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>   then open chrome to file the bug."</a:t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/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7F848A"/>
                </a:solidFill>
                <a:latin typeface="Consolas"/>
              </a:rPr>
              <a:t>[claude] mcp__slack__read_channel ...</a:t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7F848A"/>
                </a:solidFill>
                <a:latin typeface="Consolas"/>
              </a:rPr>
              <a:t>[claude] mcp__notion__create-pages ...</a:t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7F848A"/>
                </a:solidFill>
                <a:latin typeface="Consolas"/>
              </a:rPr>
              <a:t>[claude] mcp__chrome__navigate ...</a:t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7F848A"/>
                </a:solidFill>
                <a:latin typeface="Consolas"/>
              </a:rPr>
              <a:t>[claude] mcp__chrome__form_input ...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79" y="219456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300">
                <a:solidFill>
                  <a:srgbClr val="E8761B"/>
                </a:solidFill>
                <a:latin typeface="Calibri"/>
              </a:rPr>
              <a:t>POPULAR MCP SERVERS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79" y="260604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Georgia"/>
              </a:rPr>
              <a:t>·  Notion (docs, databases)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79" y="301752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Georgia"/>
              </a:rPr>
              <a:t>·  Slack (channels, threads)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79" y="342900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Georgia"/>
              </a:rPr>
              <a:t>·  Linear (issues, projects)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79" y="384048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Georgia"/>
              </a:rPr>
              <a:t>·  Gmail / Google Calendar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79" y="425196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Georgia"/>
              </a:rPr>
              <a:t>·  Chrome (browser automation)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79" y="466344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Georgia"/>
              </a:rPr>
              <a:t>·  GitHub (via gh CLI)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79" y="507492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Georgia"/>
              </a:rPr>
              <a:t>·  Postgres / SQLite / DuckDB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79" y="548640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Georgia"/>
              </a:rPr>
              <a:t>·  Filesystem with permissions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TESTING  ·  01 / 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44 / 100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6B6B"/>
                </a:solidFill>
                <a:latin typeface="Georgia"/>
              </a:rPr>
              <a:t>Tests aren't safety nets. They're the spec, executable.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 i="0">
                <a:solidFill>
                  <a:srgbClr val="14213D"/>
                </a:solidFill>
                <a:latin typeface="Georgia"/>
              </a:rPr>
              <a:t>Unit tests — what they actually are.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194560"/>
            <a:ext cx="6858000" cy="3749039"/>
          </a:xfrm>
          <a:prstGeom prst="rect">
            <a:avLst/>
          </a:prstGeom>
          <a:solidFill>
            <a:srgbClr val="1E21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450592"/>
            <a:ext cx="6345936" cy="32369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100">
                <a:solidFill>
                  <a:srgbClr val="7F848A"/>
                </a:solidFill>
                <a:latin typeface="Consolas"/>
              </a:rPr>
              <a:t># tests/test_export.py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from parser import export_to_csv, parse_receipts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/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def test_round_trip(tmp_path):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    rows = parse_receipts(SAMPLE)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    out = tmp_path / "out.csv"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    export_to_csv(rows, out)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    assert out.read_text().count("\n") == 14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/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def test_empty_writes_header_only(tmp_path):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    out = tmp_path / "empty.csv"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    export_to_csv([], out)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    assert out.read_text().splitlines() == [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        "date,shop,item,price,currency"]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/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def test_refuses_overwrite(tmp_path):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    out = tmp_path / "x.csv"; out.touch()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    with pytest.raises(FileExistsError):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        export_to_csv([], out)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0" y="2194560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300">
                <a:solidFill>
                  <a:srgbClr val="E8761B"/>
                </a:solidFill>
                <a:latin typeface="Calibri"/>
              </a:rPr>
              <a:t>GOOD UNIT TESTS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0" y="2606040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Georgia"/>
              </a:rPr>
              <a:t>·  Test one behavior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0" y="3063240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Georgia"/>
              </a:rPr>
              <a:t>·  Read like a spec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0" y="3520440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Georgia"/>
              </a:rPr>
              <a:t>·  Fail loudly with a clear message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0" y="3977640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Georgia"/>
              </a:rPr>
              <a:t>·  Don't share state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0" y="4434840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Georgia"/>
              </a:rPr>
              <a:t>·  Run in milliseconds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0" y="4892040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Georgia"/>
              </a:rPr>
              <a:t>·  Cover happy path AND one failure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TESTING  ·  02 / 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45 / 100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6B6B"/>
                </a:solidFill>
                <a:latin typeface="Georgia"/>
              </a:rPr>
              <a:t>Standard TDD. Just with Claude as the typist.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0" i="0">
                <a:solidFill>
                  <a:srgbClr val="14213D"/>
                </a:solidFill>
                <a:latin typeface="Georgia"/>
              </a:rPr>
              <a:t>Red, green, refactor.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468880"/>
            <a:ext cx="3611880" cy="2377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2468880"/>
            <a:ext cx="3611880" cy="502920"/>
          </a:xfrm>
          <a:prstGeom prst="rect">
            <a:avLst/>
          </a:prstGeom>
          <a:solidFill>
            <a:srgbClr val="E06C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587752"/>
            <a:ext cx="3611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 spc="300">
                <a:solidFill>
                  <a:srgbClr val="FFFFFF"/>
                </a:solidFill>
                <a:latin typeface="Calibri"/>
              </a:rPr>
              <a:t>RED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246120"/>
            <a:ext cx="306324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 i="0">
                <a:solidFill>
                  <a:srgbClr val="14213D"/>
                </a:solidFill>
                <a:latin typeface="Georgia"/>
              </a:rPr>
              <a:t>Failing tests first.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34840" y="2468880"/>
            <a:ext cx="3611880" cy="2377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34840" y="2468880"/>
            <a:ext cx="3611880" cy="502920"/>
          </a:xfrm>
          <a:prstGeom prst="rect">
            <a:avLst/>
          </a:prstGeom>
          <a:solidFill>
            <a:srgbClr val="98C3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09160" y="2587752"/>
            <a:ext cx="3611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 spc="300">
                <a:solidFill>
                  <a:srgbClr val="FFFFFF"/>
                </a:solidFill>
                <a:latin typeface="Calibri"/>
              </a:rPr>
              <a:t>GREEN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09160" y="3246120"/>
            <a:ext cx="306324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 i="0">
                <a:solidFill>
                  <a:srgbClr val="14213D"/>
                </a:solidFill>
                <a:latin typeface="Georgia"/>
              </a:rPr>
              <a:t>Simplest code that passes.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38160" y="2468880"/>
            <a:ext cx="3611880" cy="2377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38160" y="2468880"/>
            <a:ext cx="3611880" cy="502920"/>
          </a:xfrm>
          <a:prstGeom prst="rect">
            <a:avLst/>
          </a:prstGeom>
          <a:solidFill>
            <a:srgbClr val="E87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80" y="2587752"/>
            <a:ext cx="3611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 spc="300">
                <a:solidFill>
                  <a:srgbClr val="FFFFFF"/>
                </a:solidFill>
                <a:latin typeface="Calibri"/>
              </a:rPr>
              <a:t>REFACTOR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3246120"/>
            <a:ext cx="306324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 i="0">
                <a:solidFill>
                  <a:srgbClr val="14213D"/>
                </a:solidFill>
                <a:latin typeface="Georgia"/>
              </a:rPr>
              <a:t>Only if simpler. Else stop.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4864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E8761B"/>
                </a:solidFill>
                <a:latin typeface="Georgia"/>
              </a:rPr>
              <a:t>Claude *will* try to write the function first. Correct it. Always.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E2E TESTING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46 / 100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6B6B"/>
                </a:solidFill>
                <a:latin typeface="Georgia"/>
              </a:rPr>
              <a:t>Web UI? Then Playwright tests, autogenerated from the spec.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0" i="0">
                <a:solidFill>
                  <a:srgbClr val="14213D"/>
                </a:solidFill>
                <a:latin typeface="Georgia"/>
              </a:rPr>
              <a:t>Playwright + Claude Code.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194560"/>
            <a:ext cx="10698480" cy="3657600"/>
          </a:xfrm>
          <a:prstGeom prst="rect">
            <a:avLst/>
          </a:prstGeom>
          <a:solidFill>
            <a:srgbClr val="1E21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450592"/>
            <a:ext cx="10186416" cy="3145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050">
                <a:solidFill>
                  <a:srgbClr val="E6E6E6"/>
                </a:solidFill>
                <a:latin typeface="Consolas"/>
              </a:rPr>
              <a:t>// Generated by Claude Code from spec.md in 90 seconds.</a:t>
            </a:r>
          </a:p>
          <a:p>
            <a:pPr>
              <a:lnSpc>
                <a:spcPct val="135000"/>
              </a:lnSpc>
            </a:pPr>
            <a:r>
              <a:rPr sz="1050">
                <a:solidFill>
                  <a:srgbClr val="E6E6E6"/>
                </a:solidFill>
                <a:latin typeface="Consolas"/>
              </a:rPr>
              <a:t>import { test, expect } from "@playwright/test";</a:t>
            </a:r>
          </a:p>
          <a:p>
            <a:pPr>
              <a:lnSpc>
                <a:spcPct val="135000"/>
              </a:lnSpc>
            </a:pPr>
            <a:r>
              <a:rPr sz="1050">
                <a:solidFill>
                  <a:srgbClr val="E6E6E6"/>
                </a:solidFill>
                <a:latin typeface="Consolas"/>
              </a:rPr>
              <a:t/>
            </a:r>
          </a:p>
          <a:p>
            <a:pPr>
              <a:lnSpc>
                <a:spcPct val="135000"/>
              </a:lnSpc>
            </a:pPr>
            <a:r>
              <a:rPr sz="1050">
                <a:solidFill>
                  <a:srgbClr val="E6E6E6"/>
                </a:solidFill>
                <a:latin typeface="Consolas"/>
              </a:rPr>
              <a:t>test.describe("Pomodoro", () =&gt; {</a:t>
            </a:r>
          </a:p>
          <a:p>
            <a:pPr>
              <a:lnSpc>
                <a:spcPct val="135000"/>
              </a:lnSpc>
            </a:pPr>
            <a:r>
              <a:rPr sz="1050">
                <a:solidFill>
                  <a:srgbClr val="E6E6E6"/>
                </a:solidFill>
                <a:latin typeface="Consolas"/>
              </a:rPr>
              <a:t>  test.beforeEach(async ({ page }) =&gt; {</a:t>
            </a:r>
          </a:p>
          <a:p>
            <a:pPr>
              <a:lnSpc>
                <a:spcPct val="135000"/>
              </a:lnSpc>
            </a:pPr>
            <a:r>
              <a:rPr sz="1050">
                <a:solidFill>
                  <a:srgbClr val="E6E6E6"/>
                </a:solidFill>
                <a:latin typeface="Consolas"/>
              </a:rPr>
              <a:t>    await page.goto("file://" + process.cwd() + "/demos/01-mvp-pomodoro/index.html");</a:t>
            </a:r>
          </a:p>
          <a:p>
            <a:pPr>
              <a:lnSpc>
                <a:spcPct val="135000"/>
              </a:lnSpc>
            </a:pPr>
            <a:r>
              <a:rPr sz="1050">
                <a:solidFill>
                  <a:srgbClr val="E6E6E6"/>
                </a:solidFill>
                <a:latin typeface="Consolas"/>
              </a:rPr>
              <a:t>  });</a:t>
            </a:r>
          </a:p>
          <a:p>
            <a:pPr>
              <a:lnSpc>
                <a:spcPct val="135000"/>
              </a:lnSpc>
            </a:pPr>
            <a:r>
              <a:rPr sz="1050">
                <a:solidFill>
                  <a:srgbClr val="E6E6E6"/>
                </a:solidFill>
                <a:latin typeface="Consolas"/>
              </a:rPr>
              <a:t/>
            </a:r>
          </a:p>
          <a:p>
            <a:pPr>
              <a:lnSpc>
                <a:spcPct val="135000"/>
              </a:lnSpc>
            </a:pPr>
            <a:r>
              <a:rPr sz="1050">
                <a:solidFill>
                  <a:srgbClr val="E6E6E6"/>
                </a:solidFill>
                <a:latin typeface="Consolas"/>
              </a:rPr>
              <a:t>  test("starts at 25:00 in FOCUS mode", async ({ page }) =&gt; {</a:t>
            </a:r>
          </a:p>
          <a:p>
            <a:pPr>
              <a:lnSpc>
                <a:spcPct val="135000"/>
              </a:lnSpc>
            </a:pPr>
            <a:r>
              <a:rPr sz="1050">
                <a:solidFill>
                  <a:srgbClr val="E6E6E6"/>
                </a:solidFill>
                <a:latin typeface="Consolas"/>
              </a:rPr>
              <a:t>    await expect(page.locator("#timer")).toHaveText("25:00");</a:t>
            </a:r>
          </a:p>
          <a:p>
            <a:pPr>
              <a:lnSpc>
                <a:spcPct val="135000"/>
              </a:lnSpc>
            </a:pPr>
            <a:r>
              <a:rPr sz="1050">
                <a:solidFill>
                  <a:srgbClr val="E6E6E6"/>
                </a:solidFill>
                <a:latin typeface="Consolas"/>
              </a:rPr>
              <a:t>    await expect(page.locator("#mode")).toHaveText("FOCUS");</a:t>
            </a:r>
          </a:p>
          <a:p>
            <a:pPr>
              <a:lnSpc>
                <a:spcPct val="135000"/>
              </a:lnSpc>
            </a:pPr>
            <a:r>
              <a:rPr sz="1050">
                <a:solidFill>
                  <a:srgbClr val="E6E6E6"/>
                </a:solidFill>
                <a:latin typeface="Consolas"/>
              </a:rPr>
              <a:t>  });</a:t>
            </a:r>
          </a:p>
          <a:p>
            <a:pPr>
              <a:lnSpc>
                <a:spcPct val="135000"/>
              </a:lnSpc>
            </a:pPr>
            <a:r>
              <a:rPr sz="1050">
                <a:solidFill>
                  <a:srgbClr val="E6E6E6"/>
                </a:solidFill>
                <a:latin typeface="Consolas"/>
              </a:rPr>
              <a:t/>
            </a:r>
          </a:p>
          <a:p>
            <a:pPr>
              <a:lnSpc>
                <a:spcPct val="135000"/>
              </a:lnSpc>
            </a:pPr>
            <a:r>
              <a:rPr sz="1050">
                <a:solidFill>
                  <a:srgbClr val="E6E6E6"/>
                </a:solidFill>
                <a:latin typeface="Consolas"/>
              </a:rPr>
              <a:t>  test("ticks down after START", async ({ page }) =&gt; {</a:t>
            </a:r>
          </a:p>
          <a:p>
            <a:pPr>
              <a:lnSpc>
                <a:spcPct val="135000"/>
              </a:lnSpc>
            </a:pPr>
            <a:r>
              <a:rPr sz="1050">
                <a:solidFill>
                  <a:srgbClr val="E6E6E6"/>
                </a:solidFill>
                <a:latin typeface="Consolas"/>
              </a:rPr>
              <a:t>    await page.click("#start");</a:t>
            </a:r>
          </a:p>
          <a:p>
            <a:pPr>
              <a:lnSpc>
                <a:spcPct val="135000"/>
              </a:lnSpc>
            </a:pPr>
            <a:r>
              <a:rPr sz="1050">
                <a:solidFill>
                  <a:srgbClr val="E6E6E6"/>
                </a:solidFill>
                <a:latin typeface="Consolas"/>
              </a:rPr>
              <a:t>    await page.waitForTimeout(1100);</a:t>
            </a:r>
          </a:p>
          <a:p>
            <a:pPr>
              <a:lnSpc>
                <a:spcPct val="135000"/>
              </a:lnSpc>
            </a:pPr>
            <a:r>
              <a:rPr sz="1050">
                <a:solidFill>
                  <a:srgbClr val="E6E6E6"/>
                </a:solidFill>
                <a:latin typeface="Consolas"/>
              </a:rPr>
              <a:t>    const txt = await page.locator("#timer").textContent();</a:t>
            </a:r>
          </a:p>
          <a:p>
            <a:pPr>
              <a:lnSpc>
                <a:spcPct val="135000"/>
              </a:lnSpc>
            </a:pPr>
            <a:r>
              <a:rPr sz="1050">
                <a:solidFill>
                  <a:srgbClr val="E6E6E6"/>
                </a:solidFill>
                <a:latin typeface="Consolas"/>
              </a:rPr>
              <a:t>    expect(txt).toBe("24:59");</a:t>
            </a:r>
          </a:p>
          <a:p>
            <a:pPr>
              <a:lnSpc>
                <a:spcPct val="135000"/>
              </a:lnSpc>
            </a:pPr>
            <a:r>
              <a:rPr sz="1050">
                <a:solidFill>
                  <a:srgbClr val="E6E6E6"/>
                </a:solidFill>
                <a:latin typeface="Consolas"/>
              </a:rPr>
              <a:t>  });</a:t>
            </a:r>
          </a:p>
          <a:p>
            <a:pPr>
              <a:lnSpc>
                <a:spcPct val="135000"/>
              </a:lnSpc>
            </a:pPr>
            <a:r>
              <a:rPr sz="1050">
                <a:solidFill>
                  <a:srgbClr val="E6E6E6"/>
                </a:solidFill>
                <a:latin typeface="Consolas"/>
              </a:rPr>
              <a:t/>
            </a:r>
          </a:p>
          <a:p>
            <a:pPr>
              <a:lnSpc>
                <a:spcPct val="135000"/>
              </a:lnSpc>
            </a:pPr>
            <a:r>
              <a:rPr sz="1050">
                <a:solidFill>
                  <a:srgbClr val="E6E6E6"/>
                </a:solidFill>
                <a:latin typeface="Consolas"/>
              </a:rPr>
              <a:t>  test("PAUSE freezes the timer", async ({ page }) =&gt; {</a:t>
            </a:r>
          </a:p>
          <a:p>
            <a:pPr>
              <a:lnSpc>
                <a:spcPct val="135000"/>
              </a:lnSpc>
            </a:pPr>
            <a:r>
              <a:rPr sz="1050">
                <a:solidFill>
                  <a:srgbClr val="E6E6E6"/>
                </a:solidFill>
                <a:latin typeface="Consolas"/>
              </a:rPr>
              <a:t>    await page.click("#start");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9893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E8761B"/>
                </a:solidFill>
                <a:latin typeface="Georgia"/>
              </a:rPr>
              <a:t>Generated from the spec for the Pomodoro app. 90 seconds.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VERIFICATION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47 / 100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6B6B"/>
                </a:solidFill>
                <a:latin typeface="Georgia"/>
              </a:rPr>
              <a:t>Green tests are necessary. Not sufficient.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0" i="0">
                <a:solidFill>
                  <a:srgbClr val="14213D"/>
                </a:solidFill>
                <a:latin typeface="Georgia"/>
              </a:rPr>
              <a:t>Verify properly.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28600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E8761B"/>
                </a:solidFill>
                <a:latin typeface="Consolas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37360" y="2267712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4213D"/>
                </a:solidFill>
                <a:latin typeface="Georgia"/>
              </a:rPr>
              <a:t>Run the feature end-to-end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2313432"/>
            <a:ext cx="5852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Not the test. The actual feature, as a user would.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97180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E8761B"/>
                </a:solidFill>
                <a:latin typeface="Consolas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37360" y="2953512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4213D"/>
                </a:solidFill>
                <a:latin typeface="Georgia"/>
              </a:rPr>
              <a:t>Inspect the artifact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0" y="2999232"/>
            <a:ext cx="5852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Open the CSV. Read the rendered page. Curl the endpoint.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65760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E8761B"/>
                </a:solidFill>
                <a:latin typeface="Consolas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37360" y="3639312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4213D"/>
                </a:solidFill>
                <a:latin typeface="Georgia"/>
              </a:rPr>
              <a:t>Try one adversarial input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35040" y="3685032"/>
            <a:ext cx="5852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Empty list. Special chars. Concurrency. The thing that scared you.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34340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E8761B"/>
                </a:solidFill>
                <a:latin typeface="Consolas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37360" y="4325112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4213D"/>
                </a:solidFill>
                <a:latin typeface="Georgia"/>
              </a:rPr>
              <a:t>Compare to the spec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35040" y="4370832"/>
            <a:ext cx="5852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Each checkable criterion: tick or not?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02920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E8761B"/>
                </a:solidFill>
                <a:latin typeface="Consolas"/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37360" y="5010912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4213D"/>
                </a:solidFill>
                <a:latin typeface="Georgia"/>
              </a:rPr>
              <a:t>Show evidence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35040" y="5056632"/>
            <a:ext cx="5852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Paste output, attach screenshot, save the log. Make it visible.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ITERATION CYCLES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48 / 100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6B6B"/>
                </a:solidFill>
                <a:latin typeface="Georgia"/>
              </a:rPr>
              <a:t>Feature by feature. Evidence each loop. No skipping.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0" i="0">
                <a:solidFill>
                  <a:srgbClr val="14213D"/>
                </a:solidFill>
                <a:latin typeface="Georgia"/>
              </a:rPr>
              <a:t>Iteration cycles.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286000"/>
            <a:ext cx="10698480" cy="3566160"/>
          </a:xfrm>
          <a:prstGeom prst="rect">
            <a:avLst/>
          </a:prstGeom>
          <a:solidFill>
            <a:srgbClr val="1E21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542032"/>
            <a:ext cx="10186416" cy="30540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400">
                <a:solidFill>
                  <a:srgbClr val="98C379"/>
                </a:solidFill>
                <a:latin typeface="Consolas"/>
              </a:rPr>
              <a:t>loop:</a:t>
            </a:r>
          </a:p>
          <a:p>
            <a:pPr>
              <a:lnSpc>
                <a:spcPct val="135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    1. pick the next spec criterion</a:t>
            </a:r>
          </a:p>
          <a:p>
            <a:pPr>
              <a:lnSpc>
                <a:spcPct val="135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    2. /plan — propose, review, approve</a:t>
            </a:r>
          </a:p>
          <a:p>
            <a:pPr>
              <a:lnSpc>
                <a:spcPct val="135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    3. write failing test</a:t>
            </a:r>
          </a:p>
          <a:p>
            <a:pPr>
              <a:lnSpc>
                <a:spcPct val="135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    4. implement</a:t>
            </a:r>
          </a:p>
          <a:p>
            <a:pPr>
              <a:lnSpc>
                <a:spcPct val="135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    5. run test → green</a:t>
            </a:r>
          </a:p>
          <a:p>
            <a:pPr>
              <a:lnSpc>
                <a:spcPct val="135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    6. run feature end-to-end → works</a:t>
            </a:r>
          </a:p>
          <a:p>
            <a:pPr>
              <a:lnSpc>
                <a:spcPct val="135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    7. paste evidence</a:t>
            </a:r>
          </a:p>
          <a:p>
            <a:pPr>
              <a:lnSpc>
                <a:spcPct val="135000"/>
              </a:lnSpc>
            </a:pPr>
            <a:r>
              <a:rPr sz="1400">
                <a:solidFill>
                  <a:srgbClr val="E5C07B"/>
                </a:solidFill>
                <a:latin typeface="Consolas"/>
              </a:rPr>
              <a:t>    8. check against spec — drift? regenerate plan</a:t>
            </a:r>
          </a:p>
          <a:p>
            <a:pPr>
              <a:lnSpc>
                <a:spcPct val="135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    9. commit with spec reference in message</a:t>
            </a:r>
          </a:p>
          <a:p>
            <a:pPr>
              <a:lnSpc>
                <a:spcPct val="135000"/>
              </a:lnSpc>
            </a:pPr>
            <a:r>
              <a:rPr sz="1400">
                <a:solidFill>
                  <a:srgbClr val="98C379"/>
                </a:solidFill>
                <a:latin typeface="Consolas"/>
              </a:rPr>
              <a:t>   10. ↺</a:t>
            </a:r>
          </a:p>
          <a:p>
            <a:pPr>
              <a:lnSpc>
                <a:spcPct val="135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/>
            </a:r>
          </a:p>
          <a:p>
            <a:pPr>
              <a:lnSpc>
                <a:spcPct val="135000"/>
              </a:lnSpc>
            </a:pPr>
            <a:r>
              <a:rPr sz="1400">
                <a:solidFill>
                  <a:srgbClr val="E06C75"/>
                </a:solidFill>
                <a:latin typeface="Consolas"/>
              </a:rPr>
              <a:t># do not move on while step 6 or 7 is incomplete.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9893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E8761B"/>
                </a:solidFill>
                <a:latin typeface="Georgia"/>
              </a:rPr>
              <a:t>Small loops. Small reviews. Small risks. The compounding wins.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SPEC DRIFT  ·  01 / 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49 / 100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6B6B"/>
                </a:solidFill>
                <a:latin typeface="Georgia"/>
              </a:rPr>
              <a:t>The silent project killer in agentic workflows.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0" i="0">
                <a:solidFill>
                  <a:srgbClr val="14213D"/>
                </a:solidFill>
                <a:latin typeface="Georgia"/>
              </a:rPr>
              <a:t>What is spec drift?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37744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E8761B"/>
                </a:solidFill>
                <a:latin typeface="Georgia"/>
              </a:rPr>
              <a:t>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23774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14213D"/>
                </a:solidFill>
                <a:latin typeface="Georgia"/>
              </a:rPr>
              <a:t>Plan grows beyond the spec — Claude offers a “bonus” feature, you accept.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97180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E8761B"/>
                </a:solidFill>
                <a:latin typeface="Georgia"/>
              </a:rPr>
              <a:t>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97180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14213D"/>
                </a:solidFill>
                <a:latin typeface="Georgia"/>
              </a:rPr>
              <a:t>Spec ambiguity resolved in conversation — but not written back.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56616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E8761B"/>
                </a:solidFill>
                <a:latin typeface="Georgia"/>
              </a:rPr>
              <a:t>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356616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14213D"/>
                </a:solidFill>
                <a:latin typeface="Georgia"/>
              </a:rPr>
              <a:t>Tests cover the new shape, not the original criteria — green still ships drift.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16052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E8761B"/>
                </a:solidFill>
                <a:latin typeface="Georgia"/>
              </a:rPr>
              <a:t>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416052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14213D"/>
                </a:solidFill>
                <a:latin typeface="Georgia"/>
              </a:rPr>
              <a:t>Stakeholder asks for “one tweak” mid-build — not added to the spec.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75488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E8761B"/>
                </a:solidFill>
                <a:latin typeface="Georgia"/>
              </a:rPr>
              <a:t>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475488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14213D"/>
                </a:solidFill>
                <a:latin typeface="Georgia"/>
              </a:rPr>
              <a:t>Subagent decides on its own what done means — you don't notice.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8521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E8761B"/>
                </a:solidFill>
                <a:latin typeface="Georgia"/>
              </a:rPr>
              <a:t>By month two, no one can tell you what the system is supposed to do.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SPEC DRIFT  ·  02 / 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50 / 100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6B6B"/>
                </a:solidFill>
                <a:latin typeface="Georgia"/>
              </a:rPr>
              <a:t>The spec stays canonical. Plans regenerate against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0" i="0">
                <a:solidFill>
                  <a:srgbClr val="14213D"/>
                </a:solidFill>
                <a:latin typeface="Georgia"/>
              </a:rPr>
              <a:t>Preventing drift.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28600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E8761B"/>
                </a:solidFill>
                <a:latin typeface="Consolas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37360" y="2267712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4213D"/>
                </a:solidFill>
                <a:latin typeface="Georgia"/>
              </a:rPr>
              <a:t>Spec is in version control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2313432"/>
            <a:ext cx="5394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Reviewable like code. Every change has a PR.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999232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E8761B"/>
                </a:solidFill>
                <a:latin typeface="Consolas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37360" y="2980944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4213D"/>
                </a:solidFill>
                <a:latin typeface="Georgia"/>
              </a:rPr>
              <a:t>Plans checked against the spec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3026664"/>
            <a:ext cx="5394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Before approving a plan, ask: does it stay inside?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712464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E8761B"/>
                </a:solidFill>
                <a:latin typeface="Consolas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37360" y="3694176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4213D"/>
                </a:solidFill>
                <a:latin typeface="Georgia"/>
              </a:rPr>
              <a:t>Tests reference spec line numbers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3739896"/>
            <a:ext cx="5394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test docstring: “spec.md §2.3”. Drift visible in CI.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425696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E8761B"/>
                </a:solidFill>
                <a:latin typeface="Consolas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37360" y="4407408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4213D"/>
                </a:solidFill>
                <a:latin typeface="Georgia"/>
              </a:rPr>
              <a:t>Mid-build asks update the spec first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4453128"/>
            <a:ext cx="5394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If the spec doesn't change, the feature doesn't.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138928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E8761B"/>
                </a:solidFill>
                <a:latin typeface="Consolas"/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37360" y="5120640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4213D"/>
                </a:solidFill>
                <a:latin typeface="Georgia"/>
              </a:rPr>
              <a:t>Subagents inherit the spec, not the chat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5166360"/>
            <a:ext cx="5394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Pass spec as a file reference, not chat context.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MULTI-AGENT  ·  01 / 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51 / 100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6B6B"/>
                </a:solidFill>
                <a:latin typeface="Georgia"/>
              </a:rPr>
              <a:t>One team lead. N subagents per feature. Verified handoffs.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 i="0">
                <a:solidFill>
                  <a:srgbClr val="14213D"/>
                </a:solidFill>
                <a:latin typeface="Georgia"/>
              </a:rPr>
              <a:t>The orchestrator pattern.</a:t>
            </a:r>
          </a:p>
        </p:txBody>
      </p:sp>
      <p:sp>
        <p:nvSpPr>
          <p:cNvPr id="9" name="Rectangle 8"/>
          <p:cNvSpPr/>
          <p:nvPr/>
        </p:nvSpPr>
        <p:spPr>
          <a:xfrm>
            <a:off x="4480560" y="2286000"/>
            <a:ext cx="3291840" cy="822960"/>
          </a:xfrm>
          <a:prstGeom prst="rect">
            <a:avLst/>
          </a:prstGeom>
          <a:solidFill>
            <a:srgbClr val="142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80560" y="2423160"/>
            <a:ext cx="3291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 i="1">
                <a:solidFill>
                  <a:srgbClr val="FFFFFF"/>
                </a:solidFill>
                <a:latin typeface="Georgia"/>
              </a:rPr>
              <a:t>ORCHESTRATOR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324612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 spc="120">
                <a:solidFill>
                  <a:srgbClr val="6B6B6B"/>
                </a:solidFill>
                <a:latin typeface="Calibri"/>
              </a:rPr>
              <a:t>holds the spec  ·  routes work  ·  verifies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86000" y="3840480"/>
            <a:ext cx="9525" cy="731520"/>
          </a:xfrm>
          <a:prstGeom prst="rect">
            <a:avLst/>
          </a:prstGeom>
          <a:solidFill>
            <a:srgbClr val="E87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280160" y="4572000"/>
            <a:ext cx="2103120" cy="1554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280160" y="4572000"/>
            <a:ext cx="2103120" cy="365760"/>
          </a:xfrm>
          <a:prstGeom prst="rect">
            <a:avLst/>
          </a:prstGeom>
          <a:solidFill>
            <a:srgbClr val="E87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17320" y="4626864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300">
                <a:solidFill>
                  <a:srgbClr val="FFFFFF"/>
                </a:solidFill>
                <a:latin typeface="Consolas"/>
              </a:rPr>
              <a:t>FEATURE 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5074920"/>
            <a:ext cx="1828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4213D"/>
                </a:solidFill>
                <a:latin typeface="Georgia"/>
              </a:rPr>
              <a:t>spec § 2.1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4213D"/>
                </a:solidFill>
                <a:latin typeface="Georgia"/>
              </a:rPr>
              <a:t>subagent runs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4213D"/>
                </a:solidFill>
                <a:latin typeface="Georgia"/>
              </a:rPr>
              <a:t>in own context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3840480"/>
            <a:ext cx="9525" cy="731520"/>
          </a:xfrm>
          <a:prstGeom prst="rect">
            <a:avLst/>
          </a:prstGeom>
          <a:solidFill>
            <a:srgbClr val="E87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120640" y="4572000"/>
            <a:ext cx="2103120" cy="1554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120640" y="4572000"/>
            <a:ext cx="2103120" cy="365760"/>
          </a:xfrm>
          <a:prstGeom prst="rect">
            <a:avLst/>
          </a:prstGeom>
          <a:solidFill>
            <a:srgbClr val="E87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257800" y="4626864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300">
                <a:solidFill>
                  <a:srgbClr val="FFFFFF"/>
                </a:solidFill>
                <a:latin typeface="Consolas"/>
              </a:rPr>
              <a:t>FEATURE 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57800" y="5074920"/>
            <a:ext cx="1828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4213D"/>
                </a:solidFill>
                <a:latin typeface="Georgia"/>
              </a:rPr>
              <a:t>spec § 2.2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4213D"/>
                </a:solidFill>
                <a:latin typeface="Georgia"/>
              </a:rPr>
              <a:t>parallel,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4213D"/>
                </a:solidFill>
                <a:latin typeface="Georgia"/>
              </a:rPr>
              <a:t>verified handoff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966960" y="3840480"/>
            <a:ext cx="9525" cy="731520"/>
          </a:xfrm>
          <a:prstGeom prst="rect">
            <a:avLst/>
          </a:prstGeom>
          <a:solidFill>
            <a:srgbClr val="E87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961120" y="4572000"/>
            <a:ext cx="2103120" cy="1554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961120" y="4572000"/>
            <a:ext cx="2103120" cy="365760"/>
          </a:xfrm>
          <a:prstGeom prst="rect">
            <a:avLst/>
          </a:prstGeom>
          <a:solidFill>
            <a:srgbClr val="E87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098280" y="4626864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300">
                <a:solidFill>
                  <a:srgbClr val="FFFFFF"/>
                </a:solidFill>
                <a:latin typeface="Consolas"/>
              </a:rPr>
              <a:t>FEATURE 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98280" y="5074920"/>
            <a:ext cx="1828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4213D"/>
                </a:solidFill>
                <a:latin typeface="Georgia"/>
              </a:rPr>
              <a:t>spec § 2.3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4213D"/>
                </a:solidFill>
                <a:latin typeface="Georgia"/>
              </a:rPr>
              <a:t>reports back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4213D"/>
                </a:solidFill>
                <a:latin typeface="Georgia"/>
              </a:rPr>
              <a:t>with evidence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MULTI-AGENT  ·  02 / 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52 / 100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6B6B"/>
                </a:solidFill>
                <a:latin typeface="Georgia"/>
              </a:rPr>
              <a:t>Two patterns. Pick by the shape of the work.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0" i="0">
                <a:solidFill>
                  <a:srgbClr val="14213D"/>
                </a:solidFill>
                <a:latin typeface="Georgia"/>
              </a:rPr>
              <a:t>Orchestrator vs Conductor.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377440"/>
            <a:ext cx="5394960" cy="3383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2377440"/>
            <a:ext cx="5394960" cy="502920"/>
          </a:xfrm>
          <a:prstGeom prst="rect">
            <a:avLst/>
          </a:prstGeom>
          <a:solidFill>
            <a:srgbClr val="142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496312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300">
                <a:solidFill>
                  <a:srgbClr val="FFFFFF"/>
                </a:solidFill>
                <a:latin typeface="Calibri"/>
              </a:rPr>
              <a:t>ORCHESTRATOR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15468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14213D"/>
                </a:solidFill>
                <a:latin typeface="Georgia"/>
              </a:rPr>
              <a:t>One ensemble. One context.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84048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1A"/>
                </a:solidFill>
                <a:latin typeface="Georgia"/>
              </a:rPr>
              <a:t>·  One agent runs the show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20624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1A"/>
                </a:solidFill>
                <a:latin typeface="Georgia"/>
              </a:rPr>
              <a:t>·  Subagents return summaries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57200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1A"/>
                </a:solidFill>
                <a:latin typeface="Georgia"/>
              </a:rPr>
              <a:t>·  Best for: research, refactor, planning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4937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1A"/>
                </a:solidFill>
                <a:latin typeface="Georgia"/>
              </a:rPr>
              <a:t>·  Cheap and predictable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530352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1A"/>
                </a:solidFill>
                <a:latin typeface="Georgia"/>
              </a:rPr>
              <a:t>·  Limit: serial bottlenecks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0" y="2377440"/>
            <a:ext cx="5029200" cy="3383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0" y="2377440"/>
            <a:ext cx="5029200" cy="502920"/>
          </a:xfrm>
          <a:prstGeom prst="rect">
            <a:avLst/>
          </a:prstGeom>
          <a:solidFill>
            <a:srgbClr val="E87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75120" y="2496312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300">
                <a:solidFill>
                  <a:srgbClr val="FFFFFF"/>
                </a:solidFill>
                <a:latin typeface="Calibri"/>
              </a:rPr>
              <a:t>CONDUCTOR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0" y="315468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14213D"/>
                </a:solidFill>
                <a:latin typeface="Georgia"/>
              </a:rPr>
              <a:t>Many agents. Bounded subtasks.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0" y="384048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1A"/>
                </a:solidFill>
                <a:latin typeface="Georgia"/>
              </a:rPr>
              <a:t>·  Each agent owns a feature end-to-end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0" y="420624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1A"/>
                </a:solidFill>
                <a:latin typeface="Georgia"/>
              </a:rPr>
              <a:t>·  Message bus / shared task list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0" y="457200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1A"/>
                </a:solidFill>
                <a:latin typeface="Georgia"/>
              </a:rPr>
              <a:t>·  Best for: parallel features, async work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0" y="493776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1A"/>
                </a:solidFill>
                <a:latin typeface="Georgia"/>
              </a:rPr>
              <a:t>·  More expensive, more coordination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0" y="530352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1A"/>
                </a:solidFill>
                <a:latin typeface="Georgia"/>
              </a:rPr>
              <a:t>·  Limit: handoffs are where bugs live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DEPLOYMENT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53 / 100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6B6B"/>
                </a:solidFill>
                <a:latin typeface="Georgia"/>
              </a:rPr>
              <a:t>The verify gate has to keep working when you're not looking.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0" i="0">
                <a:solidFill>
                  <a:srgbClr val="14213D"/>
                </a:solidFill>
                <a:latin typeface="Georgia"/>
              </a:rPr>
              <a:t>Deployment.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194560"/>
            <a:ext cx="6400800" cy="3749039"/>
          </a:xfrm>
          <a:prstGeom prst="rect">
            <a:avLst/>
          </a:prstGeom>
          <a:solidFill>
            <a:srgbClr val="1E21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450592"/>
            <a:ext cx="5888736" cy="32369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150">
                <a:solidFill>
                  <a:srgbClr val="7F848A"/>
                </a:solidFill>
                <a:latin typeface="Consolas"/>
              </a:rPr>
              <a:t># .github/workflows/ci.yml</a:t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>name: verify-before-ship</a:t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>on: [push, pull_request]</a:t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/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>jobs:</a:t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>  test:</a:t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>    runs-on: ubuntu-latest</a:t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>    steps:</a:t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>      - uses: actions/checkout@v4</a:t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>      - run: pip install -e .[test]</a:t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98C379"/>
                </a:solidFill>
                <a:latin typeface="Consolas"/>
              </a:rPr>
              <a:t>      - run: pytest -q --cov</a:t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98C379"/>
                </a:solidFill>
                <a:latin typeface="Consolas"/>
              </a:rPr>
              <a:t>      - run: ruff check .</a:t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98C379"/>
                </a:solidFill>
                <a:latin typeface="Consolas"/>
              </a:rPr>
              <a:t>      - run: playwright test</a:t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E8761B"/>
                </a:solidFill>
                <a:latin typeface="Consolas"/>
              </a:rPr>
              <a:t>      - run: ./scripts/smoke.sh staging</a:t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/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7F848A"/>
                </a:solidFill>
                <a:latin typeface="Consolas"/>
              </a:rPr>
              <a:t># main is locked. PRs only.</a:t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7F848A"/>
                </a:solidFill>
                <a:latin typeface="Consolas"/>
              </a:rPr>
              <a:t># smoke.sh hits a real URL on staging.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79" y="219456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300">
                <a:solidFill>
                  <a:srgbClr val="E8761B"/>
                </a:solidFill>
                <a:latin typeface="Calibri"/>
              </a:rPr>
              <a:t>GATES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79" y="260604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Georgia"/>
              </a:rPr>
              <a:t>·  Tests pass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79" y="301752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Georgia"/>
              </a:rPr>
              <a:t>·  Linter clean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79" y="342900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Georgia"/>
              </a:rPr>
              <a:t>·  E2E green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79" y="384048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Georgia"/>
              </a:rPr>
              <a:t>·  Smoke test on staging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79" y="425196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Georgia"/>
              </a:rPr>
              <a:t>·  Spec criteria checked off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79" y="466344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Georgia"/>
              </a:rPr>
              <a:t>·  Manual approval for main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79" y="507492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Georgia"/>
              </a:rPr>
              <a:t>·  Auto-rollback on health-fail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DEPLOYMENT  ·  THE FULL LOOP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54 / 100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6B6B"/>
                </a:solidFill>
                <a:latin typeface="Georgia"/>
              </a:rPr>
              <a:t>Spec to running service to alert to patch to redeploy. One rhythm.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0" i="0">
                <a:solidFill>
                  <a:srgbClr val="14213D"/>
                </a:solidFill>
                <a:latin typeface="Georgia"/>
              </a:rPr>
              <a:t>The build-to-prod loop.</a:t>
            </a:r>
          </a:p>
        </p:txBody>
      </p:sp>
      <p:sp>
        <p:nvSpPr>
          <p:cNvPr id="9" name="Rectangle 8"/>
          <p:cNvSpPr/>
          <p:nvPr/>
        </p:nvSpPr>
        <p:spPr>
          <a:xfrm>
            <a:off x="609447" y="2331720"/>
            <a:ext cx="1737360" cy="2468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09447" y="2331720"/>
            <a:ext cx="1737360" cy="146304"/>
          </a:xfrm>
          <a:prstGeom prst="rect">
            <a:avLst/>
          </a:prstGeom>
          <a:solidFill>
            <a:srgbClr val="E87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0615" y="2651760"/>
            <a:ext cx="133502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E8761B"/>
                </a:solidFill>
                <a:latin typeface="Consolas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0615" y="3044952"/>
            <a:ext cx="133502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4213D"/>
                </a:solidFill>
                <a:latin typeface="Georgia"/>
              </a:rPr>
              <a:t>SPEC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0615" y="3520440"/>
            <a:ext cx="1335024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Checkable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success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criteria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01087" y="3401568"/>
            <a:ext cx="228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E8761B"/>
                </a:solidFill>
                <a:latin typeface="Consolas"/>
              </a:rPr>
              <a:t>&gt;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456535" y="2331720"/>
            <a:ext cx="1737360" cy="2468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456535" y="2331720"/>
            <a:ext cx="1737360" cy="146304"/>
          </a:xfrm>
          <a:prstGeom prst="rect">
            <a:avLst/>
          </a:prstGeom>
          <a:solidFill>
            <a:srgbClr val="E87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657703" y="2651760"/>
            <a:ext cx="133502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E8761B"/>
                </a:solidFill>
                <a:latin typeface="Consolas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57703" y="3044952"/>
            <a:ext cx="133502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4213D"/>
                </a:solidFill>
                <a:latin typeface="Georgia"/>
              </a:rPr>
              <a:t>PROJECT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57703" y="3520440"/>
            <a:ext cx="1335024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Repo,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CLAUDE.md,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plan mode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48175" y="3401568"/>
            <a:ext cx="228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E8761B"/>
                </a:solidFill>
                <a:latin typeface="Consolas"/>
              </a:rPr>
              <a:t>&gt;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03623" y="2331720"/>
            <a:ext cx="1737360" cy="2468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303623" y="2331720"/>
            <a:ext cx="1737360" cy="146304"/>
          </a:xfrm>
          <a:prstGeom prst="rect">
            <a:avLst/>
          </a:prstGeom>
          <a:solidFill>
            <a:srgbClr val="E87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04791" y="2651760"/>
            <a:ext cx="133502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E8761B"/>
                </a:solidFill>
                <a:latin typeface="Consolas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04791" y="3044952"/>
            <a:ext cx="133502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4213D"/>
                </a:solidFill>
                <a:latin typeface="Georgia"/>
              </a:rPr>
              <a:t>BUILD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04791" y="3520440"/>
            <a:ext cx="1335024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TDD rhythm,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verify gate,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artifact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95263" y="3401568"/>
            <a:ext cx="228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E8761B"/>
                </a:solidFill>
                <a:latin typeface="Consolas"/>
              </a:rPr>
              <a:t>&gt;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50711" y="2331720"/>
            <a:ext cx="1737360" cy="2468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50711" y="2331720"/>
            <a:ext cx="1737360" cy="146304"/>
          </a:xfrm>
          <a:prstGeom prst="rect">
            <a:avLst/>
          </a:prstGeom>
          <a:solidFill>
            <a:srgbClr val="E87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1879" y="2651760"/>
            <a:ext cx="133502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E8761B"/>
                </a:solidFill>
                <a:latin typeface="Consolas"/>
              </a:rPr>
              <a:t>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51879" y="3044952"/>
            <a:ext cx="133502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4213D"/>
                </a:solidFill>
                <a:latin typeface="Georgia"/>
              </a:rPr>
              <a:t>DOCKER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51879" y="3520440"/>
            <a:ext cx="1335024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Dockerfile,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compose,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healthcheck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42351" y="3401568"/>
            <a:ext cx="228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E8761B"/>
                </a:solidFill>
                <a:latin typeface="Consolas"/>
              </a:rPr>
              <a:t>&gt;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997799" y="2331720"/>
            <a:ext cx="1737360" cy="2468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997799" y="2331720"/>
            <a:ext cx="1737360" cy="146304"/>
          </a:xfrm>
          <a:prstGeom prst="rect">
            <a:avLst/>
          </a:prstGeom>
          <a:solidFill>
            <a:srgbClr val="E87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198967" y="2651760"/>
            <a:ext cx="133502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E8761B"/>
                </a:solidFill>
                <a:latin typeface="Consolas"/>
              </a:rPr>
              <a:t>05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98967" y="3044952"/>
            <a:ext cx="133502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4213D"/>
                </a:solidFill>
                <a:latin typeface="Georgia"/>
              </a:rPr>
              <a:t>DEPLOY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98967" y="3520440"/>
            <a:ext cx="1335024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CI/CD,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smoke test,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rollback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89439" y="3401568"/>
            <a:ext cx="228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E8761B"/>
                </a:solidFill>
                <a:latin typeface="Consolas"/>
              </a:rPr>
              <a:t>&gt;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844887" y="2331720"/>
            <a:ext cx="1737360" cy="2468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844887" y="2331720"/>
            <a:ext cx="1737360" cy="146304"/>
          </a:xfrm>
          <a:prstGeom prst="rect">
            <a:avLst/>
          </a:prstGeom>
          <a:solidFill>
            <a:srgbClr val="E87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046055" y="2651760"/>
            <a:ext cx="133502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E8761B"/>
                </a:solidFill>
                <a:latin typeface="Consolas"/>
              </a:rPr>
              <a:t>06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046055" y="3044952"/>
            <a:ext cx="133502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4213D"/>
                </a:solidFill>
                <a:latin typeface="Georgia"/>
              </a:rPr>
              <a:t>MAINTAIN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046055" y="3520440"/>
            <a:ext cx="1335024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Logs,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alerts,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patch loop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" y="51663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 i="1">
                <a:solidFill>
                  <a:srgbClr val="1A1A1A"/>
                </a:solidFill>
                <a:latin typeface="Georgia"/>
              </a:rPr>
              <a:t>Maintain feeds back into Spec. A bug ticket becomes a new line in the spec.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1520" y="59893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 i="1">
                <a:solidFill>
                  <a:srgbClr val="E8761B"/>
                </a:solidFill>
                <a:latin typeface="Georgia"/>
              </a:rPr>
              <a:t>Same five-step rhythm at every box. Claude does the typing. You hold the gates.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DEPLOYMENT  ·  CONTAINERIZATION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55 / 100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6B6B"/>
                </a:solidFill>
                <a:latin typeface="Georgia"/>
              </a:rPr>
              <a:t>Same image on your laptop and on the box. No more 'works on my machine'.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0" i="0">
                <a:solidFill>
                  <a:srgbClr val="14213D"/>
                </a:solidFill>
                <a:latin typeface="Georgia"/>
              </a:rPr>
              <a:t>Wrap it in Docker.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194560"/>
            <a:ext cx="6766560" cy="3749039"/>
          </a:xfrm>
          <a:prstGeom prst="rect">
            <a:avLst/>
          </a:prstGeom>
          <a:solidFill>
            <a:srgbClr val="1E21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450592"/>
            <a:ext cx="6254496" cy="32369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100">
                <a:solidFill>
                  <a:srgbClr val="7F848A"/>
                </a:solidFill>
                <a:latin typeface="Consolas"/>
              </a:rPr>
              <a:t># Dockerfile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FROM python:3.12-slim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WORKDIR /app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COPY requirements.txt .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RUN pip install -r requirements.txt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COPY src/ ./src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8761B"/>
                </a:solidFill>
                <a:latin typeface="Consolas"/>
              </a:rPr>
              <a:t>HEALTHCHECK CMD curl -f localhost:8000/health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CMD ["uvicorn", "src.main:app", "--host=0.0.0.0"]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/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7F848A"/>
                </a:solidFill>
                <a:latin typeface="Consolas"/>
              </a:rPr>
              <a:t># docker-compose.yml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services: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  api:  { build: ., ports: ["8000:8000"],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          env_file: .env,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98C379"/>
                </a:solidFill>
                <a:latin typeface="Consolas"/>
              </a:rPr>
              <a:t>          restart: unless-stopped }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26679" y="2194560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300">
                <a:solidFill>
                  <a:srgbClr val="E8761B"/>
                </a:solidFill>
                <a:latin typeface="Calibri"/>
              </a:rPr>
              <a:t>WHY IT MATTERS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26679" y="2606040"/>
            <a:ext cx="3931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14213D"/>
                </a:solidFill>
                <a:latin typeface="Georgia"/>
              </a:rPr>
              <a:t>·  Reproducibility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0" y="2880360"/>
            <a:ext cx="37947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Same binary, every host.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26679" y="3246120"/>
            <a:ext cx="3931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14213D"/>
                </a:solidFill>
                <a:latin typeface="Georgia"/>
              </a:rPr>
              <a:t>·  Health checks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0" y="3520440"/>
            <a:ext cx="37947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Restarts itself when broken.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26679" y="3886200"/>
            <a:ext cx="3931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14213D"/>
                </a:solidFill>
                <a:latin typeface="Georgia"/>
              </a:rPr>
              <a:t>·  Local-prod parity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0" y="4160520"/>
            <a:ext cx="37947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compose up runs what CI runs.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26679" y="4526280"/>
            <a:ext cx="3931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14213D"/>
                </a:solidFill>
                <a:latin typeface="Georgia"/>
              </a:rPr>
              <a:t>·  One-line deploy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0" y="4800600"/>
            <a:ext cx="37947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Push image. Pull image. Done.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26679" y="5166360"/>
            <a:ext cx="3931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14213D"/>
                </a:solidFill>
                <a:latin typeface="Georgia"/>
              </a:rPr>
              <a:t>·  Easy rollback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63840" y="5440680"/>
            <a:ext cx="37947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Previous tag, one command away.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59893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 i="1">
                <a:solidFill>
                  <a:srgbClr val="E8761B"/>
                </a:solidFill>
                <a:latin typeface="Georgia"/>
              </a:rPr>
              <a:t>Claude writes this for you. Same template every time.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DEPLOYMENT  ·  MAINTAIN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56 / 100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6B6B"/>
                </a:solidFill>
                <a:latin typeface="Georgia"/>
              </a:rPr>
              <a:t>Shipped is not done. Done is shipped, observed, fixable.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0" i="0">
                <a:solidFill>
                  <a:srgbClr val="14213D"/>
                </a:solidFill>
                <a:latin typeface="Georgia"/>
              </a:rPr>
              <a:t>When prod cries, Claude reads the logs.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32307" y="2103120"/>
            <a:ext cx="3520440" cy="3017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2307" y="2103120"/>
            <a:ext cx="146304" cy="3017520"/>
          </a:xfrm>
          <a:prstGeom prst="rect">
            <a:avLst/>
          </a:prstGeom>
          <a:solidFill>
            <a:srgbClr val="E87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98067" y="237744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400">
                <a:solidFill>
                  <a:srgbClr val="E8761B"/>
                </a:solidFill>
                <a:latin typeface="Calibri"/>
              </a:rPr>
              <a:t>LOGS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8067" y="2880360"/>
            <a:ext cx="301752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 i="0">
                <a:solidFill>
                  <a:srgbClr val="1A1A1A"/>
                </a:solidFill>
                <a:latin typeface="Georgia"/>
              </a:rPr>
              <a:t>Structured JSON.</a:t>
            </a:r>
          </a:p>
          <a:p>
            <a:pPr algn="l">
              <a:lnSpc>
                <a:spcPct val="150000"/>
              </a:lnSpc>
            </a:pPr>
            <a:r>
              <a:rPr sz="1350" b="0" i="0">
                <a:solidFill>
                  <a:srgbClr val="1A1A1A"/>
                </a:solidFill>
                <a:latin typeface="Georgia"/>
              </a:rPr>
              <a:t>Levels: debug, info, warn, error.</a:t>
            </a:r>
          </a:p>
          <a:p>
            <a:pPr algn="l">
              <a:lnSpc>
                <a:spcPct val="150000"/>
              </a:lnSpc>
            </a:pPr>
            <a:r>
              <a:rPr sz="1350" b="0" i="0">
                <a:solidFill>
                  <a:srgbClr val="1A1A1A"/>
                </a:solidFill>
                <a:latin typeface="Georgia"/>
              </a:rPr>
              <a:t>One line per request, with a request-id.</a:t>
            </a:r>
          </a:p>
          <a:p>
            <a:pPr algn="l">
              <a:lnSpc>
                <a:spcPct val="150000"/>
              </a:lnSpc>
            </a:pPr>
            <a:r>
              <a:rPr sz="1350" b="0" i="0">
                <a:solidFill>
                  <a:srgbClr val="1A1A1A"/>
                </a:solidFill>
                <a:latin typeface="Georgia"/>
              </a:rPr>
              <a:t>Write to stdout — Docker captures it.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35627" y="2103120"/>
            <a:ext cx="3520440" cy="3017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35627" y="2103120"/>
            <a:ext cx="146304" cy="3017520"/>
          </a:xfrm>
          <a:prstGeom prst="rect">
            <a:avLst/>
          </a:prstGeom>
          <a:solidFill>
            <a:srgbClr val="E87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01387" y="237744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400">
                <a:solidFill>
                  <a:srgbClr val="E8761B"/>
                </a:solidFill>
                <a:latin typeface="Calibri"/>
              </a:rPr>
              <a:t>ALERTS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01387" y="2880360"/>
            <a:ext cx="301752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 i="0">
                <a:solidFill>
                  <a:srgbClr val="1A1A1A"/>
                </a:solidFill>
                <a:latin typeface="Georgia"/>
              </a:rPr>
              <a:t>Sentry / OTLP / Logflare.</a:t>
            </a:r>
          </a:p>
          <a:p>
            <a:pPr algn="l">
              <a:lnSpc>
                <a:spcPct val="150000"/>
              </a:lnSpc>
            </a:pPr>
            <a:r>
              <a:rPr sz="1350" b="0" i="0">
                <a:solidFill>
                  <a:srgbClr val="1A1A1A"/>
                </a:solidFill>
                <a:latin typeface="Georgia"/>
              </a:rPr>
              <a:t>Group by error fingerprint.</a:t>
            </a:r>
          </a:p>
          <a:p>
            <a:pPr algn="l">
              <a:lnSpc>
                <a:spcPct val="150000"/>
              </a:lnSpc>
            </a:pPr>
            <a:r>
              <a:rPr sz="1350" b="0" i="0">
                <a:solidFill>
                  <a:srgbClr val="1A1A1A"/>
                </a:solidFill>
                <a:latin typeface="Georgia"/>
              </a:rPr>
              <a:t>Page on rate spike,</a:t>
            </a:r>
          </a:p>
          <a:p>
            <a:pPr algn="l">
              <a:lnSpc>
                <a:spcPct val="150000"/>
              </a:lnSpc>
            </a:pPr>
            <a:r>
              <a:rPr sz="1350" b="0" i="0">
                <a:solidFill>
                  <a:srgbClr val="1A1A1A"/>
                </a:solidFill>
                <a:latin typeface="Georgia"/>
              </a:rPr>
              <a:t>not on single events.</a:t>
            </a:r>
          </a:p>
          <a:p>
            <a:pPr algn="l">
              <a:lnSpc>
                <a:spcPct val="150000"/>
              </a:lnSpc>
            </a:pPr>
            <a:r>
              <a:rPr sz="1350" b="0" i="0">
                <a:solidFill>
                  <a:srgbClr val="1A1A1A"/>
                </a:solidFill>
                <a:latin typeface="Georgia"/>
              </a:rPr>
              <a:t>Link alert → trace → log line.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38947" y="2103120"/>
            <a:ext cx="3520440" cy="3017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38947" y="2103120"/>
            <a:ext cx="146304" cy="3017520"/>
          </a:xfrm>
          <a:prstGeom prst="rect">
            <a:avLst/>
          </a:prstGeom>
          <a:solidFill>
            <a:srgbClr val="E87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04707" y="237744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400">
                <a:solidFill>
                  <a:srgbClr val="E8761B"/>
                </a:solidFill>
                <a:latin typeface="Calibri"/>
              </a:rPr>
              <a:t>PATCH LOOP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04707" y="2880360"/>
            <a:ext cx="301752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 i="0">
                <a:solidFill>
                  <a:srgbClr val="1A1A1A"/>
                </a:solidFill>
                <a:latin typeface="Georgia"/>
              </a:rPr>
              <a:t>Alert fires. Hand Claude the trace.</a:t>
            </a:r>
          </a:p>
          <a:p>
            <a:pPr algn="l">
              <a:lnSpc>
                <a:spcPct val="150000"/>
              </a:lnSpc>
            </a:pPr>
            <a:r>
              <a:rPr sz="1350" b="0" i="0">
                <a:solidFill>
                  <a:srgbClr val="1A1A1A"/>
                </a:solidFill>
                <a:latin typeface="Georgia"/>
              </a:rPr>
              <a:t>Claude reads logs, reproduces locally,</a:t>
            </a:r>
          </a:p>
          <a:p>
            <a:pPr algn="l">
              <a:lnSpc>
                <a:spcPct val="150000"/>
              </a:lnSpc>
            </a:pPr>
            <a:r>
              <a:rPr sz="1350" b="0" i="0">
                <a:solidFill>
                  <a:srgbClr val="1A1A1A"/>
                </a:solidFill>
                <a:latin typeface="Georgia"/>
              </a:rPr>
              <a:t>adds a failing test, fixes, redeploys.</a:t>
            </a:r>
          </a:p>
          <a:p>
            <a:pPr algn="l">
              <a:lnSpc>
                <a:spcPct val="150000"/>
              </a:lnSpc>
            </a:pPr>
            <a:r>
              <a:rPr sz="1350" b="0" i="0">
                <a:solidFill>
                  <a:srgbClr val="1A1A1A"/>
                </a:solidFill>
                <a:latin typeface="Georgia"/>
              </a:rPr>
              <a:t>Verify gate is the same as before.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" y="5212080"/>
            <a:ext cx="10698480" cy="777240"/>
          </a:xfrm>
          <a:prstGeom prst="rect">
            <a:avLst/>
          </a:prstGeom>
          <a:solidFill>
            <a:srgbClr val="1E21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87552" y="5468112"/>
            <a:ext cx="10186416" cy="2651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>$ ssh prod 'docker logs api --since 10m | grep ERROR' \</a:t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E8761B"/>
                </a:solidFill>
                <a:latin typeface="Consolas"/>
              </a:rPr>
              <a:t>    | claude -p 'find the cause, write a failing test, then fix it'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 i="1">
                <a:solidFill>
                  <a:srgbClr val="6B6B6B"/>
                </a:solidFill>
                <a:latin typeface="Georgia"/>
              </a:rPr>
              <a:t>Logs are evidence. Evidence is what Claude is good at.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PRE-SHIP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57 / 100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6B6B"/>
                </a:solidFill>
                <a:latin typeface="Georgia"/>
              </a:rPr>
              <a:t>Eight items. Walk through them every time. No exceptions.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0" i="0">
                <a:solidFill>
                  <a:srgbClr val="14213D"/>
                </a:solidFill>
                <a:latin typeface="Georgia"/>
              </a:rPr>
              <a:t>Production checklist.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286000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E8761B"/>
                </a:solidFill>
                <a:latin typeface="Georgia"/>
              </a:rPr>
              <a:t>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28600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14213D"/>
                </a:solidFill>
                <a:latin typeface="Georgia"/>
              </a:rPr>
              <a:t>Spec criteria each ticked off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788920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E8761B"/>
                </a:solidFill>
                <a:latin typeface="Georgia"/>
              </a:rPr>
              <a:t>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78892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14213D"/>
                </a:solidFill>
                <a:latin typeface="Georgia"/>
              </a:rPr>
              <a:t>Tests green locally AND in CI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291840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E8761B"/>
                </a:solidFill>
                <a:latin typeface="Georgia"/>
              </a:rPr>
              <a:t>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32918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14213D"/>
                </a:solidFill>
                <a:latin typeface="Georgia"/>
              </a:rPr>
              <a:t>Feature exercised end-to-end (not just unit-tested)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794760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E8761B"/>
                </a:solidFill>
                <a:latin typeface="Georgia"/>
              </a:rPr>
              <a:t>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79476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14213D"/>
                </a:solidFill>
                <a:latin typeface="Georgia"/>
              </a:rPr>
              <a:t>One adversarial input tried, behaved as expected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297680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E8761B"/>
                </a:solidFill>
                <a:latin typeface="Georgia"/>
              </a:rPr>
              <a:t>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429768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14213D"/>
                </a:solidFill>
                <a:latin typeface="Georgia"/>
              </a:rPr>
              <a:t>Smoke test on staging green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800600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E8761B"/>
                </a:solidFill>
                <a:latin typeface="Georgia"/>
              </a:rPr>
              <a:t>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480060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14213D"/>
                </a:solidFill>
                <a:latin typeface="Georgia"/>
              </a:rPr>
              <a:t>Rollback path verified (one command)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303520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E8761B"/>
                </a:solidFill>
                <a:latin typeface="Georgia"/>
              </a:rPr>
              <a:t>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530352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14213D"/>
                </a:solidFill>
                <a:latin typeface="Georgia"/>
              </a:rPr>
              <a:t>Observability in place — logs, error alerts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806440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E8761B"/>
                </a:solidFill>
                <a:latin typeface="Georgia"/>
              </a:rPr>
              <a:t>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58064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14213D"/>
                </a:solidFill>
                <a:latin typeface="Georgia"/>
              </a:rPr>
              <a:t>PR description references spec, plan, evidence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400">
                <a:solidFill>
                  <a:srgbClr val="E8761B"/>
                </a:solidFill>
                <a:latin typeface="Calibri"/>
              </a:rPr>
              <a:t>DISCUSSION  ·  05 MINUTES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97280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400" b="0" i="1">
                <a:solidFill>
                  <a:srgbClr val="14213D"/>
                </a:solidFill>
                <a:latin typeface="Georgia"/>
              </a:rPr>
              <a:t>Where in your work today</a:t>
            </a:r>
          </a:p>
          <a:p>
            <a:pPr algn="l">
              <a:lnSpc>
                <a:spcPct val="110000"/>
              </a:lnSpc>
            </a:pPr>
            <a:r>
              <a:rPr sz="4400" b="0" i="1">
                <a:solidFill>
                  <a:srgbClr val="14213D"/>
                </a:solidFill>
                <a:latin typeface="Georgia"/>
              </a:rPr>
              <a:t>could a spec save you</a:t>
            </a:r>
          </a:p>
          <a:p>
            <a:pPr algn="l">
              <a:lnSpc>
                <a:spcPct val="110000"/>
              </a:lnSpc>
            </a:pPr>
            <a:r>
              <a:rPr sz="4400" b="0" i="1">
                <a:solidFill>
                  <a:srgbClr val="14213D"/>
                </a:solidFill>
                <a:latin typeface="Georgia"/>
              </a:rPr>
              <a:t>the most pain?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1206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300">
                <a:solidFill>
                  <a:srgbClr val="E8761B"/>
                </a:solidFill>
                <a:latin typeface="Calibri"/>
              </a:rPr>
              <a:t>PROMPTS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4864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1A"/>
                </a:solidFill>
                <a:latin typeface="Georgia"/>
              </a:rPr>
              <a:t>·  A client request that always comes back vague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779008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1A"/>
                </a:solidFill>
                <a:latin typeface="Georgia"/>
              </a:rPr>
              <a:t>·  A feature you've rebuilt twice already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071616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1A"/>
                </a:solidFill>
                <a:latin typeface="Georgia"/>
              </a:rPr>
              <a:t>·  A piece of code nobody remembers the reason for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58 / 100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4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400">
                <a:solidFill>
                  <a:srgbClr val="E8761B"/>
                </a:solidFill>
                <a:latin typeface="Calibri"/>
              </a:rPr>
              <a:t>PART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103120"/>
            <a:ext cx="1097280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400" b="0" i="1">
                <a:solidFill>
                  <a:srgbClr val="FFFFFF"/>
                </a:solidFill>
                <a:latin typeface="Georgia"/>
              </a:rPr>
              <a:t>Beyond coding.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FAF7F0"/>
                </a:solidFill>
                <a:latin typeface="Georgia"/>
              </a:rPr>
              <a:t>Claude Code is an agent harness. Code is just one surface.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82296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800" b="0" i="0">
                <a:solidFill>
                  <a:srgbClr val="E8761B"/>
                </a:solidFill>
                <a:latin typeface="Consolas"/>
              </a:rPr>
              <a:t>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35508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899B0"/>
                </a:solidFill>
                <a:latin typeface="Calibri"/>
              </a:rPr>
              <a:t>CHAIR OF SUSTAINABILITY AND INNOVATION IN DIGITAL ECOSYSTEMS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20095" y="635508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899B0"/>
                </a:solidFill>
                <a:latin typeface="Consolas"/>
              </a:rPr>
              <a:t>59 / 100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REFRAMING THE TOOL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60 / 100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6B6B"/>
                </a:solidFill>
                <a:latin typeface="Georgia"/>
              </a:rPr>
              <a:t>It edits files. Also reads emails, opens browsers, writes notes, runs cron.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 i="0">
                <a:solidFill>
                  <a:srgbClr val="14213D"/>
                </a:solidFill>
                <a:latin typeface="Georgia"/>
              </a:rPr>
              <a:t>Claude Code is not a code editor.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0" y="3017520"/>
            <a:ext cx="3017520" cy="1371600"/>
          </a:xfrm>
          <a:prstGeom prst="rect">
            <a:avLst/>
          </a:prstGeom>
          <a:solidFill>
            <a:srgbClr val="142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3246120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0" i="1">
                <a:solidFill>
                  <a:srgbClr val="FFFFFF"/>
                </a:solidFill>
                <a:latin typeface="Georgia"/>
              </a:rPr>
              <a:t>CLAUDE CODE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379476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 spc="200">
                <a:solidFill>
                  <a:srgbClr val="8899B0"/>
                </a:solidFill>
                <a:latin typeface="Calibri"/>
              </a:rPr>
              <a:t>an agent harness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2468880"/>
            <a:ext cx="2926080" cy="9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31520" y="2468880"/>
            <a:ext cx="2926080" cy="320040"/>
          </a:xfrm>
          <a:prstGeom prst="rect">
            <a:avLst/>
          </a:prstGeom>
          <a:solidFill>
            <a:srgbClr val="E87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25146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300">
                <a:solidFill>
                  <a:srgbClr val="FFFFFF"/>
                </a:solidFill>
                <a:latin typeface="Calibri"/>
              </a:rPr>
              <a:t>CODE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2880360"/>
            <a:ext cx="27432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4213D"/>
                </a:solidFill>
                <a:latin typeface="Georgia"/>
              </a:rPr>
              <a:t>src/, tests/, deploy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412480" y="2468880"/>
            <a:ext cx="2926080" cy="9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412480" y="2468880"/>
            <a:ext cx="2926080" cy="320040"/>
          </a:xfrm>
          <a:prstGeom prst="rect">
            <a:avLst/>
          </a:prstGeom>
          <a:solidFill>
            <a:srgbClr val="E87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0" y="25146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300">
                <a:solidFill>
                  <a:srgbClr val="FFFFFF"/>
                </a:solidFill>
                <a:latin typeface="Calibri"/>
              </a:rPr>
              <a:t>BROWSER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2880360"/>
            <a:ext cx="27432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4213D"/>
                </a:solidFill>
                <a:latin typeface="Georgia"/>
              </a:rPr>
              <a:t>Chrome MCP, scrapes, forms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4572000"/>
            <a:ext cx="2926080" cy="9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31520" y="4572000"/>
            <a:ext cx="2926080" cy="320040"/>
          </a:xfrm>
          <a:prstGeom prst="rect">
            <a:avLst/>
          </a:prstGeom>
          <a:solidFill>
            <a:srgbClr val="E87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46177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300">
                <a:solidFill>
                  <a:srgbClr val="FFFFFF"/>
                </a:solidFill>
                <a:latin typeface="Calibri"/>
              </a:rPr>
              <a:t>FILES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4983480"/>
            <a:ext cx="27432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4213D"/>
                </a:solidFill>
                <a:latin typeface="Georgia"/>
              </a:rPr>
              <a:t>Obsidian, PDFs, spreadsheets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412480" y="4572000"/>
            <a:ext cx="2926080" cy="9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412480" y="4572000"/>
            <a:ext cx="2926080" cy="320040"/>
          </a:xfrm>
          <a:prstGeom prst="rect">
            <a:avLst/>
          </a:prstGeom>
          <a:solidFill>
            <a:srgbClr val="E87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0" y="46177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300">
                <a:solidFill>
                  <a:srgbClr val="FFFFFF"/>
                </a:solidFill>
                <a:latin typeface="Calibri"/>
              </a:rPr>
              <a:t>APIS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0" y="4983480"/>
            <a:ext cx="27432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4213D"/>
                </a:solidFill>
                <a:latin typeface="Georgia"/>
              </a:rPr>
              <a:t>Notion, Slack, Linear, Gmail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BEYOND  ·  PROJECT MANAGEMENT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61 / 100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6B6B"/>
                </a:solidFill>
                <a:latin typeface="Georgia"/>
              </a:rPr>
              <a:t>The PM work nobody actually wants to do. Delegate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0" i="0">
                <a:solidFill>
                  <a:srgbClr val="14213D"/>
                </a:solidFill>
                <a:latin typeface="Georgia"/>
              </a:rPr>
              <a:t>Claude as co-PM.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28600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E8761B"/>
                </a:solidFill>
                <a:latin typeface="Georgia"/>
              </a:rPr>
              <a:t>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2286000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4213D"/>
                </a:solidFill>
                <a:latin typeface="Georgia"/>
              </a:rPr>
              <a:t>Sprint reviews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0" y="2331720"/>
            <a:ext cx="62179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Read the PRs, write demo notes, draft retro.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97180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E8761B"/>
                </a:solidFill>
                <a:latin typeface="Georgia"/>
              </a:rPr>
              <a:t>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2971800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4213D"/>
                </a:solidFill>
                <a:latin typeface="Georgia"/>
              </a:rPr>
              <a:t>Status writeups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3017520"/>
            <a:ext cx="62179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Daily standup digest from Slack threads.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65760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E8761B"/>
                </a:solidFill>
                <a:latin typeface="Georgia"/>
              </a:rPr>
              <a:t>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3657600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4213D"/>
                </a:solidFill>
                <a:latin typeface="Georgia"/>
              </a:rPr>
              <a:t>Blocker triage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0" y="3703320"/>
            <a:ext cx="62179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Scan tickets, group by theme, propose owners.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34340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E8761B"/>
                </a:solidFill>
                <a:latin typeface="Georgia"/>
              </a:rPr>
              <a:t>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4343400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4213D"/>
                </a:solidFill>
                <a:latin typeface="Georgia"/>
              </a:rPr>
              <a:t>Risk surfacing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0" y="4389120"/>
            <a:ext cx="62179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Compare burndown to scope. Flag silently dropped items.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02920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E8761B"/>
                </a:solidFill>
                <a:latin typeface="Georgia"/>
              </a:rPr>
              <a:t>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80160" y="5029200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4213D"/>
                </a:solidFill>
                <a:latin typeface="Georgia"/>
              </a:rPr>
              <a:t>Decision logs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0" y="5074920"/>
            <a:ext cx="62179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Every accepted plan auto-logged with context.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BEYOND  ·  AUTOMATIONS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62 / 100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6B6B"/>
                </a:solidFill>
                <a:latin typeface="Georgia"/>
              </a:rPr>
              <a:t>Anything you do twice a week is a candidate.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0" i="0">
                <a:solidFill>
                  <a:srgbClr val="14213D"/>
                </a:solidFill>
                <a:latin typeface="Georgia"/>
              </a:rPr>
              <a:t>Daily automations.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194560"/>
            <a:ext cx="10698480" cy="3657600"/>
          </a:xfrm>
          <a:prstGeom prst="rect">
            <a:avLst/>
          </a:prstGeom>
          <a:solidFill>
            <a:srgbClr val="1E21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450592"/>
            <a:ext cx="10186416" cy="3145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150">
                <a:solidFill>
                  <a:srgbClr val="7F848A"/>
                </a:solidFill>
                <a:latin typeface="Consolas"/>
              </a:rPr>
              <a:t>$ crontab -l</a:t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7F848A"/>
                </a:solidFill>
                <a:latin typeface="Consolas"/>
              </a:rPr>
              <a:t># Vibecoding daily automation</a:t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>0  6  *  *  *   ~/.bin/digest.sh          &gt;&gt; ~/.log/digest.log 2&gt;&amp;1</a:t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>0  18 *  *  *   ~/.bin/standup-prep.sh    &gt;&gt; ~/.log/standup.log 2&gt;&amp;1</a:t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/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7F848A"/>
                </a:solidFill>
                <a:latin typeface="Consolas"/>
              </a:rPr>
              <a:t>$ tail ~/.log/digest.log</a:t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/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>2026-05-14 06:00  digest started</a:t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>2026-05-14 06:00  scanning 27 new PDFs in ~/Drop/inbox/</a:t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>2026-05-14 06:01  claude → summarise each ≤120 words</a:t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>2026-05-14 06:01  claude → tag by topic, link related notes</a:t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>2026-05-14 06:02  wrote 27 notes to ~/Vault/00-Inbox/digests/</a:t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>2026-05-14 06:02  emailed daily digest to elias@quershift.com</a:t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>2026-05-14 06:02  digest done in 2m 14s</a:t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/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/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7F848A"/>
                </a:solidFill>
                <a:latin typeface="Consolas"/>
              </a:rPr>
              <a:t>$ head -25 ~/Vault/00-Inbox/digests/2026-05-14.md</a:t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>---</a:t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>type: digest</a:t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>date: 2026-05-14</a:t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>items: 27</a:t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>---</a:t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/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7F848A"/>
                </a:solidFill>
                <a:latin typeface="Consolas"/>
              </a:rPr>
              <a:t>## Today's reading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9893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E8761B"/>
                </a:solidFill>
                <a:latin typeface="Georgia"/>
              </a:rPr>
              <a:t>Cron + Claude + a few scripts. Your inbox, triaged. Every morning.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BEYOND  ·  BROWSER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63 / 100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6B6B"/>
                </a:solidFill>
                <a:latin typeface="Georgia"/>
              </a:rPr>
              <a:t>The web is a UI. UIs are scriptable. So are people, occasionally.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0" i="0">
                <a:solidFill>
                  <a:srgbClr val="14213D"/>
                </a:solidFill>
                <a:latin typeface="Georgia"/>
              </a:rPr>
              <a:t>Browser automation.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28600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E8761B"/>
                </a:solidFill>
                <a:latin typeface="Georgia"/>
              </a:rPr>
              <a:t>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2286000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4213D"/>
                </a:solidFill>
                <a:latin typeface="Georgia"/>
              </a:rPr>
              <a:t>Data extraction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0" y="2331720"/>
            <a:ext cx="62179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Scrape competitor pricing weekly. Slack a diff.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97180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E8761B"/>
                </a:solidFill>
                <a:latin typeface="Georgia"/>
              </a:rPr>
              <a:t>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2971800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4213D"/>
                </a:solidFill>
                <a:latin typeface="Georgia"/>
              </a:rPr>
              <a:t>Form filling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3017520"/>
            <a:ext cx="62179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Submit timesheets. Pull data from project tools.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65760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E8761B"/>
                </a:solidFill>
                <a:latin typeface="Georgia"/>
              </a:rPr>
              <a:t>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3657600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4213D"/>
                </a:solidFill>
                <a:latin typeface="Georgia"/>
              </a:rPr>
              <a:t>QA replay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0" y="3703320"/>
            <a:ext cx="62179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Walk through critical flows. Screenshot results.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34340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E8761B"/>
                </a:solidFill>
                <a:latin typeface="Georgia"/>
              </a:rPr>
              <a:t>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4343400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4213D"/>
                </a:solidFill>
                <a:latin typeface="Georgia"/>
              </a:rPr>
              <a:t>Admin work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0" y="4389120"/>
            <a:ext cx="62179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Onboarding portals, expense filings, account cleanup.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02920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E8761B"/>
                </a:solidFill>
                <a:latin typeface="Georgia"/>
              </a:rPr>
              <a:t>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80160" y="5029200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4213D"/>
                </a:solidFill>
                <a:latin typeface="Georgia"/>
              </a:rPr>
              <a:t>Research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0" y="5074920"/>
            <a:ext cx="62179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Open 20 tabs, summarize each, output markdown brief.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BEYOND  ·  EMAIL + CALENDAR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64 / 100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6B6B"/>
                </a:solidFill>
                <a:latin typeface="Georgia"/>
              </a:rPr>
              <a:t>Drafts, summaries, triage. You stay the final say.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0" i="0">
                <a:solidFill>
                  <a:srgbClr val="14213D"/>
                </a:solidFill>
                <a:latin typeface="Georgia"/>
              </a:rPr>
              <a:t>Email and calendar.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194560"/>
            <a:ext cx="10698480" cy="3474720"/>
          </a:xfrm>
          <a:prstGeom prst="rect">
            <a:avLst/>
          </a:prstGeom>
          <a:solidFill>
            <a:srgbClr val="1E21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450592"/>
            <a:ext cx="10186416" cy="2962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150">
                <a:solidFill>
                  <a:srgbClr val="E8761B"/>
                </a:solidFill>
                <a:latin typeface="Consolas"/>
              </a:rPr>
              <a:t>&gt; claude</a:t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>"Summarise unread emails since Friday.</a:t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>Group by sender. Flag what needs reply today.</a:t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>Draft replies for me to review."</a:t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/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7F848A"/>
                </a:solidFill>
                <a:latin typeface="Consolas"/>
              </a:rPr>
              <a:t>[claude] mcp__gmail__list_messages ...</a:t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7F848A"/>
                </a:solidFill>
                <a:latin typeface="Consolas"/>
              </a:rPr>
              <a:t>[claude] mcp__gmail__read_message ... × 47</a:t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/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98C379"/>
                </a:solidFill>
                <a:latin typeface="Consolas"/>
              </a:rPr>
              <a:t>Inbox (47 unread, since 2026-05-10):</a:t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>  • 3 from clients   →  reply today    [drafts ready]</a:t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>  • 12 newsletters   →  auto-archive   [done]</a:t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>  • 8 from team      →  read &amp; reply   [drafts ready]</a:t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>  • 24 misc          →  triaged later  [labelled]</a:t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/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E8761B"/>
                </a:solidFill>
                <a:latin typeface="Consolas"/>
              </a:rPr>
              <a:t>→ Drafts saved. Open Gmail to review and send.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9893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E8761B"/>
                </a:solidFill>
                <a:latin typeface="Georgia"/>
              </a:rPr>
              <a:t>House rule: never let Claude send. Always review the draft.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BEYOND  ·  INTEGRATIONS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65 / 100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6B6B"/>
                </a:solidFill>
                <a:latin typeface="Georgia"/>
              </a:rPr>
              <a:t>Every MCP server is a verb Claude can use.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 i="0">
                <a:solidFill>
                  <a:srgbClr val="14213D"/>
                </a:solidFill>
                <a:latin typeface="Georgia"/>
              </a:rPr>
              <a:t>Integrations through MCP.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37744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300">
                <a:solidFill>
                  <a:srgbClr val="E8761B"/>
                </a:solidFill>
                <a:latin typeface="Calibri"/>
              </a:rPr>
              <a:t>SERVER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37744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300">
                <a:solidFill>
                  <a:srgbClr val="E8761B"/>
                </a:solidFill>
                <a:latin typeface="Calibri"/>
              </a:rPr>
              <a:t>VERBS YOU GET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88036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4213D"/>
                </a:solidFill>
                <a:latin typeface="Consolas"/>
              </a:rPr>
              <a:t>NOTION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2898648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create-pages, fetch, search, update-page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33756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4213D"/>
                </a:solidFill>
                <a:latin typeface="Consolas"/>
              </a:rPr>
              <a:t>SLACK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3355848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send-message, read-channel, search, create-canvas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79476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4213D"/>
                </a:solidFill>
                <a:latin typeface="Consolas"/>
              </a:rPr>
              <a:t>GMAIL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3813048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list, read, reply (drafts only by rule)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25196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4213D"/>
                </a:solidFill>
                <a:latin typeface="Consolas"/>
              </a:rPr>
              <a:t>CALENDAR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4270248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list-events, create-event, find-free-slot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70916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4213D"/>
                </a:solidFill>
                <a:latin typeface="Consolas"/>
              </a:rPr>
              <a:t>LINEAR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4727448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list-issues, create-issue, update-status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16636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4213D"/>
                </a:solidFill>
                <a:latin typeface="Consolas"/>
              </a:rPr>
              <a:t>GITHUB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0" y="5184648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via gh CLI — issues, PRs, releases, runs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62356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4213D"/>
                </a:solidFill>
                <a:latin typeface="Consolas"/>
              </a:rPr>
              <a:t>CHROME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5641848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navigate, click, get-text, screenshot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608076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4213D"/>
                </a:solidFill>
                <a:latin typeface="Consolas"/>
              </a:rPr>
              <a:t>FS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0" y="6099048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with permissions — your filesystem + your vault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BEYOND  ·  SECOND BRAIN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66 / 100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6B6B"/>
                </a:solidFill>
                <a:latin typeface="Georgia"/>
              </a:rPr>
              <a:t>Capture, distill, link. Your brain isn't a database — your vault is.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 i="0">
                <a:solidFill>
                  <a:srgbClr val="14213D"/>
                </a:solidFill>
                <a:latin typeface="Georgia"/>
              </a:rPr>
              <a:t>The Second Brain method.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286000"/>
            <a:ext cx="3611880" cy="2377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2286000"/>
            <a:ext cx="146304" cy="2377440"/>
          </a:xfrm>
          <a:prstGeom prst="rect">
            <a:avLst/>
          </a:prstGeom>
          <a:solidFill>
            <a:srgbClr val="E87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560320"/>
            <a:ext cx="3611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E8761B"/>
                </a:solidFill>
                <a:latin typeface="Consolas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3154680"/>
            <a:ext cx="3154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14213D"/>
                </a:solidFill>
                <a:latin typeface="Georgia"/>
              </a:rPr>
              <a:t>CAPTURE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3703320"/>
            <a:ext cx="315468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Anything that resonates. Lower the bar to entry.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34840" y="2286000"/>
            <a:ext cx="3611880" cy="2377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34840" y="2286000"/>
            <a:ext cx="146304" cy="2377440"/>
          </a:xfrm>
          <a:prstGeom prst="rect">
            <a:avLst/>
          </a:prstGeom>
          <a:solidFill>
            <a:srgbClr val="E87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80" y="2560320"/>
            <a:ext cx="3611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E8761B"/>
                </a:solidFill>
                <a:latin typeface="Consolas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0" y="3154680"/>
            <a:ext cx="3154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14213D"/>
                </a:solidFill>
                <a:latin typeface="Georgia"/>
              </a:rPr>
              <a:t>DISTILL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54880" y="3703320"/>
            <a:ext cx="315468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Progressively summarise: highlight → bold → summary → gist.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38160" y="2286000"/>
            <a:ext cx="3611880" cy="2377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38160" y="2286000"/>
            <a:ext cx="146304" cy="2377440"/>
          </a:xfrm>
          <a:prstGeom prst="rect">
            <a:avLst/>
          </a:prstGeom>
          <a:solidFill>
            <a:srgbClr val="E87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58200" y="2560320"/>
            <a:ext cx="3611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E8761B"/>
                </a:solidFill>
                <a:latin typeface="Consolas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3154680"/>
            <a:ext cx="3154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14213D"/>
                </a:solidFill>
                <a:latin typeface="Georgia"/>
              </a:rPr>
              <a:t>LINK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58200" y="3703320"/>
            <a:ext cx="315468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Connect to existing notes — backlinks make the graph.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0292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E8761B"/>
                </a:solidFill>
                <a:latin typeface="Georgia"/>
              </a:rPr>
              <a:t>Claude Code is the perfect Distill + Link tool. Capture is still you.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BEYOND  ·  OBSIDIAN + CLAUDE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67 / 100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6B6B"/>
                </a:solidFill>
                <a:latin typeface="Georgia"/>
              </a:rPr>
              <a:t>A SessionEnd hook writes today's note. Tomorrow's session reads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 i="0">
                <a:solidFill>
                  <a:srgbClr val="14213D"/>
                </a:solidFill>
                <a:latin typeface="Georgia"/>
              </a:rPr>
              <a:t>Obsidian + Claude Code.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194560"/>
            <a:ext cx="6858000" cy="3657600"/>
          </a:xfrm>
          <a:prstGeom prst="rect">
            <a:avLst/>
          </a:prstGeom>
          <a:solidFill>
            <a:srgbClr val="1E21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450592"/>
            <a:ext cx="6345936" cy="3145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~/Documents/Obsidian Vault/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├── 00-Inbox/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│   └── Inbox.md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├── 01-Projects/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│   ├── Vibecoding Masterclass.md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│   ├── Inexogy Invoice Service.md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│   └── ECIS 2026 Paper.md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├── 03-Knowledge/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│   ├── Spec-Driven Development.md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│   ├── Multi-Agent Patterns.md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│   └── Claude Code Hooks.md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├── 04-People/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│   ├── Mahnoor Shah.md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│   └── Khan, Güzey, Nielsen.md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├── 05-Meetings/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│   └── 2026-05-14 SUST Triannual.md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├── 08-Sessions/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│   ├── 2026-05-14 Inbox.md         ← AUTO-GENERATED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│   ├── 2026-05-13 Forderung.md     ← AUTO-GENERATED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│   └── 2026-05-12 Aktivbank.md     ← AUTO-GENERATED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└── .claude/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    └── hooks/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0" y="2194560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300">
                <a:solidFill>
                  <a:srgbClr val="E8761B"/>
                </a:solidFill>
                <a:latin typeface="Calibri"/>
              </a:rPr>
              <a:t>THE LOOP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0" y="2560320"/>
            <a:ext cx="384048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1A1A1A"/>
                </a:solidFill>
                <a:latin typeface="Georgia"/>
              </a:rPr>
              <a:t>Session starts: hook injects today's project note as context.</a:t>
            </a:r>
          </a:p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1A1A1A"/>
                </a:solidFill>
                <a:latin typeface="Georgia"/>
              </a:rPr>
              <a:t>Session ends: hook captures what you worked on, what was decided, what's open.</a:t>
            </a:r>
          </a:p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1A1A1A"/>
                </a:solidFill>
                <a:latin typeface="Georgia"/>
              </a:rPr>
              <a:t>No state is lost. No retelling tomorrow.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BEYOND  ·  THE SETUP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68 / 100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6B6B"/>
                </a:solidFill>
                <a:latin typeface="Georgia"/>
              </a:rPr>
              <a:t>What's running on my machine right now. Yours can look similar.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 i="0">
                <a:solidFill>
                  <a:srgbClr val="14213D"/>
                </a:solidFill>
                <a:latin typeface="Georgia"/>
              </a:rPr>
              <a:t>Example: my own setup.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28600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E8761B"/>
                </a:solidFill>
                <a:latin typeface="Georgia"/>
              </a:rPr>
              <a:t>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2286000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14213D"/>
                </a:solidFill>
                <a:latin typeface="Georgia"/>
              </a:rPr>
              <a:t>Claude Code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2331720"/>
            <a:ext cx="6858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1A1A1A"/>
                </a:solidFill>
                <a:latin typeface="Calibri"/>
              </a:rPr>
              <a:t>Primary terminal interface, two named sessions, prompt caching 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83464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E8761B"/>
                </a:solidFill>
                <a:latin typeface="Georgia"/>
              </a:rPr>
              <a:t>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834640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14213D"/>
                </a:solidFill>
                <a:latin typeface="Georgia"/>
              </a:rPr>
              <a:t>MCP servers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0" y="2880360"/>
            <a:ext cx="6858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1A1A1A"/>
                </a:solidFill>
                <a:latin typeface="Calibri"/>
              </a:rPr>
              <a:t>Notion, Slack, Gmail, Chrome, Filesystem (permissioned)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38328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E8761B"/>
                </a:solidFill>
                <a:latin typeface="Georgia"/>
              </a:rPr>
              <a:t>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383280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14213D"/>
                </a:solidFill>
                <a:latin typeface="Georgia"/>
              </a:rPr>
              <a:t>Skills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3429000"/>
            <a:ext cx="6858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1A1A1A"/>
                </a:solidFill>
                <a:latin typeface="Calibri"/>
              </a:rPr>
              <a:t>~50 personal skills — German comm, GDPR, debugging, plan-writing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93192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E8761B"/>
                </a:solidFill>
                <a:latin typeface="Georgia"/>
              </a:rPr>
              <a:t>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3931920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14213D"/>
                </a:solidFill>
                <a:latin typeface="Georgia"/>
              </a:rPr>
              <a:t>Hooks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0" y="3977640"/>
            <a:ext cx="6858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1A1A1A"/>
                </a:solidFill>
                <a:latin typeface="Calibri"/>
              </a:rPr>
              <a:t>SessionEnd → Obsidian, pre-commit → tests + lint, push → vault log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48056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E8761B"/>
                </a:solidFill>
                <a:latin typeface="Georgia"/>
              </a:rPr>
              <a:t>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8720" y="4480560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14213D"/>
                </a:solidFill>
                <a:latin typeface="Georgia"/>
              </a:rPr>
              <a:t>Obsidian Vault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0" y="4526280"/>
            <a:ext cx="6858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1A1A1A"/>
                </a:solidFill>
                <a:latin typeface="Calibri"/>
              </a:rPr>
              <a:t>PARA structure, 800+ notes, daily session captures, linked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02920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E8761B"/>
                </a:solidFill>
                <a:latin typeface="Georgia"/>
              </a:rPr>
              <a:t>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5029200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14213D"/>
                </a:solidFill>
                <a:latin typeface="Georgia"/>
              </a:rPr>
              <a:t>Cron + Routines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0" y="5074920"/>
            <a:ext cx="6858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1A1A1A"/>
                </a:solidFill>
                <a:latin typeface="Calibri"/>
              </a:rPr>
              <a:t>06:00 digest, 18:00 standup prep, weekly review on Fridays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557784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E8761B"/>
                </a:solidFill>
                <a:latin typeface="Georgia"/>
              </a:rPr>
              <a:t>›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88720" y="5577840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14213D"/>
                </a:solidFill>
                <a:latin typeface="Georgia"/>
              </a:rPr>
              <a:t>Worktrees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0" y="5623560"/>
            <a:ext cx="6858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1A1A1A"/>
                </a:solidFill>
                <a:latin typeface="Calibri"/>
              </a:rPr>
              <a:t>Per-feature isolated branches, parallel work without churn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BEYOND  ·  NON-CODE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69 / 100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6B6B"/>
                </a:solidFill>
                <a:latin typeface="Georgia"/>
              </a:rPr>
              <a:t>Most of your job isn't writing code. Most of your code isn't writing code.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 i="0">
                <a:solidFill>
                  <a:srgbClr val="14213D"/>
                </a:solidFill>
                <a:latin typeface="Georgia"/>
              </a:rPr>
              <a:t>Workflows for non-coders.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28600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E8761B"/>
                </a:solidFill>
                <a:latin typeface="Georgia"/>
              </a:rPr>
              <a:t>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2286000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4213D"/>
                </a:solidFill>
                <a:latin typeface="Georgia"/>
              </a:rPr>
              <a:t>Proposals &amp; funding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2331720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Draft a Förderantrag. Match required structure.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88036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E8761B"/>
                </a:solidFill>
                <a:latin typeface="Georgia"/>
              </a:rPr>
              <a:t>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880360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4213D"/>
                </a:solidFill>
                <a:latin typeface="Georgia"/>
              </a:rPr>
              <a:t>Status reports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0" y="2926080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Monthly client update from project tool + git activity.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47472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E8761B"/>
                </a:solidFill>
                <a:latin typeface="Georgia"/>
              </a:rPr>
              <a:t>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474720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4213D"/>
                </a:solidFill>
                <a:latin typeface="Georgia"/>
              </a:rPr>
              <a:t>Client comms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0" y="3520440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Tone-correct drafts in your language, your style.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06908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E8761B"/>
                </a:solidFill>
                <a:latin typeface="Georgia"/>
              </a:rPr>
              <a:t>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4069080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4213D"/>
                </a:solidFill>
                <a:latin typeface="Georgia"/>
              </a:rPr>
              <a:t>Research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0" y="4114800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“Read these 15 PDFs and tell me what they disagree on.”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66344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E8761B"/>
                </a:solidFill>
                <a:latin typeface="Georgia"/>
              </a:rPr>
              <a:t>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8720" y="4663440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4213D"/>
                </a:solidFill>
                <a:latin typeface="Georgia"/>
              </a:rPr>
              <a:t>Spreadsheets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0" y="4709160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Clean messy CSVs. Build pivot tables. Generate charts.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25780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E8761B"/>
                </a:solidFill>
                <a:latin typeface="Georgia"/>
              </a:rPr>
              <a:t>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5257800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4213D"/>
                </a:solidFill>
                <a:latin typeface="Georgia"/>
              </a:rPr>
              <a:t>Decks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0" y="5303520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Like this one. Generated by the script you're looking at.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19456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400">
                <a:solidFill>
                  <a:srgbClr val="E8761B"/>
                </a:solidFill>
                <a:latin typeface="Calibri"/>
              </a:rPr>
              <a:t>WHAT YOU COULD BUILD FOR YOURSELF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606040"/>
            <a:ext cx="109728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5400" b="0" i="0">
                <a:solidFill>
                  <a:srgbClr val="14213D"/>
                </a:solidFill>
                <a:latin typeface="Georgia"/>
              </a:rPr>
              <a:t>One weekend.</a:t>
            </a:r>
          </a:p>
          <a:p>
            <a:pPr algn="l">
              <a:lnSpc>
                <a:spcPct val="105000"/>
              </a:lnSpc>
            </a:pPr>
            <a:r>
              <a:rPr sz="5400" b="0" i="0">
                <a:solidFill>
                  <a:srgbClr val="14213D"/>
                </a:solidFill>
                <a:latin typeface="Georgia"/>
              </a:rPr>
              <a:t>One useful tool.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0292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1">
                <a:solidFill>
                  <a:srgbClr val="E8761B"/>
                </a:solidFill>
                <a:latin typeface="Georgia"/>
              </a:rPr>
              <a:t>Spec it. Plan it. Test it. Ship it. By Sunday evening.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70 / 100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400">
                <a:solidFill>
                  <a:srgbClr val="E8761B"/>
                </a:solidFill>
                <a:latin typeface="Calibri"/>
              </a:rPr>
              <a:t>DISCUSSION  ·  05 MINUTES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97280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600" b="0" i="1">
                <a:solidFill>
                  <a:srgbClr val="14213D"/>
                </a:solidFill>
                <a:latin typeface="Georgia"/>
              </a:rPr>
              <a:t>Which integration</a:t>
            </a:r>
          </a:p>
          <a:p>
            <a:pPr algn="l">
              <a:lnSpc>
                <a:spcPct val="110000"/>
              </a:lnSpc>
            </a:pPr>
            <a:r>
              <a:rPr sz="4600" b="0" i="1">
                <a:solidFill>
                  <a:srgbClr val="14213D"/>
                </a:solidFill>
                <a:latin typeface="Georgia"/>
              </a:rPr>
              <a:t>would change your day</a:t>
            </a:r>
          </a:p>
          <a:p>
            <a:pPr algn="l">
              <a:lnSpc>
                <a:spcPct val="110000"/>
              </a:lnSpc>
            </a:pPr>
            <a:r>
              <a:rPr sz="4600" b="0" i="1">
                <a:solidFill>
                  <a:srgbClr val="14213D"/>
                </a:solidFill>
                <a:latin typeface="Georgia"/>
              </a:rPr>
              <a:t>the most?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1206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300">
                <a:solidFill>
                  <a:srgbClr val="E8761B"/>
                </a:solidFill>
                <a:latin typeface="Calibri"/>
              </a:rPr>
              <a:t>PICK FROM YOUR LIST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4864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Georgia"/>
              </a:rPr>
              <a:t>·  Email - drafts, triage, summaries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733288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Georgia"/>
              </a:rPr>
              <a:t>·  Calendar - find-a-slot, prep notes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980176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Georgia"/>
              </a:rPr>
              <a:t>·  Notion / Linear / Slack - status, blockers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27064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Georgia"/>
              </a:rPr>
              <a:t>·  Browser - admin work, scraping, forms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47395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Georgia"/>
              </a:rPr>
              <a:t>·  Vault - capture, distill, link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71 / 100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4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400">
                <a:solidFill>
                  <a:srgbClr val="E8761B"/>
                </a:solidFill>
                <a:latin typeface="Calibri"/>
              </a:rPr>
              <a:t>PART 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103120"/>
            <a:ext cx="1097280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400" b="0" i="1">
                <a:solidFill>
                  <a:srgbClr val="FFFFFF"/>
                </a:solidFill>
                <a:latin typeface="Georgia"/>
              </a:rPr>
              <a:t>AI engineering</a:t>
            </a:r>
          </a:p>
          <a:p>
            <a:pPr algn="l">
              <a:lnSpc>
                <a:spcPct val="105000"/>
              </a:lnSpc>
            </a:pPr>
            <a:r>
              <a:rPr sz="6400" b="0" i="1">
                <a:solidFill>
                  <a:srgbClr val="FFFFFF"/>
                </a:solidFill>
                <a:latin typeface="Georgia"/>
              </a:rPr>
              <a:t>with Claude Code.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FAF7F0"/>
                </a:solidFill>
                <a:latin typeface="Georgia"/>
              </a:rPr>
              <a:t>Scaffold the pipeline. Read the numbers. Judge the model.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82296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800" b="0" i="0">
                <a:solidFill>
                  <a:srgbClr val="E8761B"/>
                </a:solidFill>
                <a:latin typeface="Consolas"/>
              </a:rPr>
              <a:t>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35508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899B0"/>
                </a:solidFill>
                <a:latin typeface="Calibri"/>
              </a:rPr>
              <a:t>CHAIR OF SUSTAINABILITY AND INNOVATION IN DIGITAL ECOSYSTEMS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20095" y="635508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899B0"/>
                </a:solidFill>
                <a:latin typeface="Consolas"/>
              </a:rPr>
              <a:t>72 / 100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ML WITH CLAUDE  ·  FRAMING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73 / 100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6B6B"/>
                </a:solidFill>
                <a:latin typeface="Georgia"/>
              </a:rPr>
              <a:t>Claude doesn't invent new architectures. It wires up the boring parts.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 i="0">
                <a:solidFill>
                  <a:srgbClr val="14213D"/>
                </a:solidFill>
                <a:latin typeface="Georgia"/>
              </a:rPr>
              <a:t>Where Claude shines in ML.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377440"/>
            <a:ext cx="5394960" cy="3383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2377440"/>
            <a:ext cx="5394960" cy="502920"/>
          </a:xfrm>
          <a:prstGeom prst="rect">
            <a:avLst/>
          </a:prstGeom>
          <a:solidFill>
            <a:srgbClr val="E87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496312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300">
                <a:solidFill>
                  <a:srgbClr val="FFFFFF"/>
                </a:solidFill>
                <a:latin typeface="Calibri"/>
              </a:rPr>
              <a:t>GOOD 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15468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1A"/>
                </a:solidFill>
                <a:latin typeface="Georgia"/>
              </a:rPr>
              <a:t>·  Data prep &amp; cleaning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483864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1A"/>
                </a:solidFill>
                <a:latin typeface="Georgia"/>
              </a:rPr>
              <a:t>·  Dataloader scaffolding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3813048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1A"/>
                </a:solidFill>
                <a:latin typeface="Georgia"/>
              </a:rPr>
              <a:t>·  Training loop boilerplate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142232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1A"/>
                </a:solidFill>
                <a:latin typeface="Georgia"/>
              </a:rPr>
              <a:t>·  Hyperparameter sweeps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4471416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1A"/>
                </a:solidFill>
                <a:latin typeface="Georgia"/>
              </a:rPr>
              <a:t>·  Eval metric reporting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480060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1A"/>
                </a:solidFill>
                <a:latin typeface="Georgia"/>
              </a:rPr>
              <a:t>·  Result visualization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5129784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1A"/>
                </a:solidFill>
                <a:latin typeface="Georgia"/>
              </a:rPr>
              <a:t>·  RAG pipelines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5458968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1A"/>
                </a:solidFill>
                <a:latin typeface="Georgia"/>
              </a:rPr>
              <a:t>·  LoRA / adapter fine-tuning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0" y="2377440"/>
            <a:ext cx="5029200" cy="3383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0" y="2377440"/>
            <a:ext cx="5029200" cy="502920"/>
          </a:xfrm>
          <a:prstGeom prst="rect">
            <a:avLst/>
          </a:prstGeom>
          <a:solidFill>
            <a:srgbClr val="6B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75120" y="2496312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300">
                <a:solidFill>
                  <a:srgbClr val="FFFFFF"/>
                </a:solidFill>
                <a:latin typeface="Calibri"/>
              </a:rPr>
              <a:t>STILL YOUR JOB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0" y="315468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B6B6B"/>
                </a:solidFill>
                <a:latin typeface="Georgia"/>
              </a:rPr>
              <a:t>·  Choosing the problem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0" y="3483864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B6B6B"/>
                </a:solidFill>
                <a:latin typeface="Georgia"/>
              </a:rPr>
              <a:t>·  Designing the dataset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0" y="3813048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B6B6B"/>
                </a:solidFill>
                <a:latin typeface="Georgia"/>
              </a:rPr>
              <a:t>·  Picking the right loss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0" y="4142232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B6B6B"/>
                </a:solidFill>
                <a:latin typeface="Georgia"/>
              </a:rPr>
              <a:t>·  Diagnosing why metrics moved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75120" y="4471416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B6B6B"/>
                </a:solidFill>
                <a:latin typeface="Georgia"/>
              </a:rPr>
              <a:t>·  Reading model failures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75120" y="480060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B6B6B"/>
                </a:solidFill>
                <a:latin typeface="Georgia"/>
              </a:rPr>
              <a:t>·  Deciding when it's good enough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75120" y="5129784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B6B6B"/>
                </a:solidFill>
                <a:latin typeface="Georgia"/>
              </a:rPr>
              <a:t>·  Ethical scrutiny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75120" y="5458968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B6B6B"/>
                </a:solidFill>
                <a:latin typeface="Georgia"/>
              </a:rPr>
              <a:t>·  Buying the GPU time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ML WITH CLAUDE  ·  SCAFFOLDING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74 / 100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6B6B"/>
                </a:solidFill>
                <a:latin typeface="Georgia"/>
              </a:rPr>
              <a:t>From “I have a CSV” to “I have a trained model with eval” — in 30 minutes.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 i="0">
                <a:solidFill>
                  <a:srgbClr val="14213D"/>
                </a:solidFill>
                <a:latin typeface="Georgia"/>
              </a:rPr>
              <a:t>Scaffolding a training pipeline.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194560"/>
            <a:ext cx="10698480" cy="3657600"/>
          </a:xfrm>
          <a:prstGeom prst="rect">
            <a:avLst/>
          </a:prstGeom>
          <a:solidFill>
            <a:srgbClr val="1E21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450592"/>
            <a:ext cx="10186416" cy="3145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200">
                <a:solidFill>
                  <a:srgbClr val="E8761B"/>
                </a:solidFill>
                <a:latin typeface="Consolas"/>
              </a:rPr>
              <a:t>&gt; claude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"I have reviews.csv with `text` and `label` columns.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Build me a sentiment classifier. TF-IDF + Naive Bayes or LR.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Show me train/test accuracy and a confusion matrix."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/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7F848A"/>
                </a:solidFill>
                <a:latin typeface="Consolas"/>
              </a:rPr>
              <a:t>[claude] /plan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98C379"/>
                </a:solidFill>
                <a:latin typeface="Consolas"/>
              </a:rPr>
              <a:t>Plan: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1. Load CSV → DataFrame, drop NA, stratified split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2. Pipeline: TfidfVectorizer → LinearSVC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3. Fit, predict, report classification_report + cm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4. Save metrics to results.json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5. Smoke test: predict on hand-crafted pos + neg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/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98C379"/>
                </a:solidFill>
                <a:latin typeface="Consolas"/>
              </a:rPr>
              <a:t>Approve? (y/n)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9893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E8761B"/>
                </a:solidFill>
                <a:latin typeface="Georgia"/>
              </a:rPr>
              <a:t>The pipeline is mechanical. The judgement is yours.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ML WITH CLAUDE  ·  THE NUMBERS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75 / 100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6B6B"/>
                </a:solidFill>
                <a:latin typeface="Georgia"/>
              </a:rPr>
              <a:t>Real dataset. Real classifier. Real test accuracy.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 i="0">
                <a:solidFill>
                  <a:srgbClr val="14213D"/>
                </a:solidFill>
                <a:latin typeface="Georgia"/>
              </a:rPr>
              <a:t>Demo 5 in detail.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194560"/>
            <a:ext cx="10698480" cy="3657600"/>
          </a:xfrm>
          <a:prstGeom prst="rect">
            <a:avLst/>
          </a:prstGeom>
          <a:solidFill>
            <a:srgbClr val="1E21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450592"/>
            <a:ext cx="10186416" cy="3145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  Loading 20-newsgroups subset (4 topics)...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  Train: 2323 docs  ·  Test: 1546 docs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  Classes: graphics, hockey, space, guns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/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  Training...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/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  Test accuracy:  0.895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/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  Confusion matrix (rows = actual, columns = predicted):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             graphics    hockey     space      guns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    graphics       353         3        28         5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      hockey         4       369        15        11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       space        23         7       346        18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        guns        13         2        34       315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/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  Per-class report: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                        precision    recall  f1-score   support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    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         comp.graphics       0.90      0.91      0.90       389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      rec.sport.hockey       0.97      0.92      0.95       399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             sci.space       0.82      0.88      0.85       394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    talk.politics.guns       0.90      0.87      0.88       364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9893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E8761B"/>
                </a:solidFill>
                <a:latin typeface="Georgia"/>
              </a:rPr>
              <a:t>4 topics. 2,323 train docs. LinearSVC. 89.5% test accuracy. Fifteen minutes.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ML WITH CLAUDE  ·  READING OUTPUT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76 / 100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6B6B"/>
                </a:solidFill>
                <a:latin typeface="Georgia"/>
              </a:rPr>
              <a:t>What to look at. What to ignore.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0" i="0">
                <a:solidFill>
                  <a:srgbClr val="14213D"/>
                </a:solidFill>
                <a:latin typeface="Georgia"/>
              </a:rPr>
              <a:t>Training output, decoded.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286000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E8761B"/>
                </a:solidFill>
                <a:latin typeface="Consolas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30428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4213D"/>
                </a:solidFill>
                <a:latin typeface="Georgia"/>
              </a:rPr>
              <a:t>Accuracy ≠ everything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2706624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A 95% accurate spam filter that misses every actual spam is useless. Look at recall on the rare class.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154680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E8761B"/>
                </a:solidFill>
                <a:latin typeface="Consolas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317296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4213D"/>
                </a:solidFill>
                <a:latin typeface="Georgia"/>
              </a:rPr>
              <a:t>Confusion matrix &gt; single number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575304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Which classes does it confuse? That's where you'd add data.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023360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E8761B"/>
                </a:solidFill>
                <a:latin typeface="Consolas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404164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4213D"/>
                </a:solidFill>
                <a:latin typeface="Georgia"/>
              </a:rPr>
              <a:t>Train &gt;&gt; test accuracy?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443984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Overfitting. Regularize, simplify, or get more data.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892040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E8761B"/>
                </a:solidFill>
                <a:latin typeface="Consolas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491032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4213D"/>
                </a:solidFill>
                <a:latin typeface="Georgia"/>
              </a:rPr>
              <a:t>Per-class precision/recall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5312664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“macro avg” weights every class equally. “weighted avg” weights by support.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ML WITH CLAUDE  ·  EVALUATION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77 / 100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6B6B"/>
                </a:solidFill>
                <a:latin typeface="Georgia"/>
              </a:rPr>
              <a:t>An eval harness is just a test suite for your model.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0" i="0">
                <a:solidFill>
                  <a:srgbClr val="14213D"/>
                </a:solidFill>
                <a:latin typeface="Georgia"/>
              </a:rPr>
              <a:t>Evaluation harnesses.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28600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E8761B"/>
                </a:solidFill>
                <a:latin typeface="Consolas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37360" y="2267712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4213D"/>
                </a:solidFill>
                <a:latin typeface="Georgia"/>
              </a:rPr>
              <a:t>Hold out a real test set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2331720"/>
            <a:ext cx="5943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Never train on it. Don't peek.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999232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E8761B"/>
                </a:solidFill>
                <a:latin typeface="Consolas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37360" y="2980944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4213D"/>
                </a:solidFill>
                <a:latin typeface="Georgia"/>
              </a:rPr>
              <a:t>Define what good means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0" y="3044952"/>
            <a:ext cx="5943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Numbers from the spec. Accuracy, FP rate, latency.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712464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E8761B"/>
                </a:solidFill>
                <a:latin typeface="Consolas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37360" y="3694176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4213D"/>
                </a:solidFill>
                <a:latin typeface="Georgia"/>
              </a:rPr>
              <a:t>Run the harness in CI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0" y="3758184"/>
            <a:ext cx="5943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Every model change. Same as code tests.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425696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E8761B"/>
                </a:solidFill>
                <a:latin typeface="Consolas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37360" y="4407408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4213D"/>
                </a:solidFill>
                <a:latin typeface="Georgia"/>
              </a:rPr>
              <a:t>Add adversarial cases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0" y="4471416"/>
            <a:ext cx="5943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Things you've seen fail. Edge inputs. Known-hard examples.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138928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E8761B"/>
                </a:solidFill>
                <a:latin typeface="Consolas"/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37360" y="5120640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4213D"/>
                </a:solidFill>
                <a:latin typeface="Georgia"/>
              </a:rPr>
              <a:t>Log + compare runs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0" y="5184648"/>
            <a:ext cx="5943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Today vs yesterday. Track regressions like bugs.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ML WITH CLAUDE  ·  RAG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78 / 100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6B6B"/>
                </a:solidFill>
                <a:latin typeface="Georgia"/>
              </a:rPr>
              <a:t>For most teams in 2026: RAG beats fine-tuning. Try it first.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 i="0">
                <a:solidFill>
                  <a:srgbClr val="14213D"/>
                </a:solidFill>
                <a:latin typeface="Georgia"/>
              </a:rPr>
              <a:t>Retrieval-Augmented Generation.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286000"/>
            <a:ext cx="2157984" cy="2377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2286000"/>
            <a:ext cx="2157984" cy="365760"/>
          </a:xfrm>
          <a:prstGeom prst="rect">
            <a:avLst/>
          </a:prstGeom>
          <a:solidFill>
            <a:srgbClr val="E87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350008"/>
            <a:ext cx="21579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300">
                <a:solidFill>
                  <a:srgbClr val="FFFFFF"/>
                </a:solidFill>
                <a:latin typeface="Consolas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788920"/>
            <a:ext cx="188366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14213D"/>
                </a:solidFill>
                <a:latin typeface="Georgia"/>
              </a:rPr>
              <a:t>INGEST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291840"/>
            <a:ext cx="1883664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1A1A1A"/>
                </a:solidFill>
                <a:latin typeface="Calibri"/>
              </a:rPr>
              <a:t>Read your docs. Split by paragraph or section.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53512" y="2286000"/>
            <a:ext cx="2157984" cy="2377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953512" y="2286000"/>
            <a:ext cx="2157984" cy="365760"/>
          </a:xfrm>
          <a:prstGeom prst="rect">
            <a:avLst/>
          </a:prstGeom>
          <a:solidFill>
            <a:srgbClr val="E87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136392" y="2350008"/>
            <a:ext cx="21579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300">
                <a:solidFill>
                  <a:srgbClr val="FFFFFF"/>
                </a:solidFill>
                <a:latin typeface="Consolas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36392" y="2788920"/>
            <a:ext cx="188366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14213D"/>
                </a:solidFill>
                <a:latin typeface="Georgia"/>
              </a:rPr>
              <a:t>EMBED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36392" y="3291840"/>
            <a:ext cx="1883664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1A1A1A"/>
                </a:solidFill>
                <a:latin typeface="Calibri"/>
              </a:rPr>
              <a:t>Each chunk → vector via embedding model.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75504" y="2286000"/>
            <a:ext cx="2157984" cy="2377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75504" y="2286000"/>
            <a:ext cx="2157984" cy="365760"/>
          </a:xfrm>
          <a:prstGeom prst="rect">
            <a:avLst/>
          </a:prstGeom>
          <a:solidFill>
            <a:srgbClr val="E87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58384" y="2350008"/>
            <a:ext cx="21579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300">
                <a:solidFill>
                  <a:srgbClr val="FFFFFF"/>
                </a:solidFill>
                <a:latin typeface="Consolas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58384" y="2788920"/>
            <a:ext cx="188366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14213D"/>
                </a:solidFill>
                <a:latin typeface="Georgia"/>
              </a:rPr>
              <a:t>STORE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58384" y="3291840"/>
            <a:ext cx="1883664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1A1A1A"/>
                </a:solidFill>
                <a:latin typeface="Calibri"/>
              </a:rPr>
              <a:t>Vector DB — LanceDB, pgvector, Pinecone.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97496" y="2286000"/>
            <a:ext cx="2157984" cy="2377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97496" y="2286000"/>
            <a:ext cx="2157984" cy="365760"/>
          </a:xfrm>
          <a:prstGeom prst="rect">
            <a:avLst/>
          </a:prstGeom>
          <a:solidFill>
            <a:srgbClr val="E87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580376" y="2350008"/>
            <a:ext cx="21579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300">
                <a:solidFill>
                  <a:srgbClr val="FFFFFF"/>
                </a:solidFill>
                <a:latin typeface="Consolas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80376" y="2788920"/>
            <a:ext cx="188366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14213D"/>
                </a:solidFill>
                <a:latin typeface="Georgia"/>
              </a:rPr>
              <a:t>RETRIEVE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80376" y="3291840"/>
            <a:ext cx="1883664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1A1A1A"/>
                </a:solidFill>
                <a:latin typeface="Calibri"/>
              </a:rPr>
              <a:t>User query → vector → top-k chunks.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619488" y="2286000"/>
            <a:ext cx="2157984" cy="2377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619488" y="2286000"/>
            <a:ext cx="2157984" cy="365760"/>
          </a:xfrm>
          <a:prstGeom prst="rect">
            <a:avLst/>
          </a:prstGeom>
          <a:solidFill>
            <a:srgbClr val="E87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802368" y="2350008"/>
            <a:ext cx="21579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300">
                <a:solidFill>
                  <a:srgbClr val="FFFFFF"/>
                </a:solidFill>
                <a:latin typeface="Consolas"/>
              </a:rPr>
              <a:t>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02368" y="2788920"/>
            <a:ext cx="188366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14213D"/>
                </a:solidFill>
                <a:latin typeface="Georgia"/>
              </a:rPr>
              <a:t>GENERATE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02368" y="3291840"/>
            <a:ext cx="1883664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1A1A1A"/>
                </a:solidFill>
                <a:latin typeface="Calibri"/>
              </a:rPr>
              <a:t>Stuff chunks into the prompt. Claude answers grounded.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0749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1A1A1A"/>
                </a:solidFill>
                <a:latin typeface="Georgia"/>
              </a:rPr>
              <a:t>Claude Code scaffolds all five steps. You bring the docs and the questions.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ML WITH CLAUDE  ·  FINE-TUNING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79 / 100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6B6B"/>
                </a:solidFill>
                <a:latin typeface="Georgia"/>
              </a:rPr>
              <a:t>When prompt + RAG aren't enough. Rare. But real.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 i="0">
                <a:solidFill>
                  <a:srgbClr val="14213D"/>
                </a:solidFill>
                <a:latin typeface="Georgia"/>
              </a:rPr>
              <a:t>Fine-tuning, briefly.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28600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E8761B"/>
                </a:solidFill>
                <a:latin typeface="Georgia"/>
              </a:rPr>
              <a:t>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2286000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4213D"/>
                </a:solidFill>
                <a:latin typeface="Georgia"/>
              </a:rPr>
              <a:t>LoRA / QLoRA adapters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2331720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Train a small adapter on top of a frozen base model. Fast and cheap.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97180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E8761B"/>
                </a:solidFill>
                <a:latin typeface="Georgia"/>
              </a:rPr>
              <a:t>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971800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4213D"/>
                </a:solidFill>
                <a:latin typeface="Georgia"/>
              </a:rPr>
              <a:t>Hugging Face skills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0" y="3017520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Claude Code has a `hf-skills-training` flow that wraps the boilerplate.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65760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E8761B"/>
                </a:solidFill>
                <a:latin typeface="Georgia"/>
              </a:rPr>
              <a:t>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657600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4213D"/>
                </a:solidFill>
                <a:latin typeface="Georgia"/>
              </a:rPr>
              <a:t>Domain vocabulary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0" y="3703320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Best use case: highly specialized terminology a base model doesn't know.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34340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E8761B"/>
                </a:solidFill>
                <a:latin typeface="Georgia"/>
              </a:rPr>
              <a:t>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4343400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4213D"/>
                </a:solidFill>
                <a:latin typeface="Georgia"/>
              </a:rPr>
              <a:t>Style / format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0" y="4389120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Second-best: you need consistent output in a specific shape.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02920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E8761B"/>
                </a:solidFill>
                <a:latin typeface="Georgia"/>
              </a:rPr>
              <a:t>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8720" y="5029200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4213D"/>
                </a:solidFill>
                <a:latin typeface="Georgia"/>
              </a:rPr>
              <a:t>Not a substitute for data quality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0" y="5074920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If your prompt-engineering doesn't work, fine-tuning rarely fixes it.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ML WITH CLAUDE  ·  WHEN NOT 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80 / 100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6B6B"/>
                </a:solidFill>
                <a:latin typeface="Georgia"/>
              </a:rPr>
              <a:t>Most “we should train a model” problems aren't model problems.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 i="0">
                <a:solidFill>
                  <a:srgbClr val="14213D"/>
                </a:solidFill>
                <a:latin typeface="Georgia"/>
              </a:rPr>
              <a:t>When ML training is the wrong tool.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28600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E8761B"/>
                </a:solidFill>
                <a:latin typeface="Georgia"/>
              </a:rPr>
              <a:t>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286000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4213D"/>
                </a:solidFill>
                <a:latin typeface="Georgia"/>
              </a:rPr>
              <a:t>When a regex or SQL query would do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0" y="2331720"/>
            <a:ext cx="6217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Don't train a classifier to find “invoice” in emails.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97180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E8761B"/>
                </a:solidFill>
                <a:latin typeface="Georgia"/>
              </a:rPr>
              <a:t>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971800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4213D"/>
                </a:solidFill>
                <a:latin typeface="Georgia"/>
              </a:rPr>
              <a:t>When the rule is known and simple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3017520"/>
            <a:ext cx="6217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Write the rule. Tests pass. Move on.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65760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E8761B"/>
                </a:solidFill>
                <a:latin typeface="Georgia"/>
              </a:rPr>
              <a:t>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657600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4213D"/>
                </a:solidFill>
                <a:latin typeface="Georgia"/>
              </a:rPr>
              <a:t>When labelling will take longer than the project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0" y="3703320"/>
            <a:ext cx="6217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Time-box. If labelling &gt; 1 week, reconsider.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34340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E8761B"/>
                </a:solidFill>
                <a:latin typeface="Georgia"/>
              </a:rPr>
              <a:t>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343400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4213D"/>
                </a:solidFill>
                <a:latin typeface="Georgia"/>
              </a:rPr>
              <a:t>When prompting + RAG already works at 90%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0" y="4389120"/>
            <a:ext cx="6217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Get the last 10% with rules + human review.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02920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E8761B"/>
                </a:solidFill>
                <a:latin typeface="Georgia"/>
              </a:rPr>
              <a:t>✗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5029200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4213D"/>
                </a:solidFill>
                <a:latin typeface="Georgia"/>
              </a:rPr>
              <a:t>When you can't measure success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0" y="5074920"/>
            <a:ext cx="6217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Without an eval set, you have a vibe-classifier.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400">
                <a:solidFill>
                  <a:srgbClr val="E8761B"/>
                </a:solidFill>
                <a:latin typeface="Calibri"/>
              </a:rPr>
              <a:t>AN OPEN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286000"/>
            <a:ext cx="1097280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400" b="0" i="0">
                <a:solidFill>
                  <a:srgbClr val="14213D"/>
                </a:solidFill>
                <a:latin typeface="Georgia"/>
              </a:rPr>
              <a:t>What should the</a:t>
            </a:r>
          </a:p>
          <a:p>
            <a:pPr algn="l">
              <a:lnSpc>
                <a:spcPct val="110000"/>
              </a:lnSpc>
            </a:pPr>
            <a:r>
              <a:rPr sz="4400" b="0" i="0">
                <a:solidFill>
                  <a:srgbClr val="14213D"/>
                </a:solidFill>
                <a:latin typeface="Georgia"/>
              </a:rPr>
              <a:t>AI engineer of 2027</a:t>
            </a:r>
          </a:p>
          <a:p>
            <a:pPr algn="l">
              <a:lnSpc>
                <a:spcPct val="110000"/>
              </a:lnSpc>
            </a:pPr>
            <a:r>
              <a:rPr sz="4400" b="0" i="0">
                <a:solidFill>
                  <a:srgbClr val="14213D"/>
                </a:solidFill>
                <a:latin typeface="Georgia"/>
              </a:rPr>
              <a:t>know how to do alone?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4864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1">
                <a:solidFill>
                  <a:srgbClr val="E8761B"/>
                </a:solidFill>
                <a:latin typeface="Georgia"/>
              </a:rPr>
              <a:t>Discuss with your buddy for two minutes.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81 / 100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4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400">
                <a:solidFill>
                  <a:srgbClr val="E8761B"/>
                </a:solidFill>
                <a:latin typeface="Calibri"/>
              </a:rPr>
              <a:t>PART 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103120"/>
            <a:ext cx="1097280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400" b="0" i="1">
                <a:solidFill>
                  <a:srgbClr val="FFFFFF"/>
                </a:solidFill>
                <a:latin typeface="Georgia"/>
              </a:rPr>
              <a:t>The wider toolbox.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FAF7F0"/>
                </a:solidFill>
                <a:latin typeface="Georgia"/>
              </a:rPr>
              <a:t>Claude Code is one of many. Know the others.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82296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800" b="0" i="0">
                <a:solidFill>
                  <a:srgbClr val="E8761B"/>
                </a:solidFill>
                <a:latin typeface="Consolas"/>
              </a:rPr>
              <a:t>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35508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899B0"/>
                </a:solidFill>
                <a:latin typeface="Calibri"/>
              </a:rPr>
              <a:t>CHAIR OF SUSTAINABILITY AND INNOVATION IN DIGITAL ECOSYSTEMS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20095" y="635508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899B0"/>
                </a:solidFill>
                <a:latin typeface="Consolas"/>
              </a:rPr>
              <a:t>82 / 100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ECOSYSTEM  ·  01 / 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83 / 100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6B6B"/>
                </a:solidFill>
                <a:latin typeface="Georgia"/>
              </a:rPr>
              <a:t>IDE-native. Fast. Parallel agent tabs.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0" i="0">
                <a:solidFill>
                  <a:srgbClr val="14213D"/>
                </a:solidFill>
                <a:latin typeface="Georgia"/>
              </a:rPr>
              <a:t>Cursor.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286000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E8761B"/>
                </a:solidFill>
                <a:latin typeface="Georgia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228600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14213D"/>
                </a:solidFill>
                <a:latin typeface="Georgia"/>
              </a:rPr>
              <a:t>VS-Code-derived UI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Pleasant for IDE-first workflows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880360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E8761B"/>
                </a:solidFill>
                <a:latin typeface="Georgia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288036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14213D"/>
                </a:solidFill>
                <a:latin typeface="Georgia"/>
              </a:rPr>
              <a:t>Cloud agents on isolated VMs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92608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Worktree per task, parallel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474720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E8761B"/>
                </a:solidFill>
                <a:latin typeface="Georgia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347472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14213D"/>
                </a:solidFill>
                <a:latin typeface="Georgia"/>
              </a:rPr>
              <a:t>Inline edits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352044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Faster than terminal for small changes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069080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6B6B6B"/>
                </a:solidFill>
                <a:latin typeface="Georgia"/>
              </a:rPr>
              <a:t>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406908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14213D"/>
                </a:solidFill>
                <a:latin typeface="Georgia"/>
              </a:rPr>
              <a:t>Stalls at ambiguous decisions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411480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Without supervision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663440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6B6B6B"/>
                </a:solidFill>
                <a:latin typeface="Georgia"/>
              </a:rPr>
              <a:t>✗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80160" y="466344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14213D"/>
                </a:solidFill>
                <a:latin typeface="Georgia"/>
              </a:rPr>
              <a:t>No long-running autonomous mode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470916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Not built for overnight work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257800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6B6B6B"/>
                </a:solidFill>
                <a:latin typeface="Georgia"/>
              </a:rPr>
              <a:t>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80160" y="525780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14213D"/>
                </a:solidFill>
                <a:latin typeface="Georgia"/>
              </a:rPr>
              <a:t>Less context flexibility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530352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Tied to current file/workspace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ECOSYSTEM  ·  02 / 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84 / 100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6B6B"/>
                </a:solidFill>
                <a:latin typeface="Georgia"/>
              </a:rPr>
              <a:t>Open-source. Model-agnostic. Bring your own provider.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 i="0">
                <a:solidFill>
                  <a:srgbClr val="14213D"/>
                </a:solidFill>
                <a:latin typeface="Georgia"/>
              </a:rPr>
              <a:t>Cline · Codex CLI · Aider.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286000"/>
            <a:ext cx="3611880" cy="3383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2286000"/>
            <a:ext cx="3611880" cy="502920"/>
          </a:xfrm>
          <a:prstGeom prst="rect">
            <a:avLst/>
          </a:prstGeom>
          <a:solidFill>
            <a:srgbClr val="E87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404872"/>
            <a:ext cx="3611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 spc="300">
                <a:solidFill>
                  <a:srgbClr val="FFFFFF"/>
                </a:solidFill>
                <a:latin typeface="Calibri"/>
              </a:rPr>
              <a:t>CLINE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063240"/>
            <a:ext cx="3611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6B6B6B"/>
                </a:solidFill>
                <a:latin typeface="Consolas"/>
              </a:rPr>
              <a:t>Apache 2.0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566160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Georgia"/>
              </a:rPr>
              <a:t>·  VS Code + JetBrains + Zed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3950208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Georgia"/>
              </a:rPr>
              <a:t>·  Bring your own model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334256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Georgia"/>
              </a:rPr>
              <a:t>·  OpenAI / Anthropic / Bedrock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4718304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Georgia"/>
              </a:rPr>
              <a:t>·  5M+ installs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5102352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Georgia"/>
              </a:rPr>
              <a:t>·  Great for cost-sensitive teams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34840" y="2286000"/>
            <a:ext cx="3611880" cy="3383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434840" y="2286000"/>
            <a:ext cx="3611880" cy="502920"/>
          </a:xfrm>
          <a:prstGeom prst="rect">
            <a:avLst/>
          </a:prstGeom>
          <a:solidFill>
            <a:srgbClr val="E87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09160" y="2404872"/>
            <a:ext cx="3611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 spc="300">
                <a:solidFill>
                  <a:srgbClr val="FFFFFF"/>
                </a:solidFill>
                <a:latin typeface="Calibri"/>
              </a:rPr>
              <a:t>CODEX CLI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09160" y="3063240"/>
            <a:ext cx="3611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6B6B6B"/>
                </a:solidFill>
                <a:latin typeface="Consolas"/>
              </a:rPr>
              <a:t>OpenAI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09160" y="3566160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Georgia"/>
              </a:rPr>
              <a:t>·  Terminal-first, OpenAI-only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09160" y="3950208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Georgia"/>
              </a:rPr>
              <a:t>·  Open-source harness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09160" y="4334256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Georgia"/>
              </a:rPr>
              <a:t>·  Strong on patches &amp; refactors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09160" y="4718304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Georgia"/>
              </a:rPr>
              <a:t>·  Good plugin ecosystem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138160" y="2286000"/>
            <a:ext cx="3611880" cy="3383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138160" y="2286000"/>
            <a:ext cx="3611880" cy="502920"/>
          </a:xfrm>
          <a:prstGeom prst="rect">
            <a:avLst/>
          </a:prstGeom>
          <a:solidFill>
            <a:srgbClr val="E87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12480" y="2404872"/>
            <a:ext cx="3611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 spc="300">
                <a:solidFill>
                  <a:srgbClr val="FFFFFF"/>
                </a:solidFill>
                <a:latin typeface="Calibri"/>
              </a:rPr>
              <a:t>AIDER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80" y="3063240"/>
            <a:ext cx="3611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6B6B6B"/>
                </a:solidFill>
                <a:latin typeface="Consolas"/>
              </a:rPr>
              <a:t>OG, model-agnostic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12480" y="3566160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Georgia"/>
              </a:rPr>
              <a:t>·  The original terminal CLI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0" y="3950208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Georgia"/>
              </a:rPr>
              <a:t>·  Auto-commits to git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12480" y="4334256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Georgia"/>
              </a:rPr>
              <a:t>·  Bring your own model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12480" y="4718304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Georgia"/>
              </a:rPr>
              <a:t>·  Gold standard for pair-coding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ECOSYSTEM  ·  03 / 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85 / 100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6B6B"/>
                </a:solidFill>
                <a:latin typeface="Georgia"/>
              </a:rPr>
              <a:t>Anthropic's “supervised autonomous” mode. The future of overnight work.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0" i="0">
                <a:solidFill>
                  <a:srgbClr val="14213D"/>
                </a:solidFill>
                <a:latin typeface="Georgia"/>
              </a:rPr>
              <a:t>Anthropic Routines.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28600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E8761B"/>
                </a:solidFill>
                <a:latin typeface="Georgia"/>
              </a:rPr>
              <a:t>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2286000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4213D"/>
                </a:solidFill>
                <a:latin typeface="Georgia"/>
              </a:rPr>
              <a:t>Package a Claude config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2331720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Prompt + repos + tools + permissions, as one bundle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999232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E8761B"/>
                </a:solidFill>
                <a:latin typeface="Georgia"/>
              </a:rPr>
              <a:t>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999232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4213D"/>
                </a:solidFill>
                <a:latin typeface="Georgia"/>
              </a:rPr>
              <a:t>Schedule 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0" y="3044952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Nightly, hourly, or on GitHub events (PR opened, release tagged)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712464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E8761B"/>
                </a:solidFill>
                <a:latin typeface="Georgia"/>
              </a:rPr>
              <a:t>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712464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4213D"/>
                </a:solidFill>
                <a:latin typeface="Georgia"/>
              </a:rPr>
              <a:t>Runs on Anthropic-managed cloud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0" y="3758184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Not on your laptop. Your laptop can sleep.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425696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E8761B"/>
                </a:solidFill>
                <a:latin typeface="Georgia"/>
              </a:rPr>
              <a:t>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4425696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4213D"/>
                </a:solidFill>
                <a:latin typeface="Georgia"/>
              </a:rPr>
              <a:t>Result-validation loops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0" y="4471416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Re-runs if tests fail, escalates if they keep failing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138928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E8761B"/>
                </a:solidFill>
                <a:latin typeface="Georgia"/>
              </a:rPr>
              <a:t>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8720" y="5138928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4213D"/>
                </a:solidFill>
                <a:latin typeface="Georgia"/>
              </a:rPr>
              <a:t>Handoffs to humans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0" y="5184648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Pings you when judgement is needed; otherwise keeps going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ECOSYSTEM  ·  04 / 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86 / 100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6B6B"/>
                </a:solidFill>
                <a:latin typeface="Georgia"/>
              </a:rPr>
              <a:t>Quick decision matrix. Read it once, internalise.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 i="0">
                <a:solidFill>
                  <a:srgbClr val="14213D"/>
                </a:solidFill>
                <a:latin typeface="Georgia"/>
              </a:rPr>
              <a:t>When to use which.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28600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300">
                <a:solidFill>
                  <a:srgbClr val="E8761B"/>
                </a:solidFill>
                <a:latin typeface="Calibri"/>
              </a:rPr>
              <a:t>YOUR NEED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28600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300">
                <a:solidFill>
                  <a:srgbClr val="E8761B"/>
                </a:solidFill>
                <a:latin typeface="Calibri"/>
              </a:rPr>
              <a:t>PICK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0" y="2286000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300">
                <a:solidFill>
                  <a:srgbClr val="E8761B"/>
                </a:solidFill>
                <a:latin typeface="Calibri"/>
              </a:rPr>
              <a:t>WHY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2651760"/>
            <a:ext cx="1072865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278892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1A1A1A"/>
                </a:solidFill>
                <a:latin typeface="Georgia"/>
              </a:rPr>
              <a:t>Long autonomous runs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78892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E8761B"/>
                </a:solidFill>
                <a:latin typeface="Georgia"/>
              </a:rPr>
              <a:t>Claude Code + Routines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0" y="2788920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Georgia"/>
              </a:rPr>
              <a:t>Built for 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227832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1A1A1A"/>
                </a:solidFill>
                <a:latin typeface="Georgia"/>
              </a:rPr>
              <a:t>Inline IDE editing speed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3227832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E8761B"/>
                </a:solidFill>
                <a:latin typeface="Georgia"/>
              </a:rPr>
              <a:t>Cursor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0" y="3227832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Georgia"/>
              </a:rPr>
              <a:t>Fastest small-change loop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3666744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1A1A1A"/>
                </a:solidFill>
                <a:latin typeface="Georgia"/>
              </a:rPr>
              <a:t>Cost-sensitive, open-source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3666744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E8761B"/>
                </a:solidFill>
                <a:latin typeface="Georgia"/>
              </a:rPr>
              <a:t>Cline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63840" y="3666744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Georgia"/>
              </a:rPr>
              <a:t>BYO model, free harness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4105656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1A1A1A"/>
                </a:solidFill>
                <a:latin typeface="Georgia"/>
              </a:rPr>
              <a:t>Terminal pair-programming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4105656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E8761B"/>
                </a:solidFill>
                <a:latin typeface="Georgia"/>
              </a:rPr>
              <a:t>Aider or Claude Code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63840" y="4105656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Georgia"/>
              </a:rPr>
              <a:t>Both terminal-native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4544568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1A1A1A"/>
                </a:solidFill>
                <a:latin typeface="Georgia"/>
              </a:rPr>
              <a:t>OpenAI-only stack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0" y="4544568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E8761B"/>
                </a:solidFill>
                <a:latin typeface="Georgia"/>
              </a:rPr>
              <a:t>Codex CLI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63840" y="4544568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Georgia"/>
              </a:rPr>
              <a:t>Best fit for that model family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498348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1A1A1A"/>
                </a:solidFill>
                <a:latin typeface="Georgia"/>
              </a:rPr>
              <a:t>Production workflows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498348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E8761B"/>
                </a:solidFill>
                <a:latin typeface="Georgia"/>
              </a:rPr>
              <a:t>Claude Code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63840" y="4983480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Georgia"/>
              </a:rPr>
              <a:t>Plan mode, hooks, MCP, skills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5422392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1A1A1A"/>
                </a:solidFill>
                <a:latin typeface="Georgia"/>
              </a:rPr>
              <a:t>Multi-agent orchestration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0" y="5422392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E8761B"/>
                </a:solidFill>
                <a:latin typeface="Georgia"/>
              </a:rPr>
              <a:t>Claude Code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63840" y="5422392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Georgia"/>
              </a:rPr>
              <a:t>First-class subagents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861304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1A1A1A"/>
                </a:solidFill>
                <a:latin typeface="Georgia"/>
              </a:rPr>
              <a:t>Browser-driving tasks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0" y="5861304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E8761B"/>
                </a:solidFill>
                <a:latin typeface="Georgia"/>
              </a:rPr>
              <a:t>Claude Code + Chrome MCP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63840" y="5861304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Georgia"/>
              </a:rPr>
              <a:t>Best surface today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ECOSYSTEM  ·  05 / 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87 / 100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6B6B"/>
                </a:solidFill>
                <a:latin typeface="Georgia"/>
              </a:rPr>
              <a:t>Where this is going, late 2026 and beyond.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0" i="0">
                <a:solidFill>
                  <a:srgbClr val="14213D"/>
                </a:solidFill>
                <a:latin typeface="Georgia"/>
              </a:rPr>
              <a:t>What's coming.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28600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E8761B"/>
                </a:solidFill>
                <a:latin typeface="Georgia"/>
              </a:rPr>
              <a:t>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2267712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4213D"/>
                </a:solidFill>
                <a:latin typeface="Georgia"/>
              </a:rPr>
              <a:t>Multi-agent harnesses become first-class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2331720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Less DIY orchestration; more declarative agent teams.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999232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E8761B"/>
                </a:solidFill>
                <a:latin typeface="Georgia"/>
              </a:rPr>
              <a:t>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2980944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4213D"/>
                </a:solidFill>
                <a:latin typeface="Georgia"/>
              </a:rPr>
              <a:t>Agentic IDEs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0" y="3044952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VS Code-style tools but agent-native — Cursor 4, Zed AI, Windsurf.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712464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E8761B"/>
                </a:solidFill>
                <a:latin typeface="Georgia"/>
              </a:rPr>
              <a:t>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3694176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4213D"/>
                </a:solidFill>
                <a:latin typeface="Georgia"/>
              </a:rPr>
              <a:t>Cheaper long-running autonomy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0" y="3758184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Routines + cheap inference make overnight work the default.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425696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E8761B"/>
                </a:solidFill>
                <a:latin typeface="Georgia"/>
              </a:rPr>
              <a:t>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4407408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4213D"/>
                </a:solidFill>
                <a:latin typeface="Georgia"/>
              </a:rPr>
              <a:t>Verified handoffs as primitive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0" y="4471416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Subagents return cryptographic “done” proofs, not just text.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138928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E8761B"/>
                </a:solidFill>
                <a:latin typeface="Georgia"/>
              </a:rPr>
              <a:t>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80160" y="5120640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4213D"/>
                </a:solidFill>
                <a:latin typeface="Georgia"/>
              </a:rPr>
              <a:t>Tighter loops with formal methods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0" y="5184648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Specs as types. Plans as checked artifacts. Less drift.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400">
                <a:solidFill>
                  <a:srgbClr val="E8761B"/>
                </a:solidFill>
                <a:latin typeface="Calibri"/>
              </a:rPr>
              <a:t>DISCUSSION  ·  04 MINUTES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97280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600" b="0" i="1">
                <a:solidFill>
                  <a:srgbClr val="14213D"/>
                </a:solidFill>
                <a:latin typeface="Georgia"/>
              </a:rPr>
              <a:t>If you had to pick</a:t>
            </a:r>
          </a:p>
          <a:p>
            <a:pPr algn="l">
              <a:lnSpc>
                <a:spcPct val="110000"/>
              </a:lnSpc>
            </a:pPr>
            <a:r>
              <a:rPr sz="4600" b="0" i="1">
                <a:solidFill>
                  <a:srgbClr val="14213D"/>
                </a:solidFill>
                <a:latin typeface="Georgia"/>
              </a:rPr>
              <a:t>one tool for your</a:t>
            </a:r>
          </a:p>
          <a:p>
            <a:pPr algn="l">
              <a:lnSpc>
                <a:spcPct val="110000"/>
              </a:lnSpc>
            </a:pPr>
            <a:r>
              <a:rPr sz="4600" b="0" i="1">
                <a:solidFill>
                  <a:srgbClr val="14213D"/>
                </a:solidFill>
                <a:latin typeface="Georgia"/>
              </a:rPr>
              <a:t>next project - which?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212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300">
                <a:solidFill>
                  <a:srgbClr val="E8761B"/>
                </a:solidFill>
                <a:latin typeface="Calibri"/>
              </a:rPr>
              <a:t>RULES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5778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1A1A1A"/>
                </a:solidFill>
                <a:latin typeface="Georgia"/>
              </a:rPr>
              <a:t>State the project. State the choice. Defend it in one sentence.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88 / 100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4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400">
                <a:solidFill>
                  <a:srgbClr val="E8761B"/>
                </a:solidFill>
                <a:latin typeface="Calibri"/>
              </a:rPr>
              <a:t>PART 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103120"/>
            <a:ext cx="1097280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400" b="0" i="1">
                <a:solidFill>
                  <a:srgbClr val="FFFFFF"/>
                </a:solidFill>
                <a:latin typeface="Georgia"/>
              </a:rPr>
              <a:t>Your turn.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FAF7F0"/>
                </a:solidFill>
                <a:latin typeface="Georgia"/>
              </a:rPr>
              <a:t>Three hours. The repo. Pair up. Go deep.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82296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800" b="0" i="0">
                <a:solidFill>
                  <a:srgbClr val="E8761B"/>
                </a:solidFill>
                <a:latin typeface="Consolas"/>
              </a:rPr>
              <a:t>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35508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899B0"/>
                </a:solidFill>
                <a:latin typeface="Calibri"/>
              </a:rPr>
              <a:t>CHAIR OF SUSTAINABILITY AND INNOVATION IN DIGITAL ECOSYSTEMS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20095" y="635508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899B0"/>
                </a:solidFill>
                <a:latin typeface="Consolas"/>
              </a:rPr>
              <a:t>89 / 100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HANDS-ON  ·  THE REPO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90 / 100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6B6B"/>
                </a:solidFill>
                <a:latin typeface="Georgia"/>
              </a:rPr>
              <a:t>Everything from today, plus the demos, plus the exercises.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0" i="0">
                <a:solidFill>
                  <a:srgbClr val="14213D"/>
                </a:solidFill>
                <a:latin typeface="Georgia"/>
              </a:rPr>
              <a:t>Clone this.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286000"/>
            <a:ext cx="6583680" cy="3474720"/>
          </a:xfrm>
          <a:prstGeom prst="rect">
            <a:avLst/>
          </a:prstGeom>
          <a:solidFill>
            <a:srgbClr val="1E21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542032"/>
            <a:ext cx="6071616" cy="2962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$ git clone \</a:t>
            </a:r>
          </a:p>
          <a:p>
            <a:pPr>
              <a:lnSpc>
                <a:spcPct val="135000"/>
              </a:lnSpc>
            </a:pPr>
            <a:r>
              <a:rPr sz="1300">
                <a:solidFill>
                  <a:srgbClr val="E8761B"/>
                </a:solidFill>
                <a:latin typeface="Consolas"/>
              </a:rPr>
              <a:t>    github.com/coronell123/</a:t>
            </a:r>
          </a:p>
          <a:p>
            <a:pPr>
              <a:lnSpc>
                <a:spcPct val="135000"/>
              </a:lnSpc>
            </a:pPr>
            <a:r>
              <a:rPr sz="1300">
                <a:solidFill>
                  <a:srgbClr val="E8761B"/>
                </a:solidFill>
                <a:latin typeface="Consolas"/>
              </a:rPr>
              <a:t>    pbb-vibecoding-masterclass.git</a:t>
            </a:r>
          </a:p>
          <a:p>
            <a:pPr>
              <a:lnSpc>
                <a:spcPct val="135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$ cd pbb-vibecoding-masterclass</a:t>
            </a:r>
          </a:p>
          <a:p>
            <a:pPr>
              <a:lnSpc>
                <a:spcPct val="135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$ bash check.sh</a:t>
            </a:r>
          </a:p>
          <a:p>
            <a:pPr>
              <a:lnSpc>
                <a:spcPct val="135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/>
            </a:r>
          </a:p>
          <a:p>
            <a:pPr>
              <a:lnSpc>
                <a:spcPct val="135000"/>
              </a:lnSpc>
            </a:pPr>
            <a:r>
              <a:rPr sz="1300">
                <a:solidFill>
                  <a:srgbClr val="98C379"/>
                </a:solidFill>
                <a:latin typeface="Consolas"/>
              </a:rPr>
              <a:t>  ✓ Node.js 20+</a:t>
            </a:r>
          </a:p>
          <a:p>
            <a:pPr>
              <a:lnSpc>
                <a:spcPct val="135000"/>
              </a:lnSpc>
            </a:pPr>
            <a:r>
              <a:rPr sz="1300">
                <a:solidFill>
                  <a:srgbClr val="98C379"/>
                </a:solidFill>
                <a:latin typeface="Consolas"/>
              </a:rPr>
              <a:t>  ✓ git</a:t>
            </a:r>
          </a:p>
          <a:p>
            <a:pPr>
              <a:lnSpc>
                <a:spcPct val="135000"/>
              </a:lnSpc>
            </a:pPr>
            <a:r>
              <a:rPr sz="1300">
                <a:solidFill>
                  <a:srgbClr val="98C379"/>
                </a:solidFill>
                <a:latin typeface="Consolas"/>
              </a:rPr>
              <a:t>  ✓ Claude Code installed</a:t>
            </a:r>
          </a:p>
          <a:p>
            <a:pPr>
              <a:lnSpc>
                <a:spcPct val="135000"/>
              </a:lnSpc>
            </a:pPr>
            <a:r>
              <a:rPr sz="1300">
                <a:solidFill>
                  <a:srgbClr val="98C379"/>
                </a:solidFill>
                <a:latin typeface="Consolas"/>
              </a:rPr>
              <a:t>  ✓ api.anthropic.com reachable</a:t>
            </a:r>
          </a:p>
          <a:p>
            <a:pPr>
              <a:lnSpc>
                <a:spcPct val="135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/>
            </a:r>
          </a:p>
          <a:p>
            <a:pPr>
              <a:lnSpc>
                <a:spcPct val="135000"/>
              </a:lnSpc>
            </a:pPr>
            <a:r>
              <a:rPr sz="1300">
                <a:solidFill>
                  <a:srgbClr val="98C379"/>
                </a:solidFill>
                <a:latin typeface="Consolas"/>
              </a:rPr>
              <a:t>  All good. See you on the day.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2286000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300">
                <a:solidFill>
                  <a:srgbClr val="E8761B"/>
                </a:solidFill>
                <a:latin typeface="Calibri"/>
              </a:rPr>
              <a:t>OR SCAN</a:t>
            </a:r>
          </a:p>
        </p:txBody>
      </p:sp>
      <p:pic>
        <p:nvPicPr>
          <p:cNvPr id="12" name="Picture 11" descr="repo-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2651760"/>
            <a:ext cx="3108960" cy="31089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680960" y="580644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github.com/coronell123/pbb-vibecoding-masterclass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5989320"/>
            <a:ext cx="6858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E8761B"/>
                </a:solidFill>
                <a:latin typeface="Georgia"/>
              </a:rPr>
              <a:t>If check.sh isn't green, raise your hand. Buddy starts without you.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HANDS-ON  ·  EXERCISES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91 / 100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6B6B"/>
                </a:solidFill>
                <a:latin typeface="Georgia"/>
              </a:rPr>
              <a:t>Ten exercises. Work in order until the break, then mix freely.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 i="0">
                <a:solidFill>
                  <a:srgbClr val="14213D"/>
                </a:solidFill>
                <a:latin typeface="Georgia"/>
              </a:rPr>
              <a:t>The ten exercises.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24028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E8761B"/>
                </a:solidFill>
                <a:latin typeface="Consolas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240280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14213D"/>
                </a:solidFill>
                <a:latin typeface="Georgia"/>
              </a:rPr>
              <a:t>First contact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2267712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Read code, plan an improvement — no edits.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60604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E8761B"/>
                </a:solidFill>
                <a:latin typeface="Consolas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2606040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14213D"/>
                </a:solidFill>
                <a:latin typeface="Georgia"/>
              </a:rPr>
              <a:t>Specs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0" y="2633472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Convert a fuzzy client wish into checkable criteria.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297180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E8761B"/>
                </a:solidFill>
                <a:latin typeface="Consolas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0" y="2971800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14213D"/>
                </a:solidFill>
                <a:latin typeface="Georgia"/>
              </a:rPr>
              <a:t>Plans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0" y="2999232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Critique three plans. Reject what's wrong.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33756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E8761B"/>
                </a:solidFill>
                <a:latin typeface="Consolas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45920" y="3337560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14213D"/>
                </a:solidFill>
                <a:latin typeface="Georgia"/>
              </a:rPr>
              <a:t>TDD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0" y="3364992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Red → green → refactor on validate_german_phone.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370332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E8761B"/>
                </a:solidFill>
                <a:latin typeface="Consolas"/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45920" y="3703320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14213D"/>
                </a:solidFill>
                <a:latin typeface="Georgia"/>
              </a:rPr>
              <a:t>Debug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0" y="3730752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Name the root cause before the fix.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406908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E8761B"/>
                </a:solidFill>
                <a:latin typeface="Consolas"/>
              </a:rPr>
              <a:t>06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45920" y="4069080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14213D"/>
                </a:solidFill>
                <a:latin typeface="Georgia"/>
              </a:rPr>
              <a:t>Subagents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0" y="4096512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Spawn three parallel investigators. Verify one claim.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443484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E8761B"/>
                </a:solidFill>
                <a:latin typeface="Consolas"/>
              </a:rPr>
              <a:t>07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45920" y="4434840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14213D"/>
                </a:solidFill>
                <a:latin typeface="Georgia"/>
              </a:rPr>
              <a:t>Orchestrator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0" y="4462272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Feature-by-feature build with verified handoffs.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480060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E8761B"/>
                </a:solidFill>
                <a:latin typeface="Consolas"/>
              </a:rPr>
              <a:t>08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645920" y="4800600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14213D"/>
                </a:solidFill>
                <a:latin typeface="Georgia"/>
              </a:rPr>
              <a:t>Playwright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0" y="4828032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Generate E2E tests for the Pomodoro app.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516636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E8761B"/>
                </a:solidFill>
                <a:latin typeface="Consolas"/>
              </a:rPr>
              <a:t>09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645920" y="5166360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14213D"/>
                </a:solidFill>
                <a:latin typeface="Georgia"/>
              </a:rPr>
              <a:t>Second Brain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0" y="5193792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Wire up an Obsidian SessionEnd hook.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" y="553212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E8761B"/>
                </a:solidFill>
                <a:latin typeface="Consolas"/>
              </a:rPr>
              <a:t>10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645920" y="5532120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14213D"/>
                </a:solidFill>
                <a:latin typeface="Georgia"/>
              </a:rPr>
              <a:t>ML scaffold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0" y="5559552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Train your own classifier. Read the numbers.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" y="59893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E8761B"/>
                </a:solidFill>
                <a:latin typeface="Georgia"/>
              </a:rPr>
              <a:t>Plus 11-build: pick a project, ship it, demo it.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HANDS-ON  ·  PAIR 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92 / 100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6B6B"/>
                </a:solidFill>
                <a:latin typeface="Georgia"/>
              </a:rPr>
              <a:t>Mixed pairs. High-experience with low. Buddy stays for the day.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0" i="0">
                <a:solidFill>
                  <a:srgbClr val="14213D"/>
                </a:solidFill>
                <a:latin typeface="Georgia"/>
              </a:rPr>
              <a:t>Trios, not duos.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286000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E8761B"/>
                </a:solidFill>
                <a:latin typeface="Consolas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304288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14213D"/>
                </a:solidFill>
                <a:latin typeface="Georgia"/>
              </a:rPr>
              <a:t>Pair up by show of hands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274320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Experience: 1 (never) → 5 (daily). Highs and lows pair.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154680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E8761B"/>
                </a:solidFill>
                <a:latin typeface="Consolas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3172968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14213D"/>
                </a:solidFill>
                <a:latin typeface="Georgia"/>
              </a:rPr>
              <a:t>Negotiate before prompting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61188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Two humans align on the prompt. Claude is the third party.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023360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E8761B"/>
                </a:solidFill>
                <a:latin typeface="Consolas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4041648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14213D"/>
                </a:solidFill>
                <a:latin typeface="Georgia"/>
              </a:rPr>
              <a:t>Driver/navigator rotates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48056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Every 15 minutes. Both seats teach you different things.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892040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E8761B"/>
                </a:solidFill>
                <a:latin typeface="Consolas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4910328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14213D"/>
                </a:solidFill>
                <a:latin typeface="Georgia"/>
              </a:rPr>
              <a:t>Talk through your plan out loud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53492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Your buddy is the first reviewer. Claude is the second.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HANDS-ON  ·  HOUSE RULES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93 / 100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6B6B"/>
                </a:solidFill>
                <a:latin typeface="Georgia"/>
              </a:rPr>
              <a:t>On the wall the whole time. Live by them today.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0" i="0">
                <a:solidFill>
                  <a:srgbClr val="14213D"/>
                </a:solidFill>
                <a:latin typeface="Georgia"/>
              </a:rPr>
              <a:t>Four rules for the room.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28600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 i="0">
                <a:solidFill>
                  <a:srgbClr val="E8761B"/>
                </a:solidFill>
                <a:latin typeface="Consolas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2331720"/>
            <a:ext cx="9601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14213D"/>
                </a:solidFill>
                <a:latin typeface="Georgia"/>
              </a:rPr>
              <a:t>Trios, not duos.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2743200"/>
            <a:ext cx="9601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You, your buddy, and Claude. Two humans negotiate before either prompts.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15468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 i="0">
                <a:solidFill>
                  <a:srgbClr val="E8761B"/>
                </a:solidFill>
                <a:latin typeface="Consolas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80" y="3200400"/>
            <a:ext cx="9601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14213D"/>
                </a:solidFill>
                <a:latin typeface="Georgia"/>
              </a:rPr>
              <a:t>Show your plan before your code.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11680" y="3611880"/>
            <a:ext cx="9601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If you're stuck and ask me, the first question back is “what's your plan?”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02336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 i="0">
                <a:solidFill>
                  <a:srgbClr val="E8761B"/>
                </a:solidFill>
                <a:latin typeface="Consolas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1680" y="4069080"/>
            <a:ext cx="9601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14213D"/>
                </a:solidFill>
                <a:latin typeface="Georgia"/>
              </a:rPr>
              <a:t>Evidence wins.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11680" y="4480560"/>
            <a:ext cx="9601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“It works” is not done. Show the green test. Show the screenshot. Verify.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89204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 i="0">
                <a:solidFill>
                  <a:srgbClr val="E8761B"/>
                </a:solidFill>
                <a:latin typeface="Consolas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11680" y="4937760"/>
            <a:ext cx="9601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14213D"/>
                </a:solidFill>
                <a:latin typeface="Georgia"/>
              </a:rPr>
              <a:t>No real client data.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11680" y="5349240"/>
            <a:ext cx="9601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Synthetic data only. No keys, no PII, no NDA-covered material.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4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400">
                <a:solidFill>
                  <a:srgbClr val="E8761B"/>
                </a:solidFill>
                <a:latin typeface="Calibri"/>
              </a:rPr>
              <a:t>YOUR TURN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286000"/>
            <a:ext cx="10972800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0" b="0" i="1">
                <a:solidFill>
                  <a:srgbClr val="FFFFFF"/>
                </a:solidFill>
                <a:latin typeface="Georgia"/>
              </a:rPr>
              <a:t>Go.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35508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899B0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35508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899B0"/>
                </a:solidFill>
                <a:latin typeface="Consolas"/>
              </a:rPr>
              <a:t>94 / 100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WRAP-UP  ·  THE RHYTHM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95 / 100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6B6B"/>
                </a:solidFill>
                <a:latin typeface="Georgia"/>
              </a:rPr>
              <a:t>If you take one thing home, take this.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0" i="0">
                <a:solidFill>
                  <a:srgbClr val="14213D"/>
                </a:solidFill>
                <a:latin typeface="Georgia"/>
              </a:rPr>
              <a:t>The rhythm, again.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2743200"/>
            <a:ext cx="2011680" cy="1463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2743200"/>
            <a:ext cx="2011680" cy="164592"/>
          </a:xfrm>
          <a:prstGeom prst="rect">
            <a:avLst/>
          </a:prstGeom>
          <a:solidFill>
            <a:srgbClr val="142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3291840"/>
            <a:ext cx="2011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0" i="1">
                <a:solidFill>
                  <a:srgbClr val="14213D"/>
                </a:solidFill>
                <a:latin typeface="Georgia"/>
              </a:rPr>
              <a:t>SPEC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3200400"/>
            <a:ext cx="14630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0" i="0">
                <a:solidFill>
                  <a:srgbClr val="E8761B"/>
                </a:solidFill>
                <a:latin typeface="Georgia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35224" y="2743200"/>
            <a:ext cx="2011680" cy="1463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35224" y="2743200"/>
            <a:ext cx="2011680" cy="164592"/>
          </a:xfrm>
          <a:prstGeom prst="rect">
            <a:avLst/>
          </a:prstGeom>
          <a:solidFill>
            <a:srgbClr val="142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09544" y="3291840"/>
            <a:ext cx="2011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0" i="1">
                <a:solidFill>
                  <a:srgbClr val="14213D"/>
                </a:solidFill>
                <a:latin typeface="Georgia"/>
              </a:rPr>
              <a:t>PLAN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46904" y="3200400"/>
            <a:ext cx="14630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0" i="0">
                <a:solidFill>
                  <a:srgbClr val="E8761B"/>
                </a:solidFill>
                <a:latin typeface="Georgia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93208" y="2743200"/>
            <a:ext cx="2011680" cy="1463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93208" y="2743200"/>
            <a:ext cx="2011680" cy="164592"/>
          </a:xfrm>
          <a:prstGeom prst="rect">
            <a:avLst/>
          </a:prstGeom>
          <a:solidFill>
            <a:srgbClr val="142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67528" y="3291840"/>
            <a:ext cx="2011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0" i="1">
                <a:solidFill>
                  <a:srgbClr val="14213D"/>
                </a:solidFill>
                <a:latin typeface="Georgia"/>
              </a:rPr>
              <a:t>TEST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04888" y="3200400"/>
            <a:ext cx="14630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0" i="0">
                <a:solidFill>
                  <a:srgbClr val="E8761B"/>
                </a:solidFill>
                <a:latin typeface="Georgia"/>
              </a:rPr>
              <a:t>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51192" y="2743200"/>
            <a:ext cx="2011680" cy="1463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51192" y="2743200"/>
            <a:ext cx="2011680" cy="164592"/>
          </a:xfrm>
          <a:prstGeom prst="rect">
            <a:avLst/>
          </a:prstGeom>
          <a:solidFill>
            <a:srgbClr val="142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25512" y="3291840"/>
            <a:ext cx="2011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0" i="1">
                <a:solidFill>
                  <a:srgbClr val="14213D"/>
                </a:solidFill>
                <a:latin typeface="Georgia"/>
              </a:rPr>
              <a:t>IMPLEMENT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62872" y="3200400"/>
            <a:ext cx="14630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0" i="0">
                <a:solidFill>
                  <a:srgbClr val="E8761B"/>
                </a:solidFill>
                <a:latin typeface="Georgia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409176" y="2743200"/>
            <a:ext cx="2011680" cy="1463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409176" y="2743200"/>
            <a:ext cx="2011680" cy="164592"/>
          </a:xfrm>
          <a:prstGeom prst="rect">
            <a:avLst/>
          </a:prstGeom>
          <a:solidFill>
            <a:srgbClr val="E87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83496" y="3291840"/>
            <a:ext cx="2011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0" i="1">
                <a:solidFill>
                  <a:srgbClr val="E8761B"/>
                </a:solidFill>
                <a:latin typeface="Georgia"/>
              </a:rPr>
              <a:t>VERIFY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50292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 i="1">
                <a:solidFill>
                  <a:srgbClr val="E8761B"/>
                </a:solidFill>
                <a:latin typeface="Georgia"/>
              </a:rPr>
              <a:t>In that order. Every time. Skip Verify and you didn't finish.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CAPSTONE  ·  AN ML PROJECT, START TO FINISH  ·  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96 / 100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6B6B"/>
                </a:solidFill>
                <a:latin typeface="Georgia"/>
              </a:rPr>
              <a:t>Before any code: five questions. Write the answers down.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0" i="0">
                <a:solidFill>
                  <a:srgbClr val="14213D"/>
                </a:solidFill>
                <a:latin typeface="Georgia"/>
              </a:rPr>
              <a:t>Frame the problem first.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194560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E8761B"/>
                </a:solidFill>
                <a:latin typeface="Consolas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21284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4213D"/>
                </a:solidFill>
                <a:latin typeface="Georgia"/>
              </a:rPr>
              <a:t>What do I have?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2578608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1A1A1A"/>
                </a:solidFill>
                <a:latin typeface="Calibri"/>
              </a:rPr>
              <a:t>Shape of the data. Rows, columns, label balance, how clean. Open the CSV. Look at it. One sentence describing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017520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E8761B"/>
                </a:solidFill>
                <a:latin typeface="Consolas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303580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4213D"/>
                </a:solidFill>
                <a:latin typeface="Georgia"/>
              </a:rPr>
              <a:t>What do I want?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401568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1A1A1A"/>
                </a:solidFill>
                <a:latin typeface="Calibri"/>
              </a:rPr>
              <a:t>Task type — classify, predict a number, cluster, generate. Be precise. A 'sentiment classifier' is not a task — '3-class sentiment on customer reviews' is.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840480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E8761B"/>
                </a:solidFill>
                <a:latin typeface="Consolas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85876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4213D"/>
                </a:solidFill>
                <a:latin typeface="Georgia"/>
              </a:rPr>
              <a:t>What does good look like?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224528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1A1A1A"/>
                </a:solidFill>
                <a:latin typeface="Calibri"/>
              </a:rPr>
              <a:t>A number with a threshold. 'macro-F1 ≥ 0.80 on held-out 20%' is checkable. 'Works well' is not. Decide before you train, not after.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663440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E8761B"/>
                </a:solidFill>
                <a:latin typeface="Consolas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468172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4213D"/>
                </a:solidFill>
                <a:latin typeface="Georgia"/>
              </a:rPr>
              <a:t>What's the constraint?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5047488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1A1A1A"/>
                </a:solidFill>
                <a:latin typeface="Calibri"/>
              </a:rPr>
              <a:t>CPU-only. Trains in under a minute. Fits on my laptop. Runs as a small Docker container. State this up front — it rules out the wrong models.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486400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E8761B"/>
                </a:solidFill>
                <a:latin typeface="Consolas"/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550468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4213D"/>
                </a:solidFill>
                <a:latin typeface="Georgia"/>
              </a:rPr>
              <a:t>What's the dumb baseline?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5870448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1A1A1A"/>
                </a:solidFill>
                <a:latin typeface="Calibri"/>
              </a:rPr>
              <a:t>Most-frequent-class. TF-IDF + logistic regression. If the dumb thing already clears the bar, ship that and go home.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CAPSTONE  ·  AN ML PROJECT, START TO FINISH  ·  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97 / 100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6B6B"/>
                </a:solidFill>
                <a:latin typeface="Georgia"/>
              </a:rPr>
              <a:t>Five answers become one spec. Hand the spec to Claude.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0" i="0">
                <a:solidFill>
                  <a:srgbClr val="14213D"/>
                </a:solidFill>
                <a:latin typeface="Georgia"/>
              </a:rPr>
              <a:t>The spec I'd hand to Claude.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148840"/>
            <a:ext cx="6583680" cy="3749039"/>
          </a:xfrm>
          <a:prstGeom prst="rect">
            <a:avLst/>
          </a:prstGeom>
          <a:solidFill>
            <a:srgbClr val="1E21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404872"/>
            <a:ext cx="6071616" cy="32369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100">
                <a:solidFill>
                  <a:srgbClr val="7F848A"/>
                </a:solidFill>
                <a:latin typeface="Consolas"/>
              </a:rPr>
              <a:t># SPEC — sentiment classifier on reviews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/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DATA       reviews.csv  ·  8k rows  ·  text + label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TASK       3-class classification (pos/neg/neutral)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/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98C379"/>
                </a:solidFill>
                <a:latin typeface="Consolas"/>
              </a:rPr>
              <a:t>SUCCESS    macro-F1 &gt;= 0.80 on held-out 20%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98C379"/>
                </a:solidFill>
                <a:latin typeface="Consolas"/>
              </a:rPr>
              <a:t>           confusion matrix to results.json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/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8761B"/>
                </a:solidFill>
                <a:latin typeface="Consolas"/>
              </a:rPr>
              <a:t>CONSTRAINTS  CPU only  ·  train &lt; 60s  ·  Docker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             exposes /predict and /health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/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BASELINE   most-frequent — beat by 30 pts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MODEL      TF-IDF + LinearSVC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06C75"/>
                </a:solidFill>
                <a:latin typeface="Consolas"/>
              </a:rPr>
              <a:t>NON-GOAL   no fine-tuning, no transformers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2148840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300">
                <a:solidFill>
                  <a:srgbClr val="E8761B"/>
                </a:solidFill>
                <a:latin typeface="Calibri"/>
              </a:rPr>
              <a:t>THE RHYTHM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0" y="25603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00">
                <a:solidFill>
                  <a:srgbClr val="E8761B"/>
                </a:solidFill>
                <a:latin typeface="Consolas"/>
              </a:rPr>
              <a:t>PLAN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0" y="2816352"/>
            <a:ext cx="4023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1A1A1A"/>
                </a:solidFill>
                <a:latin typeface="Calibri"/>
              </a:rPr>
              <a:t>Plan mode. Right model? Honest split?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0" y="310896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00">
                <a:solidFill>
                  <a:srgbClr val="E8761B"/>
                </a:solidFill>
                <a:latin typeface="Consolas"/>
              </a:rPr>
              <a:t>TEST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80960" y="3364992"/>
            <a:ext cx="4023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1A1A1A"/>
                </a:solidFill>
                <a:latin typeface="Calibri"/>
              </a:rPr>
              <a:t>Smoke test before train. 3 in, labels out.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36576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00">
                <a:solidFill>
                  <a:srgbClr val="E8761B"/>
                </a:solidFill>
                <a:latin typeface="Consolas"/>
              </a:rPr>
              <a:t>IMPLEMENT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0" y="3913632"/>
            <a:ext cx="4023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1A1A1A"/>
                </a:solidFill>
                <a:latin typeface="Calibri"/>
              </a:rPr>
              <a:t>Approve. Claude writes pipeline + eval.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0" y="42062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00">
                <a:solidFill>
                  <a:srgbClr val="E8761B"/>
                </a:solidFill>
                <a:latin typeface="Consolas"/>
              </a:rPr>
              <a:t>VERIFY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0" y="4462272"/>
            <a:ext cx="4023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1A1A1A"/>
                </a:solidFill>
                <a:latin typeface="Calibri"/>
              </a:rPr>
              <a:t>Run it. Beat baseline? Honest confusion?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475488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00">
                <a:solidFill>
                  <a:srgbClr val="E8761B"/>
                </a:solidFill>
                <a:latin typeface="Consolas"/>
              </a:rPr>
              <a:t>CONTAINER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0" y="5010912"/>
            <a:ext cx="4023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1A1A1A"/>
                </a:solidFill>
                <a:latin typeface="Calibri"/>
              </a:rPr>
              <a:t>Dockerfile + compose. docker run, /predict.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0" y="53035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200">
                <a:solidFill>
                  <a:srgbClr val="E8761B"/>
                </a:solidFill>
                <a:latin typeface="Consolas"/>
              </a:rPr>
              <a:t>DEPLOY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0960" y="5559552"/>
            <a:ext cx="4023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1A1A1A"/>
                </a:solidFill>
                <a:latin typeface="Calibri"/>
              </a:rPr>
              <a:t>Push image. Smoke staging. Logs flowing.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9893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 i="1">
                <a:solidFill>
                  <a:srgbClr val="E8761B"/>
                </a:solidFill>
                <a:latin typeface="Georgia"/>
              </a:rPr>
              <a:t>The thinking is yours. The typing is Claude's.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WRAP-UP  ·  HONESTY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98 / 100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6B6B"/>
                </a:solidFill>
                <a:latin typeface="Georgia"/>
              </a:rPr>
              <a:t>We spent today on the right way. Here's the other half.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0" i="0">
                <a:solidFill>
                  <a:srgbClr val="14213D"/>
                </a:solidFill>
                <a:latin typeface="Georgia"/>
              </a:rPr>
              <a:t>When NOT to use Claude Code.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28600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E8761B"/>
                </a:solidFill>
                <a:latin typeface="Georgia"/>
              </a:rPr>
              <a:t>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286000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4213D"/>
                </a:solidFill>
                <a:latin typeface="Georgia"/>
              </a:rPr>
              <a:t>High-stakes security-critical code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0" y="2331720"/>
            <a:ext cx="6217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Human review is non-negotiable.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97180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E8761B"/>
                </a:solidFill>
                <a:latin typeface="Georgia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971800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4213D"/>
                </a:solidFill>
                <a:latin typeface="Georgia"/>
              </a:rPr>
              <a:t>Code touching real client data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3017520"/>
            <a:ext cx="6217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Confidentiality rules apply. Personal accounts only.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65760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E8761B"/>
                </a:solidFill>
                <a:latin typeface="Georgia"/>
              </a:rPr>
              <a:t>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657600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4213D"/>
                </a:solidFill>
                <a:latin typeface="Georgia"/>
              </a:rPr>
              <a:t>When you don't know what you want yet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0" y="3703320"/>
            <a:ext cx="6217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Talk to a human first. Claude can't decide what to build.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34340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E8761B"/>
                </a:solidFill>
                <a:latin typeface="Georgia"/>
              </a:rPr>
              <a:t>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343400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4213D"/>
                </a:solidFill>
                <a:latin typeface="Georgia"/>
              </a:rPr>
              <a:t>Five-line tweaks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0" y="4389120"/>
            <a:ext cx="6217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Just type them. Overhead isn't worth it.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02920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E8761B"/>
                </a:solidFill>
                <a:latin typeface="Georgia"/>
              </a:rPr>
              <a:t>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5029200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4213D"/>
                </a:solidFill>
                <a:latin typeface="Georgia"/>
              </a:rPr>
              <a:t>When the problem isn't a software problem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0" y="5074920"/>
            <a:ext cx="6217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Most “tech” problems are coordination problems.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WRAP-UP  ·  TAKE WITH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99 / 100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6B6B"/>
                </a:solidFill>
                <a:latin typeface="Georgia"/>
              </a:rPr>
              <a:t>Bookmark these. Office hours open for two weeks.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0" i="0">
                <a:solidFill>
                  <a:srgbClr val="14213D"/>
                </a:solidFill>
                <a:latin typeface="Georgia"/>
              </a:rPr>
              <a:t>Resources.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28600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E8761B"/>
                </a:solidFill>
                <a:latin typeface="Georgia"/>
              </a:rPr>
              <a:t>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228600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14213D"/>
                </a:solidFill>
                <a:latin typeface="Georgia"/>
              </a:rPr>
              <a:t>Workshop repo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233172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B6B6B"/>
                </a:solidFill>
                <a:latin typeface="Consolas"/>
              </a:rPr>
              <a:t>github.com/coronell123/pbb-vibecoding-masterclass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88036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E8761B"/>
                </a:solidFill>
                <a:latin typeface="Georgia"/>
              </a:rPr>
              <a:t>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288036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14213D"/>
                </a:solidFill>
                <a:latin typeface="Georgia"/>
              </a:rPr>
              <a:t>Anthropic docs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0" y="292608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B6B6B"/>
                </a:solidFill>
                <a:latin typeface="Consolas"/>
              </a:rPr>
              <a:t>code.claude.com/docs/en  ·  the source of truth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47472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E8761B"/>
                </a:solidFill>
                <a:latin typeface="Georgia"/>
              </a:rPr>
              <a:t>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347472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14213D"/>
                </a:solidFill>
                <a:latin typeface="Georgia"/>
              </a:rPr>
              <a:t>Anthropic Skilljar (free)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0" y="352044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B6B6B"/>
                </a:solidFill>
                <a:latin typeface="Consolas"/>
              </a:rPr>
              <a:t>Claude Code in Action — official video course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06908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E8761B"/>
                </a:solidFill>
                <a:latin typeface="Georgia"/>
              </a:rPr>
              <a:t>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406908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14213D"/>
                </a:solidFill>
                <a:latin typeface="Georgia"/>
              </a:rPr>
              <a:t>Cheatsheet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0" y="411480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B6B6B"/>
                </a:solidFill>
                <a:latin typeface="Consolas"/>
              </a:rPr>
              <a:t>_handouts/cheatsheet.md — top commands and anti-patterns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66344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E8761B"/>
                </a:solidFill>
                <a:latin typeface="Georgia"/>
              </a:rPr>
              <a:t>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80160" y="466344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14213D"/>
                </a:solidFill>
                <a:latin typeface="Georgia"/>
              </a:rPr>
              <a:t>Plan Critique Checklist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0" y="470916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B6B6B"/>
                </a:solidFill>
                <a:latin typeface="Consolas"/>
              </a:rPr>
              <a:t>_handouts/plan-critique-checklist.md — the five questions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25780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E8761B"/>
                </a:solidFill>
                <a:latin typeface="Georgia"/>
              </a:rPr>
              <a:t>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80160" y="525780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14213D"/>
                </a:solidFill>
                <a:latin typeface="Georgia"/>
              </a:rPr>
              <a:t>Office hours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0" y="530352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B6B6B"/>
                </a:solidFill>
                <a:latin typeface="Consolas"/>
              </a:rPr>
              <a:t>30-min slots for two weeks. Email me to book.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4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400">
                <a:solidFill>
                  <a:srgbClr val="E8761B"/>
                </a:solidFill>
                <a:latin typeface="Calibri"/>
              </a:rPr>
              <a:t>ONE THING TO TAKE HOME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400" b="0" i="1">
                <a:solidFill>
                  <a:srgbClr val="FFFFFF"/>
                </a:solidFill>
                <a:latin typeface="Georgia"/>
              </a:rPr>
              <a:t>Spec.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40280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400" b="0" i="1">
                <a:solidFill>
                  <a:srgbClr val="FFFFFF"/>
                </a:solidFill>
                <a:latin typeface="Georgia"/>
              </a:rPr>
              <a:t>Plan.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00400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400" b="0" i="1">
                <a:solidFill>
                  <a:srgbClr val="FFFFFF"/>
                </a:solidFill>
                <a:latin typeface="Georgia"/>
              </a:rPr>
              <a:t>Test.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160520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400" b="0" i="1">
                <a:solidFill>
                  <a:srgbClr val="FFFFFF"/>
                </a:solidFill>
                <a:latin typeface="Georgia"/>
              </a:rPr>
              <a:t>Implement.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120640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400" b="0" i="1">
                <a:solidFill>
                  <a:srgbClr val="E8761B"/>
                </a:solidFill>
                <a:latin typeface="Georgia"/>
              </a:rPr>
              <a:t>Verify.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62495" y="173736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 spc="400">
                <a:solidFill>
                  <a:srgbClr val="E8761B"/>
                </a:solidFill>
                <a:latin typeface="Calibri"/>
              </a:rPr>
              <a:t>IN THAT ORDER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62495" y="21488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 spc="400">
                <a:solidFill>
                  <a:srgbClr val="E8761B"/>
                </a:solidFill>
                <a:latin typeface="Calibri"/>
              </a:rPr>
              <a:t>EVERY TIME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62495" y="4114800"/>
            <a:ext cx="4572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4400" b="0" i="1">
                <a:solidFill>
                  <a:srgbClr val="FFFFFF"/>
                </a:solidFill>
                <a:latin typeface="Georgia"/>
              </a:rPr>
              <a:t>Thank you.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35508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200">
                <a:solidFill>
                  <a:srgbClr val="8899B0"/>
                </a:solidFill>
                <a:latin typeface="Calibri"/>
              </a:rPr>
              <a:t>ELIAS JELINEK  ·  PLACE BEYOND BYTES  ·  SUST  ·  UDE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899B0"/>
                </a:solidFill>
                <a:latin typeface="Consolas"/>
              </a:rPr>
              <a:t>100 / 100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