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822960"/>
            <a:ext cx="2011680" cy="1270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A MASTERCLASS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0" b="0" i="1">
                <a:solidFill>
                  <a:srgbClr val="FFFFFF"/>
                </a:solidFill>
                <a:latin typeface="Georgia"/>
              </a:rPr>
              <a:t>Vibecoding.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9476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FAF7F0"/>
                </a:solidFill>
                <a:latin typeface="Georgia"/>
              </a:rPr>
              <a:t>Direct, verify, ship — with Claude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26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761B"/>
                </a:solidFill>
                <a:latin typeface="Consolas"/>
              </a:rPr>
              <a:t>&gt; a four-hour masterclass on agentic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FFFFFF"/>
                </a:solidFill>
                <a:latin typeface="Calibri"/>
              </a:rPr>
              <a:t>ELIAS JELINEK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AF7F0"/>
                </a:solidFill>
                <a:latin typeface="Calibri"/>
              </a:rPr>
              <a:t>Place Beyond Bytes  ·  Chair of Sustainability and Innovation in Digital Ecosystems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AF7F0"/>
                </a:solidFill>
                <a:latin typeface="Calibri"/>
              </a:rPr>
              <a:t>University of Duisburg-Essen  ·  Summer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99B0"/>
                </a:solidFill>
                <a:latin typeface="Consolas"/>
              </a:rPr>
              <a:t>01 / 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ABOUT THE INSTRUCTOR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02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WHO IS RUNNING THIS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 i="1">
                <a:solidFill>
                  <a:srgbClr val="14213D"/>
                </a:solidFill>
                <a:latin typeface="Georgia"/>
              </a:rPr>
              <a:t>Hi. I'm Elias.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WHAT I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68580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A1A1A"/>
                </a:solidFill>
                <a:latin typeface="Georgia"/>
              </a:rPr>
              <a:t>I research AI agents for the founding phase of startups - how teams can use agentic systems to go from idea to MVP to first revenue with a fraction of the headcount.</a:t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1A1A1A"/>
                </a:solidFill>
                <a:latin typeface="Georgia"/>
              </a:rPr>
              <a:t>On the side, I build the thing I research: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743200"/>
            <a:ext cx="3657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63840" y="2743200"/>
            <a:ext cx="146304" cy="155448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880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14213D"/>
                </a:solidFill>
                <a:latin typeface="Calibri"/>
              </a:rPr>
              <a:t>QUERSHIFT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32461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761B"/>
                </a:solidFill>
                <a:latin typeface="Georgia"/>
              </a:rPr>
              <a:t>Agentic AI startup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6118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Building exactly the kind of system this masterclass teaches.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4526280"/>
            <a:ext cx="36576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63840" y="4526280"/>
            <a:ext cx="146304" cy="12801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46634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14213D"/>
                </a:solidFill>
                <a:latin typeface="Calibri"/>
              </a:rPr>
              <a:t>DIFFUSIONE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50292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761B"/>
                </a:solidFill>
                <a:latin typeface="Georgia"/>
              </a:rPr>
              <a:t>Side ventures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53949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Where I keep building things by hand.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Georgia"/>
              </a:rPr>
              <a:t>Plus a chair seat at the University of Duisburg-Essen - same topic.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WHAT THE NEXT HOUR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03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An hour of theory and demos. Then three hours of doing.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Agenda.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8761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945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What's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2199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Six live demos — code, multi-agent, browser, ML,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8761B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974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The mindset shift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72491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From vibe-coding to agentic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8761B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2004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Coding workflows — the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2783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Specs, plans, repo setup, tests, orchestrator,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8761B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7033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Beyond 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3075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Daily automations, project management, Second Brain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0624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8761B"/>
                </a:solidFill>
                <a:latin typeface="Consola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062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AI 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23367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Using Claude Code to scaffold ML training, RAG, evals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70916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8761B"/>
                </a:solidFill>
                <a:latin typeface="Consolas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47091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The wider toolbox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73659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Cursor, Cline, Aider, Codex — when to use what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12080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E8761B"/>
                </a:solidFill>
                <a:latin typeface="Consolas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2120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Your turn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23951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Three hours of hands-on, in pairs, in this repo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TIME TO BUILD AN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0" i="1">
                <a:solidFill>
                  <a:srgbClr val="FFFFFF"/>
                </a:solidFill>
                <a:latin typeface="Georgia"/>
              </a:rPr>
              <a:t>By 18:00 today,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0" i="1">
                <a:solidFill>
                  <a:srgbClr val="E8761B"/>
                </a:solidFill>
                <a:latin typeface="Georgia"/>
              </a:rPr>
              <a:t>you'll have shipped</a:t>
            </a:r>
          </a:p>
          <a:p>
            <a:pPr algn="l">
              <a:lnSpc>
                <a:spcPct val="110000"/>
              </a:lnSpc>
            </a:pPr>
            <a:r>
              <a:rPr sz="5400" b="0" i="1">
                <a:solidFill>
                  <a:srgbClr val="E8761B"/>
                </a:solidFill>
                <a:latin typeface="Georgia"/>
              </a:rPr>
              <a:t>something real.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AF7F0"/>
                </a:solidFill>
                <a:latin typeface="Georgia"/>
              </a:rPr>
              <a:t>Pick one: a CLI tool - a data script - a small web scraper - a trained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899B0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99B0"/>
                </a:solidFill>
                <a:latin typeface="Consolas"/>
              </a:rPr>
              <a:t>04 / 95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DEFINITIONS  ·  01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05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First, two terms. They sound similar. They're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Vibe Coding.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38100" cy="274320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0" i="1">
                <a:solidFill>
                  <a:srgbClr val="14213D"/>
                </a:solidFill>
                <a:latin typeface="Georgia"/>
              </a:rPr>
              <a:t>“I described what I wanted in plain English</a:t>
            </a:r>
          </a:p>
          <a:p>
            <a:pPr algn="l">
              <a:lnSpc>
                <a:spcPct val="130000"/>
              </a:lnSpc>
            </a:pPr>
            <a:r>
              <a:rPr sz="2600" b="0" i="1">
                <a:solidFill>
                  <a:srgbClr val="14213D"/>
                </a:solidFill>
                <a:latin typeface="Georgia"/>
              </a:rPr>
              <a:t>and the AI built it.”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023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E8761B"/>
                </a:solidFill>
                <a:latin typeface="Georgia"/>
              </a:rPr>
              <a:t>Fast. Magical. Often broken on the second input.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526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Calibri"/>
              </a:rPr>
              <a:t>Great for prototypes. Great for solo weekends. Less great for clients.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The vibe is the prompt. The result is whatever Claude felt like producing.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DEFINITIONS  ·  02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06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Where this masterclass actually lives.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Agentic Engineering.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53949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5394960" cy="50292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8775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VIBE CODING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375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4213D"/>
                </a:solidFill>
                <a:latin typeface="Georgia"/>
              </a:rPr>
              <a:t>Prompt -&gt; result.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You ask. AI delivers. You verify (or don't).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Works for: throwaway scripts, quick prototypes, fun.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468880"/>
            <a:ext cx="5029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2468880"/>
            <a:ext cx="5029200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58775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AGENTIC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337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4213D"/>
                </a:solidFill>
                <a:latin typeface="Georgia"/>
              </a:rPr>
              <a:t>Spec -&gt; plan -&gt; verify -&gt; repeat.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9319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You stay the engineer. AI does the typing. Every step has evidence.</a:t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Works for: clients, production systems, your career.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Today is about the right side. The left is just where we start.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QUICK PRIMER  ·  01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07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Forty seconds. Enough to understand what's actually happening.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What is an LLM?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36118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3611880" cy="45720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42032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30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TRAINED ON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Read most of the internet, plus books, code, papers - once.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468880"/>
            <a:ext cx="36118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468880"/>
            <a:ext cx="3611880" cy="45720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542032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30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2004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PREDICTS NEXT TOKEN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79476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Given a sequence so far, returns the most likely next chunk.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468880"/>
            <a:ext cx="36118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2468880"/>
            <a:ext cx="3611880" cy="45720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542032"/>
            <a:ext cx="3611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 spc="30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004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REPEATED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794760"/>
            <a:ext cx="3246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Run that prediction over and over. The result looks like reasoning.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It is not a database. It is not a calculator. It is a very good guesser.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Everything we'll learn today is about how to make the guessing useful.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QUICK PRIMER  ·  02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08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Same underlying tech. Very different products.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14213D"/>
                </a:solidFill>
                <a:latin typeface="Georgia"/>
              </a:rPr>
              <a:t>Claude - and where it sits.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VENDOR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WHAT IT'S BEST 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72865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A1A1A"/>
                </a:solidFill>
                <a:latin typeface="Georgia"/>
              </a:rPr>
              <a:t>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81635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onsolas"/>
              </a:rPr>
              <a:t>OpenAI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1635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General-purpose chatbot, biggest mindshare, broadest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A1A1A"/>
                </a:solidFill>
                <a:latin typeface="Georgia"/>
              </a:rPr>
              <a:t>CLAUDE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41071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onsolas"/>
              </a:rPr>
              <a:t>Anthropic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1071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Strong on long context, careful reasoning, agentic workflows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7764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A1A1A"/>
                </a:solidFill>
                <a:latin typeface="Georgia"/>
              </a:rPr>
              <a:t>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00507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onsolas"/>
              </a:rPr>
              <a:t>Google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0507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Tight Workspace integration, strong multi-modal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1A1A1A"/>
                </a:solidFill>
                <a:latin typeface="Georgia"/>
              </a:rPr>
              <a:t>LLAMA / MISTRAL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59943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onsolas"/>
              </a:rPr>
              <a:t>Open weights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9943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Run locally or on your own infra; smaller, hackable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1">
                <a:solidFill>
                  <a:srgbClr val="E8761B"/>
                </a:solidFill>
                <a:latin typeface="Georgia"/>
              </a:rPr>
              <a:t>CLAUDE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19379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onsolas"/>
              </a:rPr>
              <a:t>Anthropic CLI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19379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What we'll use today - a terminal-native agent harness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THE MATURITY LADDER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09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Where AI lives in your workflow. Each rung needs different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Five levels of AI integration.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548640" cy="41148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24028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761B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6771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5877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onsolas"/>
              </a:rPr>
              <a:t>ChatGPT, Claude.ai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6771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Tab open. Copy-paste. Manual.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1280160" cy="41148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8803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761B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90779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IDE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2783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onsolas"/>
              </a:rPr>
              <a:t>Cursor, Copilot, Continue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90779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AI in your editor. Inline completions, side-chat.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11880"/>
            <a:ext cx="2011680" cy="41148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35204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761B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54787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AGENTIC 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8679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onsolas"/>
              </a:rPr>
              <a:t>Claude Code, Aider, Codex CLI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54787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Terminal-native. Plans, edits, runs tests.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251960"/>
            <a:ext cx="2743200" cy="41148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41605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761B"/>
                </a:solidFill>
                <a:latin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18795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MULTI-AGENT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50799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onsolas"/>
              </a:rPr>
              <a:t>Agent Teams, custom harnesses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18795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Orchestrator + subagents. Parallel work, verified handoffs.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92040"/>
            <a:ext cx="3474720" cy="41148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48006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E8761B"/>
                </a:solidFill>
                <a:latin typeface="Consola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828032"/>
            <a:ext cx="2286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AUTO-DEV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14807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onsolas"/>
              </a:rPr>
              <a:t>Anthropic Routines, Devin-class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828032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Continuous: spec in, deployed code out. Human approves milestones.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Today we operate at levels 3 and 4 - and look at level 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THE HARNESS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10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What turns a chatbot into an agent. What Claude Code actually 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What is an agent harness?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THE SHORT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50292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Georgia"/>
              </a:rPr>
              <a:t>A program that gives an LLM the ability to do things.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Georgia"/>
              </a:rPr>
              <a:t>Read files. Run commands. Call APIs. Loop until done. Stop when stuck. Ask for approval.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A1A1A"/>
                </a:solidFill>
                <a:latin typeface="Georgia"/>
              </a:rPr>
              <a:t>The LLM is the brain. The harness is the body.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WHAT'S INSIDE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743200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128016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770632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213D"/>
                </a:solidFill>
                <a:latin typeface="Consolas"/>
              </a:rPr>
              <a:t>LLM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807208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The model. Predicts the next 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346704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346704"/>
            <a:ext cx="128016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3374136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213D"/>
                </a:solidFill>
                <a:latin typeface="Consolas"/>
              </a:rPr>
              <a:t>TOOL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410712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Read, Write, Edit, Bash, WebFetch, MCP servers.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950208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950208"/>
            <a:ext cx="128016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9776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213D"/>
                </a:solidFill>
                <a:latin typeface="Consolas"/>
              </a:rPr>
              <a:t>CONTEXT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014216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What's in the prompt right now. Files, memory, history.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4553712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4553712"/>
            <a:ext cx="128016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581144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213D"/>
                </a:solidFill>
                <a:latin typeface="Consolas"/>
              </a:rPr>
              <a:t>LOOP / PLANNER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6177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Decides what to do next. Detects done. Detects stuck.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157216"/>
            <a:ext cx="50292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5157216"/>
            <a:ext cx="128016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518464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4213D"/>
                </a:solidFill>
                <a:latin typeface="Consolas"/>
              </a:rPr>
              <a:t>PERMISSIONS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522122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Asks before destructive actions. Sandboxes.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THE FULL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11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Real software has more than five steps. Here's the bigger loop.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4213D"/>
                </a:solidFill>
                <a:latin typeface="Georgia"/>
              </a:rPr>
              <a:t>Plan -&gt; Test -&gt; Implement -&gt; Deploy -&gt; Maintain.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2157984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2157984" cy="4114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5059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718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7472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Spec it. Sketch the plan.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9504" y="3291840"/>
            <a:ext cx="54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Georgia"/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44368" y="2377440"/>
            <a:ext cx="2157984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44368" y="2377440"/>
            <a:ext cx="2157984" cy="4114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72968" y="245059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2968" y="29718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2968" y="347472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Failing tests first. Define done.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3291840"/>
            <a:ext cx="54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Georgia"/>
              </a:rP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57216" y="2377440"/>
            <a:ext cx="2157984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57216" y="2377440"/>
            <a:ext cx="2157984" cy="4114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85816" y="245059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816" y="29718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IMPLEMENT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5816" y="347472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Code. Pass the tests.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291840"/>
            <a:ext cx="54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Georgia"/>
              </a:rPr>
              <a:t>-&gt;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70064" y="2377440"/>
            <a:ext cx="2157984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70064" y="2377440"/>
            <a:ext cx="2157984" cy="41148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98664" y="245059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4" y="29718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DEPLOY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8664" y="347472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Ship to staging. Smoke-check.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48" y="3291840"/>
            <a:ext cx="548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Georgia"/>
              </a:rPr>
              <a:t>-&gt;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82912" y="2377440"/>
            <a:ext cx="2157984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82912" y="2377440"/>
            <a:ext cx="2157984" cy="41148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11512" y="245059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1512" y="2971800"/>
            <a:ext cx="17922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MAINTAIN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11512" y="3474720"/>
            <a:ext cx="17922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Watch logs. Fix regressions. Loop.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E8761B"/>
                </a:solidFill>
                <a:latin typeface="Georgia"/>
              </a:rPr>
              <a:t>back to PLAN.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Most teams stop at step 3. The whole point of agentic work is step 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DISCUSSION  ·  04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1">
                <a:solidFill>
                  <a:srgbClr val="14213D"/>
                </a:solidFill>
                <a:latin typeface="Georgia"/>
              </a:rPr>
              <a:t>What's the most boring,</a:t>
            </a:r>
          </a:p>
          <a:p>
            <a:pPr algn="l">
              <a:lnSpc>
                <a:spcPct val="110000"/>
              </a:lnSpc>
            </a:pPr>
            <a:r>
              <a:rPr sz="4600" b="0" i="1">
                <a:solidFill>
                  <a:srgbClr val="14213D"/>
                </a:solidFill>
                <a:latin typeface="Georgia"/>
              </a:rPr>
              <a:t>most repetitive thing</a:t>
            </a:r>
          </a:p>
          <a:p>
            <a:pPr algn="l">
              <a:lnSpc>
                <a:spcPct val="110000"/>
              </a:lnSpc>
            </a:pPr>
            <a:r>
              <a:rPr sz="4600" b="0" i="1">
                <a:solidFill>
                  <a:srgbClr val="14213D"/>
                </a:solidFill>
                <a:latin typeface="Georgia"/>
              </a:rPr>
              <a:t>you do every week?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212080"/>
            <a:ext cx="109728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HOW TO 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715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A1A1A"/>
                </a:solidFill>
                <a:latin typeface="Georgia"/>
              </a:rPr>
              <a:t>Two minutes with your buddy. Then two pairs share with the room.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12 / 95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DEMO 01  ·  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13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From one paragraph to a working app, in under five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4213D"/>
                </a:solidFill>
                <a:latin typeface="Georgia"/>
              </a:rPr>
              <a:t>Vibe-build an MVP.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4937760" cy="219456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30551"/>
            <a:ext cx="4425696" cy="1682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E8761B"/>
                </a:solidFill>
                <a:latin typeface="Consolas"/>
              </a:rPr>
              <a:t>&gt; claude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"Build a Pomodoro timer.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25 min focus, 5 min rest.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Stats persist. Editorial style.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 Cream + coral. No frameworks."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34075" y="1864994"/>
            <a:ext cx="5505450" cy="3128010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1-pomodo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74519"/>
            <a:ext cx="5486400" cy="3108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0" y="5074919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6B6B"/>
                </a:solidFill>
                <a:latin typeface="Calibri"/>
              </a:rPr>
              <a:t>Final UI · localStorage persistence · zero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ONE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No framework. No build step. Spec-tight prompt + plan mode + render = working app.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But this is the easy part. Now what about real software?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DEMO 02  ·  THE FULL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14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How production-ish features actually move through Claude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Spec → Plan → Implementation.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demos/02-…/spec.md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3611880" cy="356616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3099816" cy="3054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>
                <a:solidFill>
                  <a:srgbClr val="E8761B"/>
                </a:solidFill>
                <a:latin typeface="Consolas"/>
              </a:rPr>
              <a:t># Spec — CSV Export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7F848A"/>
                </a:solidFill>
                <a:latin typeface="Consolas"/>
              </a:rPr>
              <a:t>Owner: Elias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7F848A"/>
                </a:solidFill>
                <a:latin typeface="Consolas"/>
              </a:rPr>
              <a:t>Status: approved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## Checkable criteria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1. export_to_csv(rows, out) ...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2. Header row present.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3. UTF-8, RFC 4180.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4. Empty rows → header only.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5. Refuses to overwrite.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## Out of scope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7F848A"/>
                </a:solidFill>
                <a:latin typeface="Consolas"/>
              </a:rPr>
              <a:t>- xlsx output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7F848A"/>
                </a:solidFill>
                <a:latin typeface="Consolas"/>
              </a:rPr>
              <a:t>- multi-currency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29968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demos/02-…/plan.md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2286000"/>
            <a:ext cx="3611880" cy="356616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542032"/>
            <a:ext cx="3099816" cy="3054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>
                <a:solidFill>
                  <a:srgbClr val="E8761B"/>
                </a:solidFill>
                <a:latin typeface="Consolas"/>
              </a:rPr>
              <a:t># Plan — CSV Export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→ parser.py: add export_to_csv()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→ tests/test_export.py: 3 tests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## Assumptions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- csv.DictWriter, comma delim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- Path-wrap out_path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## Done when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- 3 tests green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>- empty.csv has 1 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DIFF +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029968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parser.py + pytest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286000"/>
            <a:ext cx="3611880" cy="356616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2" y="2542032"/>
            <a:ext cx="3099816" cy="3054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+ CSV_COLUMNS = ('date',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    'shop', 'item',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    'price', 'currency')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+ def export_to_csv(rows, out):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+     if out.exists():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+         raise FileExistsError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test_round_trip       PASSED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test_empty_header     PASSED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test_refuses_over     PASSED</a:t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00">
                <a:solidFill>
                  <a:srgbClr val="98C379"/>
                </a:solidFill>
                <a:latin typeface="Consolas"/>
              </a:rPr>
              <a:t>=== 3 passed in 0.04s ===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Three artifacts. Each reviewable. Each persists after the code ships.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DEMO 03  · 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15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One conversation. Three parallel investigators. Synthesized in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Multi-agent in motion.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10698480" cy="402336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30551"/>
            <a:ext cx="10186416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>
                <a:solidFill>
                  <a:srgbClr val="E8761B"/>
                </a:solidFill>
                <a:latin typeface="Consolas"/>
              </a:rPr>
              <a:t>&gt; claude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You: Spawn three Explore subagents in parallel on this codebase. Ask: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(1) where is URL validation done?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(2) external dependencies and pinned versions?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(3) any password or token leaking into logs?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Synthesize.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[orchestrator] Dispatching 3 Explore agents in parallel...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AGENT 1  →  validators ⏎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AGENT 2  →  dependencies ⏎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AGENT 3  →  security audit ⏎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[2.4s] AGENT 1 returned (1 finding)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[2.7s] AGENT 2 returned (4 findings)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[3.1s] AGENT 3 returned (2 findings, HIGH severity)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Synthesis: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URL validation lives in validators.py:9. The shortener has a weaker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fallback regex at shortener.py:14 — recommend consolidating.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Pinned deps: requests==2.31.0, click==8.1.7, pydantic==2.6.1,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sqlalchemy==2.0.27. All current.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Three parallel agents. One synthesis. You read it like a tech lead.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DEMO 04  ·  BEYOND THE TERMINAL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16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Claude Code drives a real browser — extraction, automation, admin.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Browser-driving Claude.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10698480" cy="402336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30551"/>
            <a:ext cx="10186416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>
                <a:solidFill>
                  <a:srgbClr val="E8761B"/>
                </a:solidFill>
                <a:latin typeface="Consolas"/>
              </a:rPr>
              <a:t>&gt; claude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You: Open arxiv.org/list/cs.AI/recent in Chrome. Extract the top 5 paper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titles with their submission dates. Output as JSON.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[claude] Using Chrome MCP...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98C379"/>
                </a:solidFill>
                <a:latin typeface="Consolas"/>
              </a:rPr>
              <a:t>  ✓ tab_create  https://arxiv.org/list/cs.AI/recent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98C379"/>
                </a:solidFill>
                <a:latin typeface="Consolas"/>
              </a:rPr>
              <a:t>  ✓ get_page_text                                 (1.2s)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98C379"/>
                </a:solidFill>
                <a:latin typeface="Consolas"/>
              </a:rPr>
              <a:t>  ✓ extracted 5 entries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[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{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"title": "Direct Preference Optimization for Code Agents",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"authors": "Wang, Chen, Müller",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"submitted": "2026-05-13",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"id": "2605.04812"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{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"title": "Spec-Driven Generation: A Survey of Production Workflows",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"authors": "Park, Iyer, Schmidt",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"submitted": "2026-05-13",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"id": "2605.04780"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},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{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"title": "Verified Subagent Composition in Multi-Agent Coding Systems",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"authors": "Garcia, Liu",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Same model, different surface. Code is just one of the surfaces.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DEMO 05  ·  TRAINING 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17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20-newsgroups, four topics. Claude scaffolds the pipeline; you read the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Claude trains an ML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10698480" cy="402336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30551"/>
            <a:ext cx="10186416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Loading 20-newsgroups subset (4 topics)...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Train: 2323 docs  ·  Test: 1546 docs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Classes: graphics, hockey, space, guns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Training...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Test accuracy:  0.895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Confusion matrix (rows = actual, columns = predicted):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     graphics    hockey     space      guns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graphics       353         3        28         5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hockey         4       369        15        11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space        23         7       346        18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guns        13         2        34       315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Per-class report: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                precision    recall  f1-score   support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 comp.graphics       0.90      0.91      0.90       389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rec.sport.hockey       0.97      0.92      0.95       399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     sci.space       0.82      0.88      0.85       394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talk.politics.guns       0.90      0.87      0.88       364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89.5% accuracy across four topics. Real dataset. Real numbers.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DEMO 06  ·  THE SECOND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18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Claude Code writes to your vault. Every session ends as a note.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82296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Notes that write themselves.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6858000" cy="402336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130551"/>
            <a:ext cx="6345936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~/Documents/Obsidian Vault/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├── 00-Inbox/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│   └── Inbox.md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├── 01-Projects/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│   ├── Vibecoding Masterclass.md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│   ├── Inexogy Invoice Service.md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│   └── ECIS 2026 Paper.md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├── 03-Knowledge/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│   ├── Spec-Driven Development.md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│   ├── Multi-Agent Patterns.md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│   └── Claude Code Hooks.md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├── 04-People/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│   ├── Mahnoor Shah.md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│   └── Khan, Güzey, Nielsen.md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├── 05-Meetings/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│   └── 2026-05-14 SUST Triannual.md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├── 08-Sessions/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│   ├── 2026-05-14 Inbox.md         ← AUTO-GENERATED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│   ├── 2026-05-13 Forderung.md     ← AUTO-GENERATED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│   └── 2026-05-12 Aktivbank.md     ← AUTO-GENERATED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└── .claude/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└── hooks/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  └── session-end.sh           ← writes today's session note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4028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A SessionEnd hook fires when you close Claude Code.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The hook writes a markdown note to your Obsidian vault — what you worked on, decisions made, open questions.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Tomorrow's session reads it back. Nothing gets lost.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Your brain has limits. Your filesystem doesn't.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WHAT THESE DEMOS HAVE IN COMMON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19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Six demos. One shape.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The thread.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E8761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0428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4213D"/>
                </a:solidFill>
                <a:latin typeface="Georgia"/>
              </a:rPr>
              <a:t>You wrote the spec, not the code.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prompt was a tight description of what you wanted.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E8761B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7296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4213D"/>
                </a:solidFill>
                <a:latin typeface="Georgia"/>
              </a:rPr>
              <a:t>Claude proposed a plan before acting.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1188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Even on small demos, there's a plan you could intercept.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E8761B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4164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4213D"/>
                </a:solidFill>
                <a:latin typeface="Georgia"/>
              </a:rPr>
              <a:t>The output was reviewable.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4805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Test green, screenshot, diff, accuracy — evidence each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E8761B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910328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4213D"/>
                </a:solidFill>
                <a:latin typeface="Georgia"/>
              </a:rPr>
              <a:t>You stayed the human in the loop.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492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Claude did the typing. You did the judging.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761B"/>
                </a:solidFill>
                <a:latin typeface="Georgia"/>
              </a:rPr>
              <a:t>Now let's unpack how to actually run this discipline.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0" i="1">
                <a:solidFill>
                  <a:srgbClr val="FFFFFF"/>
                </a:solidFill>
                <a:latin typeface="Georgia"/>
              </a:rPr>
              <a:t>Now let's unpack how</a:t>
            </a:r>
          </a:p>
          <a:p>
            <a:pPr algn="l">
              <a:lnSpc>
                <a:spcPct val="110000"/>
              </a:lnSpc>
            </a:pPr>
            <a:r>
              <a:rPr sz="5600" b="0" i="1">
                <a:solidFill>
                  <a:srgbClr val="FFFFFF"/>
                </a:solidFill>
                <a:latin typeface="Georgia"/>
              </a:rPr>
              <a:t>this actually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AF7F0"/>
                </a:solidFill>
                <a:latin typeface="Georgia"/>
              </a:rPr>
              <a:t>The mindset → the workflow → the wider toolbox.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899B0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99B0"/>
                </a:solidFill>
                <a:latin typeface="Consolas"/>
              </a:rPr>
              <a:t>20 / 95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PART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0" i="1">
                <a:solidFill>
                  <a:srgbClr val="FFFFFF"/>
                </a:solidFill>
                <a:latin typeface="Georgia"/>
              </a:rPr>
              <a:t>Vibecoding →</a:t>
            </a:r>
          </a:p>
          <a:p>
            <a:pPr algn="l">
              <a:lnSpc>
                <a:spcPct val="105000"/>
              </a:lnSpc>
            </a:pPr>
            <a:r>
              <a:rPr sz="6400" b="0" i="1">
                <a:solidFill>
                  <a:srgbClr val="FFFFFF"/>
                </a:solidFill>
                <a:latin typeface="Georgia"/>
              </a:rPr>
              <a:t>Agentic Engineering.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AF7F0"/>
                </a:solidFill>
                <a:latin typeface="Georgia"/>
              </a:rPr>
              <a:t>A mindset shift, not a tool swap.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8229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899B0"/>
                </a:solidFill>
                <a:latin typeface="Calibri"/>
              </a:rPr>
              <a:t>CHAIR OF SUSTAINABILITY AND INNOVATION IN DIGITAL ECOSYSTEMS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99B0"/>
                </a:solidFill>
                <a:latin typeface="Consolas"/>
              </a:rPr>
              <a:t>21 / 95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THE PREMISE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22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What the marketing says.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The promise.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560320"/>
            <a:ext cx="38100" cy="274320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603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1A1A1A"/>
                </a:solidFill>
                <a:latin typeface="Georgia"/>
              </a:rPr>
              <a:t>“Describe what you want in natural language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63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1A1A1A"/>
                </a:solidFill>
                <a:latin typeface="Georgia"/>
              </a:rPr>
              <a:t>the AI writes the code for you.”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14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B6B6B"/>
                </a:solidFill>
                <a:latin typeface="Calibri"/>
              </a:rPr>
              <a:t>— every AI coding demo on every conference stage, 2024-2026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761B"/>
                </a:solidFill>
                <a:latin typeface="Georgia"/>
              </a:rPr>
              <a:t>And to be fair — sometimes it really does work like that.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THE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23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What you ship if you stop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And the catch.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86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Hallucinated APIs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3172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calls a function that doesn't exist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80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Silent scope creep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92608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asked for one feature, got four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747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Plausible bugs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5204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looks right; fails on the second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69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False “done”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11480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tests not run, output not seen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No paper trail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70916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no spec, no plan, can't reproduce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761B"/>
                </a:solidFill>
                <a:latin typeface="Georgia"/>
              </a:rPr>
              <a:t>We need engineering discipline back. With the AI, not despite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THE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0" b="0" i="1">
                <a:solidFill>
                  <a:srgbClr val="E8761B"/>
                </a:solidFill>
                <a:latin typeface="Georgia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3200400"/>
            <a:ext cx="8229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0">
                <a:solidFill>
                  <a:srgbClr val="FFFFFF"/>
                </a:solidFill>
                <a:latin typeface="Georgia"/>
              </a:rPr>
              <a:t>Three lies AI coding</a:t>
            </a:r>
          </a:p>
          <a:p>
            <a:pPr algn="l">
              <a:lnSpc>
                <a:spcPct val="110000"/>
              </a:lnSpc>
            </a:pPr>
            <a:r>
              <a:rPr sz="4600" b="0" i="0">
                <a:solidFill>
                  <a:srgbClr val="FFFFFF"/>
                </a:solidFill>
                <a:latin typeface="Georgia"/>
              </a:rPr>
              <a:t>tools tell 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899B0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99B0"/>
                </a:solidFill>
                <a:latin typeface="Consolas"/>
              </a:rPr>
              <a:t>24 / 95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THE THREE LIES  ·  1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25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LIE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0" i="1">
                <a:solidFill>
                  <a:srgbClr val="14213D"/>
                </a:solidFill>
                <a:latin typeface="Georgia"/>
              </a:rPr>
              <a:t>“It works.”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457200" cy="1905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9601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A1A"/>
                </a:solidFill>
                <a:latin typeface="Georgia"/>
              </a:rPr>
              <a:t>It looks like it works. The imports look right, the signature looks right, the README looks right.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A1A"/>
                </a:solidFill>
                <a:latin typeface="Georgia"/>
              </a:rPr>
              <a:t>But did anyone run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Calibri"/>
              </a:rPr>
              <a:t>DISCIPLINE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E8761B"/>
                </a:solidFill>
                <a:latin typeface="Georgia"/>
              </a:rPr>
              <a:t>Verification before done.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THE THREE LIES  ·  2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26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LIE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0" i="1">
                <a:solidFill>
                  <a:srgbClr val="14213D"/>
                </a:solidFill>
                <a:latin typeface="Georgia"/>
              </a:rPr>
              <a:t>“I understand.”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457200" cy="1905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9601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A1A"/>
                </a:solidFill>
                <a:latin typeface="Georgia"/>
              </a:rPr>
              <a:t>It pattern-matched your keywords.</a:t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A1A"/>
                </a:solidFill>
                <a:latin typeface="Georgia"/>
              </a:rPr>
              <a:t>It may have grasped the surface. It rarely grasps the intent.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Calibri"/>
              </a:rPr>
              <a:t>DISCIPLINE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E8761B"/>
                </a:solidFill>
                <a:latin typeface="Georgia"/>
              </a:rPr>
              <a:t>Write a spec. Or make Claude write one — then review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THE THREE LIES  ·  3 OF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27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LIE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058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0" b="0" i="1">
                <a:solidFill>
                  <a:srgbClr val="14213D"/>
                </a:solidFill>
                <a:latin typeface="Georgia"/>
              </a:rPr>
              <a:t>“I'm done.”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457200" cy="1905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017520"/>
            <a:ext cx="96012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i="0">
                <a:solidFill>
                  <a:srgbClr val="1A1A1A"/>
                </a:solidFill>
                <a:latin typeface="Georgia"/>
              </a:rPr>
              <a:t>“Done” is a status, not a feeling. Done means the code is written, the tests pass, the output was seen — by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6B6B6B"/>
                </a:solidFill>
                <a:latin typeface="Calibri"/>
              </a:rPr>
              <a:t>DISCIPLINE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1">
                <a:solidFill>
                  <a:srgbClr val="E8761B"/>
                </a:solidFill>
                <a:latin typeface="Georgia"/>
              </a:rPr>
              <a:t>Stop conditions. Show your work.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THE RHYTHM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28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The five steps. In this order. Every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4213D"/>
                </a:solidFill>
                <a:latin typeface="Georgia"/>
              </a:rPr>
              <a:t>The rhythm.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210312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146304" cy="31089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517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2918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14213D"/>
                </a:solidFill>
                <a:latin typeface="Georgia"/>
              </a:rPr>
              <a:t>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645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What you want. Checkable success criteria.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749040"/>
            <a:ext cx="91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Georgia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377440"/>
            <a:ext cx="210312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6080" y="2377440"/>
            <a:ext cx="146304" cy="31089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26517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2918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14213D"/>
                </a:solidFill>
                <a:latin typeface="Georgia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3931920"/>
            <a:ext cx="1645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Recipe between spec and code. Reviewable.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749040"/>
            <a:ext cx="91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Georgia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377440"/>
            <a:ext cx="210312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20640" y="2377440"/>
            <a:ext cx="146304" cy="31089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26517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32918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14213D"/>
                </a:solidFill>
                <a:latin typeface="Georgia"/>
              </a:rPr>
              <a:t>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931920"/>
            <a:ext cx="1645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At least one failing test before code.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749040"/>
            <a:ext cx="91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Georgia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2377440"/>
            <a:ext cx="210312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0" y="2377440"/>
            <a:ext cx="146304" cy="31089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35240" y="26517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2918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14213D"/>
                </a:solidFill>
                <a:latin typeface="Georgia"/>
              </a:rPr>
              <a:t>Implement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931920"/>
            <a:ext cx="1645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The boring step.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749040"/>
            <a:ext cx="91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Georgia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2377440"/>
            <a:ext cx="210312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9760" y="2377440"/>
            <a:ext cx="146304" cy="31089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26517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Consola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32918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i="0">
                <a:solidFill>
                  <a:srgbClr val="14213D"/>
                </a:solidFill>
                <a:latin typeface="Georgia"/>
              </a:rP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3931920"/>
            <a:ext cx="1645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Run it. See the output. Show evidence.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761B"/>
                </a:solidFill>
                <a:latin typeface="Georgia"/>
              </a:rPr>
              <a:t>Skip any one of these and you didn't really ship.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0" i="1">
                <a:solidFill>
                  <a:srgbClr val="FFFFFF"/>
                </a:solidFill>
                <a:latin typeface="Georgia"/>
              </a:rPr>
              <a:t>Coding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AF7F0"/>
                </a:solidFill>
                <a:latin typeface="Georgia"/>
              </a:rPr>
              <a:t>Where the actual discipline lives.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8229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899B0"/>
                </a:solidFill>
                <a:latin typeface="Calibri"/>
              </a:rPr>
              <a:t>CHAIR OF SUSTAINABILITY AND INNOVATION IN DIGITAL ECOSYSTEMS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99B0"/>
                </a:solidFill>
                <a:latin typeface="Consolas"/>
              </a:rPr>
              <a:t>29 / 95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SPECIFICATIONS  ·  01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30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A spec is not a wish list. It's a contract you can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4213D"/>
                </a:solidFill>
                <a:latin typeface="Georgia"/>
              </a:rPr>
              <a:t>What is a spec?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53949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5394960" cy="50292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963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VAGUE INTENT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0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6B6B6B"/>
                </a:solidFill>
                <a:latin typeface="Georgia"/>
              </a:rPr>
              <a:t>“Make the dashboard faster.”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6B6B6B"/>
                </a:solidFill>
                <a:latin typeface="Georgia"/>
              </a:rPr>
              <a:t>“Improve the user experience.”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6B6B6B"/>
                </a:solidFill>
                <a:latin typeface="Georgia"/>
              </a:rPr>
              <a:t>“Handle errors properly.”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9834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6B6B6B"/>
                </a:solidFill>
                <a:latin typeface="Georgia"/>
              </a:rPr>
              <a:t>“Make it work for our enterprise client.”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377440"/>
            <a:ext cx="50292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2377440"/>
            <a:ext cx="5029200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24963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CHECKABLE 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004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4213D"/>
                </a:solidFill>
                <a:latin typeface="Georgia"/>
              </a:rPr>
              <a:t>Dashboard renders &lt; 2s at p95.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7947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4213D"/>
                </a:solidFill>
                <a:latin typeface="Georgia"/>
              </a:rPr>
              <a:t>All forms submit &lt; 250ms.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89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4213D"/>
                </a:solidFill>
                <a:latin typeface="Georgia"/>
              </a:rPr>
              <a:t>Invalid input → 400 + body.error.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9834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14213D"/>
                </a:solidFill>
                <a:latin typeface="Georgia"/>
              </a:rPr>
              <a:t>Multi-tenant: row isolation per tenant_id.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If you can't tell whether you're done, you don't have a spec.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SPECIFICATIONS  ·  02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31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Five elements. Always.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14213D"/>
                </a:solidFill>
                <a:latin typeface="Georgia"/>
              </a:rPr>
              <a:t>Anatomy of a good spec.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6771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Why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313432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motivation. Who asked, what problem it solves.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9923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8094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3026664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thing being built — one paragraph, no jargon.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1246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94176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Checkable success criteria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739896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Numbered list. Each item testable. No interpretation.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2569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40740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What it must NOT 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453128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Failure modes, scope boundaries, things to refuse.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389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1206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Out of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166360"/>
            <a:ext cx="5852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Explicit exclusions. Prevents scope creep mid-build.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onsolas"/>
              </a:rPr>
              <a:t>See demos/02-spec-plan-impl/spec.md for a real example.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SPECIFICATIONS  ·  03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32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Clients give you wishes. You convert wishes into checkable criteria.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Capturing specs from clients.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8600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4213D"/>
                </a:solidFill>
                <a:latin typeface="Georgia"/>
              </a:rPr>
              <a:t>“What happens when this works?”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3317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Forces them to describe an outcome, not a feature.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80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4213D"/>
                </a:solidFill>
                <a:latin typeface="Georgia"/>
              </a:rPr>
              <a:t>“What does failure look like?”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0175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Surfaces the unspoken edge cases.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5760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4213D"/>
                </a:solidFill>
                <a:latin typeface="Georgia"/>
              </a:rPr>
              <a:t>“Who else needs to sign off?”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7033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Reveals the actual decision tree, not the org chart.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4340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4213D"/>
                </a:solidFill>
                <a:latin typeface="Georgia"/>
              </a:rPr>
              <a:t>“What's explicitly OUT of scope?”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3891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The hardest question. The most valuable answer.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2920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14213D"/>
                </a:solidFill>
                <a:latin typeface="Georgia"/>
              </a:rPr>
              <a:t>“Can I read the spec back to you?”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507492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The demo-it-back loop. Catches misalignment before code.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SPECIFICATIONS  ·  04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33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Code rots fastest. Specs rot slowest. Treat them accordingly.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14213D"/>
                </a:solidFill>
                <a:latin typeface="Georgia"/>
              </a:rPr>
              <a:t>Specs outlive the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38100" cy="320040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2860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4213D"/>
                </a:solidFill>
                <a:latin typeface="Georgia"/>
              </a:rPr>
              <a:t>Code is an implementation.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3464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14213D"/>
                </a:solidFill>
                <a:latin typeface="Georgia"/>
              </a:rPr>
              <a:t>It changes weekly.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E8761B"/>
                </a:solidFill>
                <a:latin typeface="Georgia"/>
              </a:rPr>
              <a:t>The spec is the contract.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E8761B"/>
                </a:solidFill>
                <a:latin typeface="Georgia"/>
              </a:rPr>
              <a:t>It changes when the deal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86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WHY THIS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51760"/>
            <a:ext cx="4572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When a regression hits production six months later, you don't ask “what did the code do.” You ask “what was this supposed to do.”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The spec answers that. The code does not.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Store specs in version control. Reference them in PRs. They are the contract.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PLANS  ·  01 /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34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The recipe between the spec and the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14213D"/>
                </a:solidFill>
                <a:latin typeface="Georgia"/>
              </a:rPr>
              <a:t>What is a plan?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743200"/>
            <a:ext cx="29260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2743200"/>
            <a:ext cx="2926080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28529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747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14213D"/>
                </a:solidFill>
                <a:latin typeface="Georgia"/>
              </a:rPr>
              <a:t>What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291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6B6B6B"/>
                </a:solidFill>
                <a:latin typeface="Georgia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743200"/>
            <a:ext cx="29260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2743200"/>
            <a:ext cx="2926080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8529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4747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E8761B"/>
                </a:solidFill>
                <a:latin typeface="Georgia"/>
              </a:rPr>
              <a:t>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2918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6B6B6B"/>
                </a:solidFill>
                <a:latin typeface="Georgia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743200"/>
            <a:ext cx="29260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743200"/>
            <a:ext cx="2926080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85292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347472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1">
                <a:solidFill>
                  <a:srgbClr val="14213D"/>
                </a:solidFill>
                <a:latin typeface="Georgia"/>
              </a:rPr>
              <a:t>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Without a plan, the spec stays an idea and the code becomes a guess.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A good plan is shorter than you expect.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PLANS  ·  02 /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35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Five questions on every plan Claude proposes. Always.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14213D"/>
                </a:solidFill>
                <a:latin typeface="Georgia"/>
              </a:rPr>
              <a:t>Anatomy of a good plan.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States its assumptions out 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33172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6B6B"/>
                </a:solidFill>
                <a:latin typeface="Consolas"/>
              </a:rPr>
              <a:t>“I'm assuming X.” Not silent guessing.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99232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99232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Names the exact files it will touch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044952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6B6B"/>
                </a:solidFill>
                <a:latin typeface="Consolas"/>
              </a:rPr>
              <a:t>parser.py:42, not “the parser”.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12464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12464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Proposes at least one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75818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6B6B"/>
                </a:solidFill>
                <a:latin typeface="Consolas"/>
              </a:rPr>
              <a:t>“Here's the test that proves this works.”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25696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25696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Stays scoped to what you asked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47141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6B6B"/>
                </a:solidFill>
                <a:latin typeface="Consolas"/>
              </a:rPr>
              <a:t>Count the verbs. Cut bonus features.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38928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38928"/>
            <a:ext cx="5943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14213D"/>
                </a:solidFill>
                <a:latin typeface="Georgia"/>
              </a:rPr>
              <a:t>Doesn't claim what it can't know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518464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B6B6B"/>
                </a:solidFill>
                <a:latin typeface="Consolas"/>
              </a:rPr>
              <a:t>“Following the existing convention” — which?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PLANS  ·  03 /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36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Plan mode = read-only exploration before any approval-gated change.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Plan mode in Claude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0698480" cy="338328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10186416" cy="2871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>
                <a:solidFill>
                  <a:srgbClr val="E8761B"/>
                </a:solidFill>
                <a:latin typeface="Consolas"/>
              </a:rPr>
              <a:t>&gt; claude /plan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Task: refactor the auth middleware.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[exploring codebase ...]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[reading 14 files in ./src/auth/]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[reading 3 test files]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8C379"/>
                </a:solidFill>
                <a:latin typeface="Consolas"/>
              </a:rPr>
              <a:t>Plan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1. Extract token validation into auth/tokens.py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2. Replace direct DB calls with the new repo class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3. Add 5 unit tests in tests/auth/test_tokens.py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5C07B"/>
                </a:solidFill>
                <a:latin typeface="Consolas"/>
              </a:rPr>
              <a:t>Assumptions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- Keeping the existing JWT secret env var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- NOT changing the public API surface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8C379"/>
                </a:solidFill>
                <a:latin typeface="Consolas"/>
              </a:rPr>
              <a:t>Approve? (y/n/edit)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Nothing changes on disk until you approve. That's the point.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PLAN MODE  ·  WHAT YOU ACTUALLY 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37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From the plan above to the change on disk. Side by 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Plan -&gt; approved -&gt; outcome.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THE APPROVED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5486400" cy="338328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724912"/>
            <a:ext cx="4974336" cy="2871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>
                <a:solidFill>
                  <a:srgbClr val="98C379"/>
                </a:solidFill>
                <a:latin typeface="Consolas"/>
              </a:rPr>
              <a:t>Plan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1. Extract token validation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-&gt; auth/tokens.py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2. Replace direct DB calls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3. Add 5 unit tests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Approved by Elias at 14:23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THE OUTCOME ON DISK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68880"/>
            <a:ext cx="5212080" cy="338328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724912"/>
            <a:ext cx="4700016" cy="2871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$ git diff --stat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auth/middleware.py  | -28 +6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8C379"/>
                </a:solidFill>
                <a:latin typeface="Consolas"/>
              </a:rPr>
              <a:t>  auth/tokens.py      | +42 (new)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8C379"/>
                </a:solidFill>
                <a:latin typeface="Consolas"/>
              </a:rPr>
              <a:t>  tests/test_tokens.py| +73 (new)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3 files, +121 -28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$ pytest auth/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8C379"/>
                </a:solidFill>
                <a:latin typeface="Consolas"/>
              </a:rPr>
              <a:t>  5 passed in 0.06s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$ git status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8C379"/>
                </a:solidFill>
                <a:latin typeface="Consolas"/>
              </a:rPr>
              <a:t>  clean working tree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The plan was the spec. The outcome was the implementation. Both reviewable.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REPO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38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A layout Claude Code can navigate without guessing.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14213D"/>
                </a:solidFill>
                <a:latin typeface="Georgia"/>
              </a:rPr>
              <a:t>Repo setup for agent-friendly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6400800" cy="3749039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5888736" cy="3236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project/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├── README.md         ← what + how to run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8761B"/>
                </a:solidFill>
                <a:latin typeface="Consolas"/>
              </a:rPr>
              <a:t>├── CLAUDE.md         ← conventions, ≤ 200 lines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├── specs/            ← versioned specs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│   └── 0001-csv-export.md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├── src/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│   └── parser.py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├── tests/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│   └── test_parser.py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├── .claude/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8761B"/>
                </a:solidFill>
                <a:latin typeface="Consolas"/>
              </a:rPr>
              <a:t>│   ├── hooks/        ← deterministic automation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│   │   └── pre-commit.sh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8761B"/>
                </a:solidFill>
                <a:latin typeface="Consolas"/>
              </a:rPr>
              <a:t>│   └── skills/       ← capability uplift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│       └── csv-export.md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└── .github/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└── workflows/    ← CI as a verify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94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606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One CLAUDE.md per repo, root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063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Specs as first-class artifacts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520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Hooks for the things you forget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977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Skills for the things you repeat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434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CI = automated verify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892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No deep nesting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THE PERSISTENCE LAYER  ·  01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39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Read at session start. Sticks across every prompt. Keep it short.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CLAUDE.md — project DNA.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6400800" cy="3749039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5888736" cy="3236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>
                <a:solidFill>
                  <a:srgbClr val="E8761B"/>
                </a:solidFill>
                <a:latin typeface="Consolas"/>
              </a:rPr>
              <a:t># Project conventions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98C379"/>
                </a:solidFill>
                <a:latin typeface="Consolas"/>
              </a:rPr>
              <a:t>## The rhythm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SPEC → PLAN → TEST → IMPL → VERIFY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98C379"/>
                </a:solidFill>
                <a:latin typeface="Consolas"/>
              </a:rPr>
              <a:t>## When you're working here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- Use plan mode for &gt;1 file changes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- Tests before implementation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- Never claim done without output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- Cite file:line for every reference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- No real client data, ever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98C379"/>
                </a:solidFill>
                <a:latin typeface="Consolas"/>
              </a:rPr>
              <a:t>## What to avoid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- Long try/except that swallow errors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- Premature abstraction (&lt; 3 callers)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- Comments that say what code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94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606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≤ 200 lines. Hard cap.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063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Conventions, not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520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“Why” over “what”.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977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Update when the project drifts.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434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Run `claude /init` to bootstrap.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892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It's advisory — ~80% compliance.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THE PERSISTENCE LAYER  ·  02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40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When 80% isn't good enough. Deterministic, every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Hooks — automate the must-haves.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6400800" cy="3749039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5888736" cy="3236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# .claude/settings.json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{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"hooks": {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"PreToolUse": [{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"matcher": "Edit|Write",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8761B"/>
                </a:solidFill>
                <a:latin typeface="Consolas"/>
              </a:rPr>
              <a:t>      "command": "ruff format --check"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}],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"PostToolUse": [{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  "matcher": "Edit",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8761B"/>
                </a:solidFill>
                <a:latin typeface="Consolas"/>
              </a:rPr>
              <a:t>      "command": "pytest -q tests/"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}],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"SessionEnd": [{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8761B"/>
                </a:solidFill>
                <a:latin typeface="Consolas"/>
              </a:rPr>
              <a:t>      "command": "~/.claude/session-note.sh"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  }]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}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94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USE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606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Linting and formatting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063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Security checks before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520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Auto-tests on file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977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Session notes to your vault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4348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Logging,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892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Refusing forbidden patterns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HOOKS  ·  WHAT YOU ACTUALLY 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41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The hook fires. The wrong commit gets blocked. The right one ships.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Hooks in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FAILING COMMIT  ·  BLOCKED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5486400" cy="338328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724912"/>
            <a:ext cx="4974336" cy="2871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$ git commit -m "add CSV export"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[hook] pre-commit: ruff format --check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06C75"/>
                </a:solidFill>
                <a:latin typeface="Consolas"/>
              </a:rPr>
              <a:t>Would reformat: parser.py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[hook] pre-commit: pytest -q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06C75"/>
                </a:solidFill>
                <a:latin typeface="Consolas"/>
              </a:rPr>
              <a:t>  test_round_trip       FAILED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06C75"/>
                </a:solidFill>
                <a:latin typeface="Consolas"/>
              </a:rPr>
              <a:t>  AssertionError at line 47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06C75"/>
                </a:solidFill>
                <a:latin typeface="Consolas"/>
              </a:rPr>
              <a:t>Commit blocked.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8761B"/>
                </a:solidFill>
                <a:latin typeface="Consolas"/>
              </a:rPr>
              <a:t>$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PASSING COMMIT  ·  SHIPS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68880"/>
            <a:ext cx="5212080" cy="338328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2724912"/>
            <a:ext cx="4700016" cy="2871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$ git commit -m "add CSV export"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[hook] pre-commit: ruff format --check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8C379"/>
                </a:solidFill>
                <a:latin typeface="Consolas"/>
              </a:rPr>
              <a:t>All formatted.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[hook] pre-commit: pytest -q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8C379"/>
                </a:solidFill>
                <a:latin typeface="Consolas"/>
              </a:rPr>
              <a:t>  3 passed in 0.04s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8C379"/>
                </a:solidFill>
                <a:latin typeface="Consolas"/>
              </a:rPr>
              <a:t>[main 7a3f2c1] add CSV export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8C379"/>
                </a:solidFill>
                <a:latin typeface="Consolas"/>
              </a:rPr>
              <a:t> 2 files changed, 49 +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8761B"/>
                </a:solidFill>
                <a:latin typeface="Consolas"/>
              </a:rPr>
              <a:t>$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The verify step is now part of the commit. You can't forget it.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THE PERSISTENCE LAYER  ·  03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42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Two kinds: give Claude new abilities, or encode your taste.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Skills — capabilities + preferences.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3949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5394960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048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CAPABILITY UPLIFT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4213D"/>
                </a:solidFill>
                <a:latin typeface="Georgia"/>
              </a:rPr>
              <a:t>Give Claude a new 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onsolas"/>
              </a:rPr>
              <a:t>·  pdf — read and edit PDF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onsolas"/>
              </a:rPr>
              <a:t>·  browser — open pages, fill 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onsolas"/>
              </a:rPr>
              <a:t>·  playwright — generate E2E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onsolas"/>
              </a:rPr>
              <a:t>·  fastapi-backend-design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onsolas"/>
              </a:rPr>
              <a:t>·  database-design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864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onsolas"/>
              </a:rPr>
              <a:t>·  ml-training-pipelines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86000"/>
            <a:ext cx="50292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286000"/>
            <a:ext cx="5029200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4048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ENCODED PREFERENCE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15468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4213D"/>
                </a:solidFill>
                <a:latin typeface="Georgia"/>
              </a:rPr>
              <a:t>Guide existing capabilities.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886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onsolas"/>
              </a:rPr>
              <a:t>·  german-client-communication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206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onsolas"/>
              </a:rPr>
              <a:t>·  gdpr-dsgvo-compliance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26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onsolas"/>
              </a:rPr>
              <a:t>·  meeting-to-actions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onsolas"/>
              </a:rPr>
              <a:t>·  writing-plans (this discipline!)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166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onsolas"/>
              </a:rPr>
              <a:t>·  polished-ui-design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4864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onsolas"/>
              </a:rPr>
              <a:t>·  verification-before-completion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8761B"/>
                </a:solidFill>
                <a:latin typeface="Georgia"/>
              </a:rPr>
              <a:t>Skills are markdown. MCP is JSON-RPC. Skills know things; MCP does things.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THE PERSISTENCE LAYER  ·  04 /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43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Claude can now act outside the terminal — through any MCP-speaking tool.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MCP — the action layer.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6400800" cy="3749039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5888736" cy="3236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>
                <a:solidFill>
                  <a:srgbClr val="E8761B"/>
                </a:solidFill>
                <a:latin typeface="Consolas"/>
              </a:rPr>
              <a:t>$ claude mcp add notion --token=...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8761B"/>
                </a:solidFill>
                <a:latin typeface="Consolas"/>
              </a:rPr>
              <a:t>$ claude mcp add slack --workspace=...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8761B"/>
                </a:solidFill>
                <a:latin typeface="Consolas"/>
              </a:rPr>
              <a:t>$ claude mcp add postgres --conn=...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8761B"/>
                </a:solidFill>
                <a:latin typeface="Consolas"/>
              </a:rPr>
              <a:t>$ claude mcp add chrome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$ claude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&gt; "Read today's standup notes from Slack,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   create a Notion page summarising blockers,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   then open chrome to file the bug."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[claude] mcp__slack__read_channel ...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[claude] mcp__notion__create-pages ...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[claude] mcp__chrome__navigate ...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[claude] mcp__chrome__form_input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94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POPULAR MCP SERVERS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606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Notion (docs, databases)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017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Slack (channels, threads)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429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Linear (issues, projects)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840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Gmail / Google Calendar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2519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Chrome (browser automation)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663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GitHub (via gh CLI)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074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Postgres / SQLite / DuckDB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4864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Filesystem with permissions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TESTING  ·  01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44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Tests aren't safety nets. They're the spec, executable.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14213D"/>
                </a:solidFill>
                <a:latin typeface="Georgia"/>
              </a:rPr>
              <a:t>Unit tests — what they actually 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6858000" cy="3749039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6345936" cy="3236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>
                <a:solidFill>
                  <a:srgbClr val="7F848A"/>
                </a:solidFill>
                <a:latin typeface="Consolas"/>
              </a:rPr>
              <a:t># tests/test_export.py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from parser import export_to_csv, parse_receipts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def test_round_trip(tmp_path):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rows = parse_receipts(SAMPLE)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out = tmp_path / "out.csv"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export_to_csv(rows, out)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assert out.read_text().count("\n") == 14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def test_empty_writes_header_only(tmp_path):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out = tmp_path / "empty.csv"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export_to_csv([], out)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assert out.read_text().splitlines() == [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  "date,shop,item,price,currency"]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def test_refuses_overwrite(tmp_path):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out = tmp_path / "x.csv"; out.touch()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with pytest.raises(FileExistsError):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  export_to_csv([], out)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GOOD UNIT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606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Test one behavior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0632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Read like a 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204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Fail loudly with a clear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9776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Don't share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4348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Run in milliseconds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892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Cover happy path AND one failure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TESTING  ·  02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45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Standard TDD. Just with Claude as the typist.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4213D"/>
                </a:solidFill>
                <a:latin typeface="Georgia"/>
              </a:rPr>
              <a:t>Red, green, refactor.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3611880" cy="502920"/>
          </a:xfrm>
          <a:prstGeom prst="rect">
            <a:avLst/>
          </a:prstGeom>
          <a:solidFill>
            <a:srgbClr val="E0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8775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14213D"/>
                </a:solidFill>
                <a:latin typeface="Georgia"/>
              </a:rPr>
              <a:t>Failing tests first.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46888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468880"/>
            <a:ext cx="3611880" cy="502920"/>
          </a:xfrm>
          <a:prstGeom prst="rect">
            <a:avLst/>
          </a:prstGeom>
          <a:solidFill>
            <a:srgbClr val="98C3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58775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24612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14213D"/>
                </a:solidFill>
                <a:latin typeface="Georgia"/>
              </a:rPr>
              <a:t>Simplest code that passes.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46888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2468880"/>
            <a:ext cx="3611880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258775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REFACTOR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30632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14213D"/>
                </a:solidFill>
                <a:latin typeface="Georgia"/>
              </a:rPr>
              <a:t>Only if simpler. Else stop.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761B"/>
                </a:solidFill>
                <a:latin typeface="Georgia"/>
              </a:rPr>
              <a:t>Claude *will* try to write the function first. Correct it. Always.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E2E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46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Web UI? Then Playwright tests, autogenerated from the spec.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Playwright + Claude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0698480" cy="365760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10186416" cy="3145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// Generated by Claude Code from spec.md in 90 seconds.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import { test, expect } from "@playwright/test";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test.describe("Pomodoro", () =&gt; {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test.beforeEach(async ({ page }) =&gt; {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  await page.goto("file://" + process.cwd() + "/demos/01-mvp-pomodoro/index.html");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});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test("starts at 25:00 in FOCUS mode", async ({ page }) =&gt; {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  await expect(page.locator("#timer")).toHaveText("25:00");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  await expect(page.locator("#mode")).toHaveText("FOCUS");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});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test("ticks down after START", async ({ page }) =&gt; {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  await page.click("#start");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  await page.waitForTimeout(1100);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  const txt = await page.locator("#timer").textContent();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  expect(txt).toBe("24:59");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});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test("PAUSE freezes the timer", async ({ page }) =&gt; {</a:t>
            </a: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6E6E6"/>
                </a:solidFill>
                <a:latin typeface="Consolas"/>
              </a:rPr>
              <a:t>    await page.click("#start");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Generated from the spec for the Pomodoro app. 90 seconds.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47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Green tests are necessary. Not sufficient.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4213D"/>
                </a:solidFill>
                <a:latin typeface="Georgia"/>
              </a:rPr>
              <a:t>Verify properly.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6771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Run the feature end-to-end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313432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Not the test. The actual feature, as a user would.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5351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Inspect the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999232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Open the CSV. Read the rendered page. Curl the endpoint.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3931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Try one adversarial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685032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Empty list. Special chars. Concurrency. The thing that scared you.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32511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Compare to the spec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370832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Each checkable criterion: tick or not?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01091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Show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5056632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Paste output, attach screenshot, save the log. Make it visible.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ITERATION CYCLES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48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Feature by feature. Evidence each loop. No skipping.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4213D"/>
                </a:solidFill>
                <a:latin typeface="Georgia"/>
              </a:rPr>
              <a:t>Iteration cycles.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10698480" cy="356616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542032"/>
            <a:ext cx="10186416" cy="3054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400">
                <a:solidFill>
                  <a:srgbClr val="98C379"/>
                </a:solidFill>
                <a:latin typeface="Consolas"/>
              </a:rPr>
              <a:t>loop: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1. pick the next spec criterion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2. /plan — propose, review, approve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3. write failing test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4. implement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5. run test → green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6. run feature end-to-end → works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7. paste evidence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5C07B"/>
                </a:solidFill>
                <a:latin typeface="Consolas"/>
              </a:rPr>
              <a:t>    8. check against spec — drift? regenerate plan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>    9. commit with spec reference in message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98C379"/>
                </a:solidFill>
                <a:latin typeface="Consolas"/>
              </a:rPr>
              <a:t>   10. ↺</a:t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400">
                <a:solidFill>
                  <a:srgbClr val="E06C75"/>
                </a:solidFill>
                <a:latin typeface="Consolas"/>
              </a:rPr>
              <a:t># do not move on while step 6 or 7 is incomplete.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Small loops. Small reviews. Small risks. The compounding wins.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SPEC DRIFT  ·  01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49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The silent project killer in agentic workflows.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4213D"/>
                </a:solidFill>
                <a:latin typeface="Georgia"/>
              </a:rPr>
              <a:t>What is spec drift?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Plan grows beyond the spec — Claude offers a “bonus” feature, you accept.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71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Spec ambiguity resolved in conversation — but not written 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566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Tests cover the new shape, not the original criteria — green still ships drift.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60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Stakeholder asks for “one tweak” mid-build — not added to the spec.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754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Subagent decides on its own what done means — you don't notice.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By month two, no one can tell you what the system is supposed to do.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SPEC DRIFT  ·  02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50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The spec stays canonical. Plans regenerate against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4213D"/>
                </a:solidFill>
                <a:latin typeface="Georgia"/>
              </a:rPr>
              <a:t>Preventing drift.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67712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Spec is in version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13432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Reviewable like code. Every change has a PR.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9923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80944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Plans checked against the spec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026664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Before approving a plan, ask: does it stay inside?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1246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94176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Tests reference spec line numbers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739896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test docstring: “spec.md §2.3”. Drift visible in CI.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2569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407408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Mid-build asks update the spec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53128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If the spec doesn't change, the feature doesn't.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389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12064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Subagents inherit the spec, not the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16636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Pass spec as a file reference, not chat context.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MULTI-AGENT  ·  01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51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One team lead. N subagents per feature. Verified handoffs.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The orchestrator pattern.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286000"/>
            <a:ext cx="3291840" cy="82296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4231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FFFFFF"/>
                </a:solidFill>
                <a:latin typeface="Georgia"/>
              </a:rPr>
              <a:t>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 spc="120">
                <a:solidFill>
                  <a:srgbClr val="6B6B6B"/>
                </a:solidFill>
                <a:latin typeface="Calibri"/>
              </a:rPr>
              <a:t>holds the spec  ·  routes work  ·  verifies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3840480"/>
            <a:ext cx="9525" cy="7315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80160" y="4572000"/>
            <a:ext cx="21031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80160" y="4572000"/>
            <a:ext cx="2103120" cy="3657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6268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onsolas"/>
              </a:rPr>
              <a:t>FEATURE 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07492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213D"/>
                </a:solidFill>
                <a:latin typeface="Georgia"/>
              </a:rPr>
              <a:t>spec § 2.1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213D"/>
                </a:solidFill>
                <a:latin typeface="Georgia"/>
              </a:rPr>
              <a:t>subagent runs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213D"/>
                </a:solidFill>
                <a:latin typeface="Georgia"/>
              </a:rPr>
              <a:t>in own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9525" cy="7315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4572000"/>
            <a:ext cx="21031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0640" y="4572000"/>
            <a:ext cx="2103120" cy="3657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46268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onsolas"/>
              </a:rPr>
              <a:t>FEATURE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507492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213D"/>
                </a:solidFill>
                <a:latin typeface="Georgia"/>
              </a:rPr>
              <a:t>spec § 2.2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213D"/>
                </a:solidFill>
                <a:latin typeface="Georgia"/>
              </a:rPr>
              <a:t>parallel,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213D"/>
                </a:solidFill>
                <a:latin typeface="Georgia"/>
              </a:rPr>
              <a:t>verified handoff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3840480"/>
            <a:ext cx="9525" cy="7315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4572000"/>
            <a:ext cx="210312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4572000"/>
            <a:ext cx="2103120" cy="3657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46268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onsolas"/>
              </a:rPr>
              <a:t>FEATURE 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5074920"/>
            <a:ext cx="1828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213D"/>
                </a:solidFill>
                <a:latin typeface="Georgia"/>
              </a:rPr>
              <a:t>spec § 2.3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213D"/>
                </a:solidFill>
                <a:latin typeface="Georgia"/>
              </a:rPr>
              <a:t>reports back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14213D"/>
                </a:solidFill>
                <a:latin typeface="Georgia"/>
              </a:rPr>
              <a:t>with evidence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MULTI-AGENT  ·  02 /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52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Two patterns. Pick by the shape of the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Orchestrator vs Conductor.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53949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5394960" cy="50292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963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4213D"/>
                </a:solidFill>
                <a:latin typeface="Georgia"/>
              </a:rPr>
              <a:t>One ensemble. One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One agent runs the show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2062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Subagents return summaries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Best for: research, refactor,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Cheap and predictable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035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Limit: serial bottlenecks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377440"/>
            <a:ext cx="50292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377440"/>
            <a:ext cx="5029200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4963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CONDUCTOR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546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4213D"/>
                </a:solidFill>
                <a:latin typeface="Georgia"/>
              </a:rPr>
              <a:t>Many agents. Bounded subtasks.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Each agent owns a feature end-to-end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206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Message bus / shared task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572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Best for: parallel features, async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9377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More expensive, more coordination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3035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Limit: handoffs are where bugs live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53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The verify gate has to keep working when you're not looking.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Deployment.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6400800" cy="3749039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5888736" cy="32369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# .github/workflows/ci.yml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name: verify-before-ship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on: [push, pull_request]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jobs: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  test: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    runs-on: ubuntu-latest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    steps: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      - uses: actions/checkout@v4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      - run: pip install -e .[test]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98C379"/>
                </a:solidFill>
                <a:latin typeface="Consolas"/>
              </a:rPr>
              <a:t>      - run: pytest -q --cov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98C379"/>
                </a:solidFill>
                <a:latin typeface="Consolas"/>
              </a:rPr>
              <a:t>      - run: ruff check .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98C379"/>
                </a:solidFill>
                <a:latin typeface="Consolas"/>
              </a:rPr>
              <a:t>      - run: playwright test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8761B"/>
                </a:solidFill>
                <a:latin typeface="Consolas"/>
              </a:rPr>
              <a:t>      - run: ./scripts/smoke.sh staging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# main is locked. PRs only.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# smoke.sh hits a real URL on staging.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194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6060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Tests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017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Linter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429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E2E green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8404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Smoke test on staging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2519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Spec criteria checked 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663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Manual approval for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5074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Auto-rollback on health-fail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PRE-SHIP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54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Eight items. Walk through them every time. No exceptions.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14213D"/>
                </a:solidFill>
                <a:latin typeface="Georgia"/>
              </a:rPr>
              <a:t>Production checklist.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Spec criteria each ticked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Tests green locally AND in CI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91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Feature exercised end-to-end (not just unit-tested)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94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One adversarial input tried, behaved as expected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976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Smoke test on staging green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00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Rollback path verified (one command)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3035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Observability in place — logs, error alerts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06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PR description references spec, plan, evidence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DISCUSSION  ·  05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0" i="1">
                <a:solidFill>
                  <a:srgbClr val="14213D"/>
                </a:solidFill>
                <a:latin typeface="Georgia"/>
              </a:rPr>
              <a:t>Where in your work today</a:t>
            </a:r>
          </a:p>
          <a:p>
            <a:pPr algn="l">
              <a:lnSpc>
                <a:spcPct val="110000"/>
              </a:lnSpc>
            </a:pPr>
            <a:r>
              <a:rPr sz="4400" b="0" i="1">
                <a:solidFill>
                  <a:srgbClr val="14213D"/>
                </a:solidFill>
                <a:latin typeface="Georgia"/>
              </a:rPr>
              <a:t>could a spec save you</a:t>
            </a:r>
          </a:p>
          <a:p>
            <a:pPr algn="l">
              <a:lnSpc>
                <a:spcPct val="110000"/>
              </a:lnSpc>
            </a:pPr>
            <a:r>
              <a:rPr sz="4400" b="0" i="1">
                <a:solidFill>
                  <a:srgbClr val="14213D"/>
                </a:solidFill>
                <a:latin typeface="Georgia"/>
              </a:rPr>
              <a:t>the most pain?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PROMPTS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A client request that always comes back vague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7900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A feature you've rebuilt twice already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7161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A piece of code nobody remembers the reason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55 / 95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PART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0" i="1">
                <a:solidFill>
                  <a:srgbClr val="FFFFFF"/>
                </a:solidFill>
                <a:latin typeface="Georgia"/>
              </a:rPr>
              <a:t>Beyond coding.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AF7F0"/>
                </a:solidFill>
                <a:latin typeface="Georgia"/>
              </a:rPr>
              <a:t>Claude Code is an agent harness. Code is just one surface.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8229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899B0"/>
                </a:solidFill>
                <a:latin typeface="Calibri"/>
              </a:rPr>
              <a:t>CHAIR OF SUSTAINABILITY AND INNOVATION IN DIGITAL ECOSYSTEMS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99B0"/>
                </a:solidFill>
                <a:latin typeface="Consolas"/>
              </a:rPr>
              <a:t>56 / 95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REFRAMING THE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57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It edits files. Also reads emails, opens browsers, writes notes, runs cron.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14213D"/>
                </a:solidFill>
                <a:latin typeface="Georgia"/>
              </a:rPr>
              <a:t>Claude Code is not a code editor.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017520"/>
            <a:ext cx="3017520" cy="13716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2461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FFFFFF"/>
                </a:solidFill>
                <a:latin typeface="Georgia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7947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 spc="200">
                <a:solidFill>
                  <a:srgbClr val="8899B0"/>
                </a:solidFill>
                <a:latin typeface="Calibri"/>
              </a:rPr>
              <a:t>an agent harness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68880"/>
            <a:ext cx="29260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2926080" cy="32004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803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13D"/>
                </a:solidFill>
                <a:latin typeface="Georgia"/>
              </a:rPr>
              <a:t>src/, tests/, deploy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468880"/>
            <a:ext cx="29260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2468880"/>
            <a:ext cx="2926080" cy="32004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25146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88036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13D"/>
                </a:solidFill>
                <a:latin typeface="Georgia"/>
              </a:rPr>
              <a:t>Chrome MCP, scrapes, forms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29260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572000"/>
            <a:ext cx="2926080" cy="32004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617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834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13D"/>
                </a:solidFill>
                <a:latin typeface="Georgia"/>
              </a:rPr>
              <a:t>Obsidian, PDFs, spreadsheets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4572000"/>
            <a:ext cx="29260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4572000"/>
            <a:ext cx="2926080" cy="32004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46177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APIS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983480"/>
            <a:ext cx="2743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4213D"/>
                </a:solidFill>
                <a:latin typeface="Georgia"/>
              </a:rPr>
              <a:t>Notion, Slack, Linear, Gmail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BEYOND  ·  PROJECT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58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The PM work nobody actually wants to do. Delegate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14213D"/>
                </a:solidFill>
                <a:latin typeface="Georgia"/>
              </a:rPr>
              <a:t>Claude as co-PM.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860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Sprint reviews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3172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Read the PRs, write demo notes, draft retro.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8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Status writeups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01752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Daily standup digest from Slack threads.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576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Blocker 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70332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Scan tickets, group by theme, propose owners.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434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Risk surfacing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38912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Compare burndown to scope. Flag silently dropped items.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292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Decision logs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07492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Every accepted plan auto-logged with context.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BEYOND  ·  AUTOMATIONS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59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Anything you do twice a week is a candidate.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14213D"/>
                </a:solidFill>
                <a:latin typeface="Georgia"/>
              </a:rPr>
              <a:t>Daily automations.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0698480" cy="365760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10186416" cy="3145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$ crontab -l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# Vibecoding daily automation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0  6  *  *  *   ~/.bin/digest.sh          &gt;&gt; ~/.log/digest.log 2&gt;&amp;1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0  18 *  *  *   ~/.bin/standup-prep.sh    &gt;&gt; ~/.log/standup.log 2&gt;&amp;1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$ tail ~/.log/digest.log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2026-05-14 06:00  digest started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2026-05-14 06:00  scanning 27 new PDFs in ~/Drop/inbox/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2026-05-14 06:01  claude → summarise each ≤120 words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2026-05-14 06:01  claude → tag by topic, link related notes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2026-05-14 06:02  wrote 27 notes to ~/Vault/00-Inbox/digests/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2026-05-14 06:02  emailed daily digest to elias@quershift.com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2026-05-14 06:02  digest done in 2m 14s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$ head -25 ~/Vault/00-Inbox/digests/2026-05-14.md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---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type: digest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date: 2026-05-14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items: 27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---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## Today's reading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Cron + Claude + a few scripts. Your inbox, triaged. Every morning.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BEYOND  ·  BROWSER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60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The web is a UI. UIs are scriptable. So are people, occasionally.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14213D"/>
                </a:solidFill>
                <a:latin typeface="Georgia"/>
              </a:rPr>
              <a:t>Browser automation.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860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Data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3172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Scrape competitor pricing weekly. Slack a diff.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718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Form filling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01752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Submit timesheets. Pull data from project tools.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576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QA replay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70332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Walk through critical flows. Screenshot results.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3434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Admin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38912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Onboarding portals, expense filings, account cleanup.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0292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07492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Open 20 tabs, summarize each, output markdown brief.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BEYOND  ·  EMAIL +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61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Drafts, summaries, triage. You stay the final say.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14213D"/>
                </a:solidFill>
                <a:latin typeface="Georgia"/>
              </a:rPr>
              <a:t>Email and calendar.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0698480" cy="347472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10186416" cy="2962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50">
                <a:solidFill>
                  <a:srgbClr val="E8761B"/>
                </a:solidFill>
                <a:latin typeface="Consolas"/>
              </a:rPr>
              <a:t>&gt; claude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"Summarise unread emails since Friday.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Group by sender. Flag what needs reply today.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Draft replies for me to review."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[claude] mcp__gmail__list_messages ...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7F848A"/>
                </a:solidFill>
                <a:latin typeface="Consolas"/>
              </a:rPr>
              <a:t>[claude] mcp__gmail__read_message ... × 47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98C379"/>
                </a:solidFill>
                <a:latin typeface="Consolas"/>
              </a:rPr>
              <a:t>Inbox (47 unread, since 2026-05-10):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  • 3 from clients   →  reply today    [drafts ready]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  • 12 newsletters   →  auto-archive   [done]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  • 8 from team      →  read &amp; reply   [drafts ready]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>  • 24 misc          →  triaged later  [labelled]</a:t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50">
                <a:solidFill>
                  <a:srgbClr val="E8761B"/>
                </a:solidFill>
                <a:latin typeface="Consolas"/>
              </a:rPr>
              <a:t>→ Drafts saved. Open Gmail to review and send.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House rule: never let Claude send. Always review the draft.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BEYOND  ·  INTEGRATIONS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62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Every MCP server is a verb Claude can 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Integrations through MCP.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VERBS YOU 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80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13D"/>
                </a:solidFill>
                <a:latin typeface="Consolas"/>
              </a:rPr>
              <a:t>NOTION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986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create-pages, fetch, search, update-page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37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13D"/>
                </a:solidFill>
                <a:latin typeface="Consolas"/>
              </a:rPr>
              <a:t>SLACK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558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send-message, read-channel, search, create-canvas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13D"/>
                </a:solidFill>
                <a:latin typeface="Consolas"/>
              </a:rPr>
              <a:t>GMAIL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13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list, read, reply (drafts only by rule)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13D"/>
                </a:solidFill>
                <a:latin typeface="Consolas"/>
              </a:rPr>
              <a:t>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702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list-events, create-event, find-free-slot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13D"/>
                </a:solidFill>
                <a:latin typeface="Consolas"/>
              </a:rPr>
              <a:t>LINEAR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7274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list-issues, create-issue, update-status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13D"/>
                </a:solidFill>
                <a:latin typeface="Consolas"/>
              </a:rPr>
              <a:t>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1846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via gh CLI — issues, PRs, releases, runs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13D"/>
                </a:solidFill>
                <a:latin typeface="Consolas"/>
              </a:rPr>
              <a:t>CHROME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6418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navigate, click, get-text, screenshot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080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13D"/>
                </a:solidFill>
                <a:latin typeface="Consolas"/>
              </a:rPr>
              <a:t>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099048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with permissions — your filesystem + your vault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BEYOND  ·  SECOND BRAIN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63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Capture, distill, link. Your brain isn't a database — your vault 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The Second Brain method.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146304" cy="237744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6032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54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4213D"/>
                </a:solidFill>
                <a:latin typeface="Georgia"/>
              </a:rPr>
              <a:t>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70332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Anything that resonates. Lower the bar to entry.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228600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286000"/>
            <a:ext cx="146304" cy="237744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56032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154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4213D"/>
                </a:solidFill>
                <a:latin typeface="Georgia"/>
              </a:rPr>
              <a:t>DISTILL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70332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Progressively summarise: highlight → bold → summary → gist.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28600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2286000"/>
            <a:ext cx="146304" cy="237744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560320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15468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4213D"/>
                </a:solidFill>
                <a:latin typeface="Georgia"/>
              </a:rPr>
              <a:t>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70332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Connect to existing notes — backlinks make the graph.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761B"/>
                </a:solidFill>
                <a:latin typeface="Georgia"/>
              </a:rPr>
              <a:t>Claude Code is the perfect Distill + Link tool. Capture is still you.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BEYOND  ·  OBSIDIAN + 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64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A SessionEnd hook writes today's note. Tomorrow's session reads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Obsidian + Claude Code.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6858000" cy="365760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6345936" cy="3145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~/Documents/Obsidian Vault/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├── 00-Inbox/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│   └── Inbox.md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├── 01-Projects/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│   ├── Vibecoding Masterclass.md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│   ├── Inexogy Invoice Service.md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│   └── ECIS 2026 Paper.md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├── 03-Knowledge/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│   ├── Spec-Driven Development.md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│   ├── Multi-Agent Patterns.md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│   └── Claude Code Hooks.md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├── 04-People/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│   ├── Mahnoor Shah.md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│   └── Khan, Güzey, Nielsen.md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├── 05-Meetings/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│   └── 2026-05-14 SUST Triannual.md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├── 08-Sessions/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│   ├── 2026-05-14 Inbox.md         ← AUTO-GENERATED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│   ├── 2026-05-13 Forderung.md     ← AUTO-GENERATED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│   └── 2026-05-12 Aktivbank.md     ← AUTO-GENERATED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└── .claude/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└── hooks/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THE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60320"/>
            <a:ext cx="38404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Session starts: hook injects today's project note as context.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Session ends: hook captures what you worked on, what was decided, what's open.</a:t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/>
            </a:r>
          </a:p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No state is lost. No retelling tomorrow.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BEYOND  ·  THE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65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What's running on my machine right now. Yours can look similar.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Example: my own setup.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Claude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317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Primary terminal interface, two named sessions, prompt caching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346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MCP servers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803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Notion, Slack, Gmail, Chrome, Filesystem (permissioned)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8328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Skills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4290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~50 personal skills — German comm, GDPR, debugging, plan-writing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93192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Hooks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9776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SessionEnd → Obsidian, pre-commit → tests + lint, push → vault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8056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Obsidian Vault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5262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PARA structure, 800+ notes, daily session captures, linked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02920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Cron + Routines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0749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06:00 digest, 18:00 standup prep, weekly review on Fridays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577840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Worktrees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56235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Per-feature isolated branches, parallel work without churn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BEYOND  ·  NON-CODE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66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Most of your job isn't writing code. Most of your code isn't writing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Workflows for non-coders.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Proposals &amp; 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331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Draft a Förderantrag. Match required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8803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Status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9260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Monthly client update from project tool + git activity.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7472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Client comms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520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Tone-correct drafts in your language, your style.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0690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1148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“Read these 15 PDFs and tell me what they disagree on.”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6634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Spreadsheets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7091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Clean messy CSVs. Build pivot tables. Generate charts.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2578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Decks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3035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Like this one. Generated by the script you're looking at.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WHAT YOU COULD BUILD FOR YOURSELF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0" i="0">
                <a:solidFill>
                  <a:srgbClr val="14213D"/>
                </a:solidFill>
                <a:latin typeface="Georgia"/>
              </a:rPr>
              <a:t>One weekend.</a:t>
            </a:r>
          </a:p>
          <a:p>
            <a:pPr algn="l">
              <a:lnSpc>
                <a:spcPct val="105000"/>
              </a:lnSpc>
            </a:pPr>
            <a:r>
              <a:rPr sz="5400" b="0" i="0">
                <a:solidFill>
                  <a:srgbClr val="14213D"/>
                </a:solidFill>
                <a:latin typeface="Georgia"/>
              </a:rPr>
              <a:t>One useful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E8761B"/>
                </a:solidFill>
                <a:latin typeface="Georgia"/>
              </a:rPr>
              <a:t>Spec it. Plan it. Test it. Ship it. By Sunday evening.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67 / 95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DISCUSSION  ·  05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1">
                <a:solidFill>
                  <a:srgbClr val="14213D"/>
                </a:solidFill>
                <a:latin typeface="Georgia"/>
              </a:rPr>
              <a:t>Which integration</a:t>
            </a:r>
          </a:p>
          <a:p>
            <a:pPr algn="l">
              <a:lnSpc>
                <a:spcPct val="110000"/>
              </a:lnSpc>
            </a:pPr>
            <a:r>
              <a:rPr sz="4600" b="0" i="1">
                <a:solidFill>
                  <a:srgbClr val="14213D"/>
                </a:solidFill>
                <a:latin typeface="Georgia"/>
              </a:rPr>
              <a:t>would change your day</a:t>
            </a:r>
          </a:p>
          <a:p>
            <a:pPr algn="l">
              <a:lnSpc>
                <a:spcPct val="110000"/>
              </a:lnSpc>
            </a:pPr>
            <a:r>
              <a:rPr sz="4600" b="0" i="1">
                <a:solidFill>
                  <a:srgbClr val="14213D"/>
                </a:solidFill>
                <a:latin typeface="Georgia"/>
              </a:rPr>
              <a:t>the most?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PICK FROM YOUR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Email - drafts, triage, summaries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33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Calendar - find-a-slot, prep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017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Notion / Linear / Slack - status, blockers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2706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Browser - admin work, scraping, 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7395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Vault - capture, distill, 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68 / 95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PART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0" i="1">
                <a:solidFill>
                  <a:srgbClr val="FFFFFF"/>
                </a:solidFill>
                <a:latin typeface="Georgia"/>
              </a:rPr>
              <a:t>AI engineering</a:t>
            </a:r>
          </a:p>
          <a:p>
            <a:pPr algn="l">
              <a:lnSpc>
                <a:spcPct val="105000"/>
              </a:lnSpc>
            </a:pPr>
            <a:r>
              <a:rPr sz="6400" b="0" i="1">
                <a:solidFill>
                  <a:srgbClr val="FFFFFF"/>
                </a:solidFill>
                <a:latin typeface="Georgia"/>
              </a:rPr>
              <a:t>with Claude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AF7F0"/>
                </a:solidFill>
                <a:latin typeface="Georgia"/>
              </a:rPr>
              <a:t>Scaffold the pipeline. Read the numbers. Judge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8229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899B0"/>
                </a:solidFill>
                <a:latin typeface="Calibri"/>
              </a:rPr>
              <a:t>CHAIR OF SUSTAINABILITY AND INNOVATION IN DIGITAL ECOSYSTEMS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99B0"/>
                </a:solidFill>
                <a:latin typeface="Consolas"/>
              </a:rPr>
              <a:t>69 / 95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ML WITH CLAUDE  · 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70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Claude doesn't invent new architectures. It wires up the boring parts.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Where Claude shines in ML.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539496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5394960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9631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GOOD 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5468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Data prep &amp;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8386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Dataloader scaffolding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1304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Training loop boilerplate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4223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Hyperparameter sweeps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71416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Eval metric reporting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006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Result visualization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29784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RAG 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45896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Georgia"/>
              </a:rPr>
              <a:t>·  LoRA / adapter fine-tuning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377440"/>
            <a:ext cx="50292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2377440"/>
            <a:ext cx="5029200" cy="50292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49631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alibri"/>
              </a:rPr>
              <a:t>STILL YOUR JOB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154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Georgia"/>
              </a:rPr>
              <a:t>·  Choosing the problem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8386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Georgia"/>
              </a:rPr>
              <a:t>·  Designing the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8130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Georgia"/>
              </a:rPr>
              <a:t>·  Picking the right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1422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Georgia"/>
              </a:rPr>
              <a:t>·  Diagnosing why metrics moved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47141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Georgia"/>
              </a:rPr>
              <a:t>·  Reading model failures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800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Georgia"/>
              </a:rPr>
              <a:t>·  Deciding when it's good enough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512978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Georgia"/>
              </a:rPr>
              <a:t>·  Ethical scrutiny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545896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B6B6B"/>
                </a:solidFill>
                <a:latin typeface="Georgia"/>
              </a:rPr>
              <a:t>·  Buying the GPU time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ML WITH CLAUDE  ·  SCAFFOLDING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71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From “I have a CSV” to “I have a trained model with eval” — in 30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14213D"/>
                </a:solidFill>
                <a:latin typeface="Georgia"/>
              </a:rPr>
              <a:t>Scaffolding a training pipeline.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0698480" cy="365760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10186416" cy="3145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200">
                <a:solidFill>
                  <a:srgbClr val="E8761B"/>
                </a:solidFill>
                <a:latin typeface="Consolas"/>
              </a:rPr>
              <a:t>&gt; claude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"I have reviews.csv with `text` and `label` columns.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Build me a sentiment classifier. TF-IDF + Naive Bayes or LR.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Show me train/test accuracy and a confusion matrix."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7F848A"/>
                </a:solidFill>
                <a:latin typeface="Consolas"/>
              </a:rPr>
              <a:t>[claude] /plan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8C379"/>
                </a:solidFill>
                <a:latin typeface="Consolas"/>
              </a:rPr>
              <a:t>Plan: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1. Load CSV → DataFrame, drop NA, stratified split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2. Pipeline: TfidfVectorizer → LinearSVC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3. Fit, predict, report classification_report + cm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4. Save metrics to results.json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>  5. Smoke test: predict on hand-crafted pos + neg</a:t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200">
                <a:solidFill>
                  <a:srgbClr val="98C379"/>
                </a:solidFill>
                <a:latin typeface="Consolas"/>
              </a:rPr>
              <a:t>Approve? (y/n)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E8761B"/>
                </a:solidFill>
                <a:latin typeface="Georgia"/>
              </a:rPr>
              <a:t>The pipeline is mechanical. The judgement is yours.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ML WITH CLAUDE  · 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72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Real dataset. Real classifier. Real test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Demo 5 in detail.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10698480" cy="365760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450592"/>
            <a:ext cx="10186416" cy="3145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Loading 20-newsgroups subset (4 topics)...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Train: 2323 docs  ·  Test: 1546 docs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Classes: graphics, hockey, space, guns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Training...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Test accuracy:  0.895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Confusion matrix (rows = actual, columns = predicted):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       graphics    hockey     space      guns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graphics       353         3        28         5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hockey         4       369        15        11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 space        23         7       346        18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  guns        13         2        34       315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Per-class report: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                  precision    recall  f1-score   support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   comp.graphics       0.90      0.91      0.90       389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rec.sport.hockey       0.97      0.92      0.95       399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         sci.space       0.82      0.88      0.85       394</a:t>
            </a:r>
          </a:p>
          <a:p>
            <a:pPr>
              <a:lnSpc>
                <a:spcPct val="135000"/>
              </a:lnSpc>
            </a:pPr>
            <a:r>
              <a:rPr sz="1100">
                <a:solidFill>
                  <a:srgbClr val="E6E6E6"/>
                </a:solidFill>
                <a:latin typeface="Consolas"/>
              </a:rPr>
              <a:t>    talk.politics.guns       0.90      0.87      0.88       364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8761B"/>
                </a:solidFill>
                <a:latin typeface="Georgia"/>
              </a:rPr>
              <a:t>4 topics. 2,323 train docs. LinearSVC. 89.5% test accuracy. Fifteen minutes.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ML WITH CLAUDE  ·  READING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73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What to look at. What to ignore.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Training output, decoded.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0428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Accuracy ≠ everything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06624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A 95% accurate spam filter that misses every actual spam is useless. Look at recall on the rare 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729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Confusion matrix &gt; single number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575304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Which classes does it confuse? That's where you'd add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416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Train &gt;&gt; test accuracy?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443984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Overfitting. Regularize, simplify, or get more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9103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Per-class precision/recall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12664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“macro avg” weights every class equally. “weighted avg” weights by support.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ML WITH CLAUDE  · 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74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An eval harness is just a test suite for your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Evaluation harnesses.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26771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Hold out a real test 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3172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Never train on it. Don't peek.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9923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8094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Define what good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044952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Numbers from the spec. Accuracy, FP rate, latency.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1246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694176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Run the harness in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758184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Every model change. Same as code tests.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2569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40740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Add adversarial cases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47141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Things you've seen fail. Edge inputs. Known-hard examples.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3892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1206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Log + compare runs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184648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Today vs yesterday. Track regressions like bugs.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ML WITH CLAUDE  · 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75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For most teams in 2026: RAG beats fine-tuning. Try it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14213D"/>
                </a:solidFill>
                <a:latin typeface="Georgia"/>
              </a:rPr>
              <a:t>Retrieval-Augmented Generation.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2157984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2157984" cy="3657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1883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Read your docs. Split by paragraph or section.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53512" y="2286000"/>
            <a:ext cx="2157984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53512" y="2286000"/>
            <a:ext cx="2157984" cy="3657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36392" y="2350008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6392" y="2788920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EMBED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6392" y="3291840"/>
            <a:ext cx="1883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Each chunk → vector via embedding model.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75504" y="2286000"/>
            <a:ext cx="2157984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75504" y="2286000"/>
            <a:ext cx="2157984" cy="3657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8384" y="2350008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2788920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3291840"/>
            <a:ext cx="1883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Vector DB — LanceDB, pgvector, Pinecone.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97496" y="2286000"/>
            <a:ext cx="2157984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97496" y="2286000"/>
            <a:ext cx="2157984" cy="3657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0376" y="2350008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onsola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376" y="2788920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RETRIEVE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0376" y="3291840"/>
            <a:ext cx="1883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User query → vector → top-k chunks.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19488" y="2286000"/>
            <a:ext cx="2157984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19488" y="2286000"/>
            <a:ext cx="2157984" cy="36576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02368" y="2350008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300">
                <a:solidFill>
                  <a:srgbClr val="FFFFFF"/>
                </a:solidFill>
                <a:latin typeface="Consola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02368" y="2788920"/>
            <a:ext cx="18836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GENERATE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8" y="3291840"/>
            <a:ext cx="1883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Stuff chunks into the prompt. Claude answers grounded.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74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A1A1A"/>
                </a:solidFill>
                <a:latin typeface="Georgia"/>
              </a:rPr>
              <a:t>Claude Code scaffolds all five steps. You bring the docs and the questions.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ML WITH CLAUDE  · 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76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When prompt + RAG aren't enough. Rare. But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Fine-tuning, briefly.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LoRA / QLoRA adapters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331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Train a small adapter on top of a frozen base model. Fast and cheap.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718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Hugging Face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0175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Claude Code has a `hf-skills-training` flow that wraps the boilerplate.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Domain vocabulary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7033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Best use case: highly specialized terminology a base model doesn't know.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434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Style /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3891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Second-best: you need consistent output in a specific shape.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Not a substitute for data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0749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If your prompt-engineering doesn't work, fine-tuning rarely fixes it.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ML WITH CLAUDE  ·  WHEN NOT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77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Most “we should train a model” problems aren't model problems.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14213D"/>
                </a:solidFill>
                <a:latin typeface="Georgia"/>
              </a:rPr>
              <a:t>When ML training is the wrong tool.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When a regex or SQL query would 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317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Don't train a classifier to find “invoice” in emails.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When the rule is known and simple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0175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Write the rule. Tests pass. Move 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576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When labelling will take longer than the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7033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Time-box. If labelling &gt; 1 week, reconsider.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434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When prompting + RAG already works at 90%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3891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Get the last 10% with rules + human review.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292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When you can't measure success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0749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Without an eval set, you have a vibe-classifier.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AN OPEN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What should the</a:t>
            </a:r>
          </a:p>
          <a:p>
            <a:pPr algn="l">
              <a:lnSpc>
                <a:spcPct val="110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AI engineer of 2027</a:t>
            </a:r>
          </a:p>
          <a:p>
            <a:pPr algn="l">
              <a:lnSpc>
                <a:spcPct val="110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know how to do alone?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E8761B"/>
                </a:solidFill>
                <a:latin typeface="Georgia"/>
              </a:rPr>
              <a:t>Discuss with your buddy for two minutes.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78 / 95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PART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0" i="1">
                <a:solidFill>
                  <a:srgbClr val="FFFFFF"/>
                </a:solidFill>
                <a:latin typeface="Georgia"/>
              </a:rPr>
              <a:t>The wider toolbox.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AF7F0"/>
                </a:solidFill>
                <a:latin typeface="Georgia"/>
              </a:rPr>
              <a:t>Claude Code is one of many. Know the others.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8229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899B0"/>
                </a:solidFill>
                <a:latin typeface="Calibri"/>
              </a:rPr>
              <a:t>CHAIR OF SUSTAINABILITY AND INNOVATION IN DIGITAL ECOSYSTEMS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99B0"/>
                </a:solidFill>
                <a:latin typeface="Consolas"/>
              </a:rPr>
              <a:t>79 / 95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ECOSYSTEM  ·  01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80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IDE-native. Fast. Parallel agent tabs.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Cursor.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86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VS-Code-derived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Pleasant for IDE-first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803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Cloud agents on isolated VMs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Worktree per task, parallel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74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Inline edits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5204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Faster than terminal for small changes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6B6B6B"/>
                </a:solidFill>
                <a:latin typeface="Georgia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690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Stalls at ambiguous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1148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Without supervision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6B6B6B"/>
                </a:solidFill>
                <a:latin typeface="Georgia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No long-running autonomous 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09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Not built for overnight 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6B6B6B"/>
                </a:solidFill>
                <a:latin typeface="Georgia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257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Less context flexibility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Tied to current file/workspace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ECOSYSTEM  ·  02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81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Open-source. Model-agnostic. Bring your own provider.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Cline · Codex CLI · Aider.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361188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86000"/>
            <a:ext cx="3611880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0487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CLINE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632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onsolas"/>
              </a:rPr>
              <a:t>Apache 2.0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VS Code + JetBrains + Zed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5020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Bring your own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33425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OpenAI / Anthropic / Bedrock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18304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5M+ installs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02352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Great for cost-sensitive teams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286000"/>
            <a:ext cx="361188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286000"/>
            <a:ext cx="3611880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240487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CODEX 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0632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onsolas"/>
              </a:rPr>
              <a:t>OpenAI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5661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Terminal-first, OpenAI-only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95020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Open-source 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33425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Strong on patches &amp; refactors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718304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Good plugin ecosystem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286000"/>
            <a:ext cx="361188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2286000"/>
            <a:ext cx="3611880" cy="502920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404872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300">
                <a:solidFill>
                  <a:srgbClr val="FFFFFF"/>
                </a:solidFill>
                <a:latin typeface="Calibri"/>
              </a:rPr>
              <a:t>AIDER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06324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B6B6B"/>
                </a:solidFill>
                <a:latin typeface="Consolas"/>
              </a:rPr>
              <a:t>OG, model-agnostic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56616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The original terminal CLI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950208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Auto-commits to git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334256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Bring your own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718304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·  Gold standard for pair-coding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ECOSYSTEM  ·  03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82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Anthropic's “supervised autonomous” mode. The future of overnight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14213D"/>
                </a:solidFill>
                <a:latin typeface="Georgia"/>
              </a:rPr>
              <a:t>Anthropic Routines.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Package a Claude 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331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Prompt + repos + tools + permissions, as one bundle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992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9923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Schedule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04495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Nightly, hourly, or on GitHub events (PR opened, release tagged)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124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1246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Runs on Anthropic-managed cloud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758184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Not on your laptop. Your laptop can sleep.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256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425696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Result-validation loops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71416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Re-runs if tests fail, escalates if they keep failing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389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13892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Handoffs to humans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18464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Pings you when judgement is needed; otherwise keeps going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ECOSYSTEM  ·  04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83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Quick decision matrix. Read it once, internalise.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When to use which.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YOUR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860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PICK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2860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1072865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88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A1A1A"/>
                </a:solidFill>
                <a:latin typeface="Georgia"/>
              </a:rPr>
              <a:t>Long autonomous runs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88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761B"/>
                </a:solidFill>
                <a:latin typeface="Georgia"/>
              </a:rPr>
              <a:t>Claude Code + Routines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7889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Built for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2783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A1A1A"/>
                </a:solidFill>
                <a:latin typeface="Georgia"/>
              </a:rPr>
              <a:t>Inline IDE editing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2783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761B"/>
                </a:solidFill>
                <a:latin typeface="Georgia"/>
              </a:rPr>
              <a:t>Cursor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322783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Fastest small-change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6674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A1A1A"/>
                </a:solidFill>
                <a:latin typeface="Georgia"/>
              </a:rPr>
              <a:t>Cost-sensitive, open-source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66674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761B"/>
                </a:solidFill>
                <a:latin typeface="Georgia"/>
              </a:rPr>
              <a:t>Cline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66674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BYO model, free harness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05656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A1A1A"/>
                </a:solidFill>
                <a:latin typeface="Georgia"/>
              </a:rPr>
              <a:t>Terminal pair-programming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05656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761B"/>
                </a:solidFill>
                <a:latin typeface="Georgia"/>
              </a:rPr>
              <a:t>Aider or Claude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10565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Both terminal-native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4456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A1A1A"/>
                </a:solidFill>
                <a:latin typeface="Georgia"/>
              </a:rPr>
              <a:t>OpenAI-only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544568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761B"/>
                </a:solidFill>
                <a:latin typeface="Georgia"/>
              </a:rPr>
              <a:t>Codex CLI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54456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Best fit for that model family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983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A1A1A"/>
                </a:solidFill>
                <a:latin typeface="Georgia"/>
              </a:rPr>
              <a:t>Production workflows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9834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761B"/>
                </a:solidFill>
                <a:latin typeface="Georgia"/>
              </a:rPr>
              <a:t>Claude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983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Plan mode, hooks, MCP, skills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223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A1A1A"/>
                </a:solidFill>
                <a:latin typeface="Georgia"/>
              </a:rPr>
              <a:t>Multi-agent orchestration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4223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761B"/>
                </a:solidFill>
                <a:latin typeface="Georgia"/>
              </a:rPr>
              <a:t>Claude 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42239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First-class subagents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861304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A1A1A"/>
                </a:solidFill>
                <a:latin typeface="Georgia"/>
              </a:rPr>
              <a:t>Browser-driving tasks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86130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8761B"/>
                </a:solidFill>
                <a:latin typeface="Georgia"/>
              </a:rPr>
              <a:t>Claude Code + Chrome MCP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86130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Georgia"/>
              </a:rPr>
              <a:t>Best surface today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ECOSYSTEM  ·  05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84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Where this is going, late 2026 and beyond.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What's coming.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67712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Multi-agent harnesses become first-class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3317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Less DIY orchestration; more declarative agent teams.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9923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980944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Agentic IDEs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04495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VS Code-style tools but agent-native — Cursor 4, Zed AI, Windsurf.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124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694176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Cheaper long-running autonomy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758184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Routines + cheap inference make overnight work the default.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25696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407408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Verified handoffs as primitive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71416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Subagents return cryptographic “done” proofs, not just text.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3892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1206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Tighter loops with formal 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18464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Specs as types. Plans as checked artifacts. Less drift.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DISCUSSION  ·  04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0" i="1">
                <a:solidFill>
                  <a:srgbClr val="14213D"/>
                </a:solidFill>
                <a:latin typeface="Georgia"/>
              </a:rPr>
              <a:t>If you had to pick</a:t>
            </a:r>
          </a:p>
          <a:p>
            <a:pPr algn="l">
              <a:lnSpc>
                <a:spcPct val="110000"/>
              </a:lnSpc>
            </a:pPr>
            <a:r>
              <a:rPr sz="4600" b="0" i="1">
                <a:solidFill>
                  <a:srgbClr val="14213D"/>
                </a:solidFill>
                <a:latin typeface="Georgia"/>
              </a:rPr>
              <a:t>one tool for your</a:t>
            </a:r>
          </a:p>
          <a:p>
            <a:pPr algn="l">
              <a:lnSpc>
                <a:spcPct val="110000"/>
              </a:lnSpc>
            </a:pPr>
            <a:r>
              <a:rPr sz="4600" b="0" i="1">
                <a:solidFill>
                  <a:srgbClr val="14213D"/>
                </a:solidFill>
                <a:latin typeface="Georgia"/>
              </a:rPr>
              <a:t>next project - which?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A1A1A"/>
                </a:solidFill>
                <a:latin typeface="Georgia"/>
              </a:rPr>
              <a:t>State the project. State the choice. Defend it in one sentence.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85 / 95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PART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400" b="0" i="1">
                <a:solidFill>
                  <a:srgbClr val="FFFFFF"/>
                </a:solidFill>
                <a:latin typeface="Georgia"/>
              </a:rPr>
              <a:t>Your 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FAF7F0"/>
                </a:solidFill>
                <a:latin typeface="Georgia"/>
              </a:rPr>
              <a:t>Three hours. The repo. Pair up. Go deep.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8229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 i="0">
                <a:solidFill>
                  <a:srgbClr val="E8761B"/>
                </a:solidFill>
                <a:latin typeface="Consolas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899B0"/>
                </a:solidFill>
                <a:latin typeface="Calibri"/>
              </a:rPr>
              <a:t>CHAIR OF SUSTAINABILITY AND INNOVATION IN DIGITAL ECOSYSTEMS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99B0"/>
                </a:solidFill>
                <a:latin typeface="Consolas"/>
              </a:rPr>
              <a:t>86 / 95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HANDS-ON  ·  THE 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87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Everything from today, plus the demos, plus the exercises.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Clone this.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6583680" cy="3474720"/>
          </a:xfrm>
          <a:prstGeom prst="rect">
            <a:avLst/>
          </a:prstGeom>
          <a:solidFill>
            <a:srgbClr val="1E21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542032"/>
            <a:ext cx="6071616" cy="2962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$ git clone \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E8761B"/>
                </a:solidFill>
                <a:latin typeface="Consolas"/>
              </a:rPr>
              <a:t>    github.com/Place-Beyond-Bytes/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E8761B"/>
                </a:solidFill>
                <a:latin typeface="Consolas"/>
              </a:rPr>
              <a:t>    pbb-vibecoding-masterclass.git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$ cd pbb-vibecoding-masterclass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>$ bash check.sh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98C379"/>
                </a:solidFill>
                <a:latin typeface="Consolas"/>
              </a:rPr>
              <a:t>  ✓ Node.js 20+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98C379"/>
                </a:solidFill>
                <a:latin typeface="Consolas"/>
              </a:rPr>
              <a:t>  ✓ git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98C379"/>
                </a:solidFill>
                <a:latin typeface="Consolas"/>
              </a:rPr>
              <a:t>  ✓ Claude Code installed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98C379"/>
                </a:solidFill>
                <a:latin typeface="Consolas"/>
              </a:rPr>
              <a:t>  ✓ api.anthropic.com reachable</a:t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E6E6E6"/>
                </a:solidFill>
                <a:latin typeface="Consolas"/>
              </a:rPr>
              <a:t/>
            </a:r>
          </a:p>
          <a:p>
            <a:pPr>
              <a:lnSpc>
                <a:spcPct val="135000"/>
              </a:lnSpc>
            </a:pPr>
            <a:r>
              <a:rPr sz="1300">
                <a:solidFill>
                  <a:srgbClr val="98C379"/>
                </a:solidFill>
                <a:latin typeface="Consolas"/>
              </a:rPr>
              <a:t>  All good. See you on the 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2860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300">
                <a:solidFill>
                  <a:srgbClr val="E8761B"/>
                </a:solidFill>
                <a:latin typeface="Calibri"/>
              </a:rPr>
              <a:t>OR SCAN</a:t>
            </a:r>
          </a:p>
        </p:txBody>
      </p:sp>
      <p:pic>
        <p:nvPicPr>
          <p:cNvPr id="12" name="Picture 11" descr="repo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651760"/>
            <a:ext cx="3108960" cy="3108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80960" y="58064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github.com/Place-Beyond-Bytes/pbb-vibecoding-masterclass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8761B"/>
                </a:solidFill>
                <a:latin typeface="Georgia"/>
              </a:rPr>
              <a:t>If check.sh isn't green, raise your hand. Buddy starts without you.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HANDS-ON  ·  EXERCISES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88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Ten exercises. Work in order until the break, then mix freely.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14213D"/>
                </a:solidFill>
                <a:latin typeface="Georgia"/>
              </a:rPr>
              <a:t>The ten exercises.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761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First 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26771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Read code, plan an improvement — no edits.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761B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606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Specs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63347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Convert a fuzzy client wish into checkable criteria.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761B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29718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Plans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9992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Critique three plans. Reject what's wrong.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761B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3375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TDD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36499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Red → green → refactor on validate_german_phone.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761B"/>
                </a:solidFill>
                <a:latin typeface="Consola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7033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Debug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73075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Name the root cause before the fix.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761B"/>
                </a:solidFill>
                <a:latin typeface="Consolas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06908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Subagents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09651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Spawn three parallel investigators. Verify one claim.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348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761B"/>
                </a:solidFill>
                <a:latin typeface="Consolas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4348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46227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Feature-by-feature build with verified handoffs.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006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761B"/>
                </a:solidFill>
                <a:latin typeface="Consolas"/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80060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Playwright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82803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Generate E2E tests for the Pomodoro app.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1663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761B"/>
                </a:solidFill>
                <a:latin typeface="Consolas"/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516636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Second Brain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19379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Wire up an Obsidian SessionEnd hook.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5321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E8761B"/>
                </a:solidFill>
                <a:latin typeface="Consolas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5321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4213D"/>
                </a:solidFill>
                <a:latin typeface="Georgia"/>
              </a:rPr>
              <a:t>ML scaffold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5559552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Train your own classifier. Read the numbers.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8761B"/>
                </a:solidFill>
                <a:latin typeface="Georgia"/>
              </a:rPr>
              <a:t>Plus 11-build: pick a project, ship it, demo it.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HANDS-ON  ·  PAIR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89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Mixed pairs. High-experience with low. Buddy stays for the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4213D"/>
                </a:solidFill>
                <a:latin typeface="Georgia"/>
              </a:rPr>
              <a:t>Trios, not duos.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0428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4213D"/>
                </a:solidFill>
                <a:latin typeface="Georgia"/>
              </a:rPr>
              <a:t>Pair up by show of hands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Experience: 1 (never) → 5 (daily). Highs and lows pair.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7296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4213D"/>
                </a:solidFill>
                <a:latin typeface="Georgia"/>
              </a:rPr>
              <a:t>Negotiate before prompting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11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Two humans align on the prompt. Claude is the third party.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4164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4213D"/>
                </a:solidFill>
                <a:latin typeface="Georgia"/>
              </a:rPr>
              <a:t>Driver/navigator rotates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480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Every 15 minutes. Both seats teach you different things.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910328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4213D"/>
                </a:solidFill>
                <a:latin typeface="Georgia"/>
              </a:rPr>
              <a:t>Talk through your plan out 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3492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Your buddy is the first reviewer. Claude is the second.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HANDS-ON  ·  HOUSE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90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On the wall the whole time. Live by them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0" i="0">
                <a:solidFill>
                  <a:srgbClr val="14213D"/>
                </a:solidFill>
                <a:latin typeface="Georgia"/>
              </a:rPr>
              <a:t>Four rules for the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E8761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3172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4213D"/>
                </a:solidFill>
                <a:latin typeface="Georgia"/>
              </a:rPr>
              <a:t>Trios, not duos.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74320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You, your buddy, and Claude. Two humans negotiate before either prompts.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E8761B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20040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4213D"/>
                </a:solidFill>
                <a:latin typeface="Georgia"/>
              </a:rPr>
              <a:t>Show your plan before your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61188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If you're stuck and ask me, the first question back is “what's your plan?”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E8761B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06908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4213D"/>
                </a:solidFill>
                <a:latin typeface="Georgia"/>
              </a:rPr>
              <a:t>Evidence wins.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4805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“It works” is not done. Show the green test. Show the screenshot. Verify.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E8761B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937760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14213D"/>
                </a:solidFill>
                <a:latin typeface="Georgia"/>
              </a:rPr>
              <a:t>No real client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349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Synthetic data only. No keys, no PII, no NDA-covered material.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97280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0" b="0" i="1">
                <a:solidFill>
                  <a:srgbClr val="FFFFFF"/>
                </a:solidFill>
                <a:latin typeface="Georgia"/>
              </a:rPr>
              <a:t>Go.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8899B0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35508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99B0"/>
                </a:solidFill>
                <a:latin typeface="Consolas"/>
              </a:rPr>
              <a:t>91 / 95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WRAP-UP  ·  THE RHYTHM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92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If you take one thing home, take this.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0" i="0">
                <a:solidFill>
                  <a:srgbClr val="14213D"/>
                </a:solidFill>
                <a:latin typeface="Georgia"/>
              </a:rPr>
              <a:t>The rhythm, again.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4320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43200"/>
            <a:ext cx="2011680" cy="164592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2918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4213D"/>
                </a:solidFill>
                <a:latin typeface="Georgia"/>
              </a:rPr>
              <a:t>SPEC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00400"/>
            <a:ext cx="1463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35224" y="274320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35224" y="2743200"/>
            <a:ext cx="2011680" cy="164592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32918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4213D"/>
                </a:solidFill>
                <a:latin typeface="Georgia"/>
              </a:rPr>
              <a:t>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46904" y="3200400"/>
            <a:ext cx="1463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93208" y="274320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93208" y="2743200"/>
            <a:ext cx="2011680" cy="164592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32918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4213D"/>
                </a:solidFill>
                <a:latin typeface="Georgia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3200400"/>
            <a:ext cx="1463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51192" y="274320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51192" y="2743200"/>
            <a:ext cx="2011680" cy="164592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32918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4213D"/>
                </a:solidFill>
                <a:latin typeface="Georgia"/>
              </a:rPr>
              <a:t>IMPLEMENT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3200400"/>
            <a:ext cx="14630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E8761B"/>
                </a:solidFill>
                <a:latin typeface="Georgia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09176" y="2743200"/>
            <a:ext cx="20116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409176" y="2743200"/>
            <a:ext cx="2011680" cy="164592"/>
          </a:xfrm>
          <a:prstGeom prst="rect">
            <a:avLst/>
          </a:prstGeom>
          <a:solidFill>
            <a:srgbClr val="E87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83496" y="32918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E8761B"/>
                </a:solidFill>
                <a:latin typeface="Georgia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1">
                <a:solidFill>
                  <a:srgbClr val="E8761B"/>
                </a:solidFill>
                <a:latin typeface="Georgia"/>
              </a:rPr>
              <a:t>In that order. Every time. Skip Verify and you didn't finish.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WRAP-UP  ·  HONESTY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93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We spent today on the right way. Here's the other 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 i="0">
                <a:solidFill>
                  <a:srgbClr val="14213D"/>
                </a:solidFill>
                <a:latin typeface="Georgia"/>
              </a:rPr>
              <a:t>When NOT to use Claude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860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High-stakes security-critical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317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Human review is non-negotiable.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718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Code touching real client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0175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Confidentiality rules apply. Personal accounts only.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576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When you don't know what you want yet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7033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Talk to a human first. Claude can't decide what to build.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3434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Five-line tweaks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3891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Just type them. Overhead isn't worth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29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E8761B"/>
                </a:solidFill>
                <a:latin typeface="Georgia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0292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4213D"/>
                </a:solidFill>
                <a:latin typeface="Georgia"/>
              </a:rPr>
              <a:t>When the problem isn't a software problem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074920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Calibri"/>
              </a:rPr>
              <a:t>Most “tech” problems are coordination problems.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6263640"/>
            <a:ext cx="11094415" cy="9525"/>
          </a:xfrm>
          <a:prstGeom prst="rect">
            <a:avLst/>
          </a:prstGeom>
          <a:solidFill>
            <a:srgbClr val="E5E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20">
                <a:solidFill>
                  <a:srgbClr val="6B6B6B"/>
                </a:solidFill>
                <a:latin typeface="Calibri"/>
              </a:rPr>
              <a:t>CHAIR OF SUSTAINABILITY AND INNOVATION IN DIGITAL ECOSYSTEMS  ·  UNIVERSITY OF DUISBURG-ESSEN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0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1" i="0" spc="200">
                <a:solidFill>
                  <a:srgbClr val="14213D"/>
                </a:solidFill>
                <a:latin typeface="Calibri"/>
              </a:rPr>
              <a:t>WRAP-UP  ·  TAKE WITH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6B6B6B"/>
                </a:solidFill>
                <a:latin typeface="Consolas"/>
              </a:rPr>
              <a:t>94 / 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6B6B6B"/>
                </a:solidFill>
                <a:latin typeface="Georgia"/>
              </a:rPr>
              <a:t>Bookmark these. Office hours open for two weeks.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601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14213D"/>
                </a:solidFill>
                <a:latin typeface="Georgia"/>
              </a:rPr>
              <a:t>Resources.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286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Workshop 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331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onsolas"/>
              </a:rPr>
              <a:t>github.com/Place-Beyond-Bytes/pbb-vibecoding-masterclass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803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Anthropic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926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onsolas"/>
              </a:rPr>
              <a:t>code.claude.com/docs/en  ·  the source of truth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4747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Anthropic Skilljar (free)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520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onsolas"/>
              </a:rPr>
              <a:t>Claude Code in Action — official video 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069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690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Cheatsheet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1148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onsolas"/>
              </a:rPr>
              <a:t>_handouts/cheatsheet.md — top commands and anti-patterns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6634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Plan Critique Checklist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709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onsolas"/>
              </a:rPr>
              <a:t>_handouts/plan-critique-checklist.md — the five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8761B"/>
                </a:solidFill>
                <a:latin typeface="Georgia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2578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14213D"/>
                </a:solidFill>
                <a:latin typeface="Georgia"/>
              </a:rPr>
              <a:t>Office hours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3035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B6B"/>
                </a:solidFill>
                <a:latin typeface="Consolas"/>
              </a:rPr>
              <a:t>30-min slots for two weeks. Email me to book.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ONE THING TO TAKE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 i="1">
                <a:solidFill>
                  <a:srgbClr val="FFFFFF"/>
                </a:solidFill>
                <a:latin typeface="Georgia"/>
              </a:rPr>
              <a:t>Spec.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 i="1">
                <a:solidFill>
                  <a:srgbClr val="FFFFFF"/>
                </a:solidFill>
                <a:latin typeface="Georgia"/>
              </a:rPr>
              <a:t>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 i="1">
                <a:solidFill>
                  <a:srgbClr val="FFFFFF"/>
                </a:solidFill>
                <a:latin typeface="Georgia"/>
              </a:rPr>
              <a:t>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 i="1">
                <a:solidFill>
                  <a:srgbClr val="FFFFFF"/>
                </a:solidFill>
                <a:latin typeface="Georgia"/>
              </a:rPr>
              <a:t>Implement.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0" i="1">
                <a:solidFill>
                  <a:srgbClr val="E8761B"/>
                </a:solidFill>
                <a:latin typeface="Georgia"/>
              </a:rPr>
              <a:t>Verify.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2495" y="17373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IN THAT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2495" y="2148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 spc="400">
                <a:solidFill>
                  <a:srgbClr val="E8761B"/>
                </a:solidFill>
                <a:latin typeface="Calibri"/>
              </a:rPr>
              <a:t>EVERY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2495" y="41148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4400" b="0" i="1">
                <a:solidFill>
                  <a:srgbClr val="FFFFFF"/>
                </a:solidFill>
                <a:latin typeface="Georgia"/>
              </a:rPr>
              <a:t>Thank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200">
                <a:solidFill>
                  <a:srgbClr val="8899B0"/>
                </a:solidFill>
                <a:latin typeface="Calibri"/>
              </a:rPr>
              <a:t>ELIAS JELINEK  ·  PLACE BEYOND BYTES  ·  SUST  ·  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899B0"/>
                </a:solidFill>
                <a:latin typeface="Consolas"/>
              </a:rPr>
              <a:t>95 / 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