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  <p:sldId id="313" r:id="rId64"/>
    <p:sldId id="314" r:id="rId65"/>
    <p:sldId id="315" r:id="rId66"/>
    <p:sldId id="316" r:id="rId67"/>
    <p:sldId id="317" r:id="rId68"/>
    <p:sldId id="318" r:id="rId69"/>
    <p:sldId id="319" r:id="rId70"/>
    <p:sldId id="320" r:id="rId71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3" r:id="rId84"/>
    <p:sldId id="334" r:id="rId85"/>
    <p:sldId id="335" r:id="rId8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Relationship Id="rId64" Type="http://schemas.openxmlformats.org/officeDocument/2006/relationships/slide" Target="slides/slide58.xml"/><Relationship Id="rId65" Type="http://schemas.openxmlformats.org/officeDocument/2006/relationships/slide" Target="slides/slide59.xml"/><Relationship Id="rId66" Type="http://schemas.openxmlformats.org/officeDocument/2006/relationships/slide" Target="slides/slide60.xml"/><Relationship Id="rId67" Type="http://schemas.openxmlformats.org/officeDocument/2006/relationships/slide" Target="slides/slide61.xml"/><Relationship Id="rId68" Type="http://schemas.openxmlformats.org/officeDocument/2006/relationships/slide" Target="slides/slide62.xml"/><Relationship Id="rId69" Type="http://schemas.openxmlformats.org/officeDocument/2006/relationships/slide" Target="slides/slide63.xml"/><Relationship Id="rId70" Type="http://schemas.openxmlformats.org/officeDocument/2006/relationships/slide" Target="slides/slide64.xml"/><Relationship Id="rId71" Type="http://schemas.openxmlformats.org/officeDocument/2006/relationships/slide" Target="slides/slide65.xml"/><Relationship Id="rId72" Type="http://schemas.openxmlformats.org/officeDocument/2006/relationships/slide" Target="slides/slide66.xml"/><Relationship Id="rId73" Type="http://schemas.openxmlformats.org/officeDocument/2006/relationships/slide" Target="slides/slide67.xml"/><Relationship Id="rId74" Type="http://schemas.openxmlformats.org/officeDocument/2006/relationships/slide" Target="slides/slide68.xml"/><Relationship Id="rId75" Type="http://schemas.openxmlformats.org/officeDocument/2006/relationships/slide" Target="slides/slide69.xml"/><Relationship Id="rId76" Type="http://schemas.openxmlformats.org/officeDocument/2006/relationships/slide" Target="slides/slide70.xml"/><Relationship Id="rId77" Type="http://schemas.openxmlformats.org/officeDocument/2006/relationships/slide" Target="slides/slide71.xml"/><Relationship Id="rId78" Type="http://schemas.openxmlformats.org/officeDocument/2006/relationships/slide" Target="slides/slide72.xml"/><Relationship Id="rId79" Type="http://schemas.openxmlformats.org/officeDocument/2006/relationships/slide" Target="slides/slide73.xml"/><Relationship Id="rId80" Type="http://schemas.openxmlformats.org/officeDocument/2006/relationships/slide" Target="slides/slide74.xml"/><Relationship Id="rId81" Type="http://schemas.openxmlformats.org/officeDocument/2006/relationships/slide" Target="slides/slide75.xml"/><Relationship Id="rId82" Type="http://schemas.openxmlformats.org/officeDocument/2006/relationships/slide" Target="slides/slide76.xml"/><Relationship Id="rId83" Type="http://schemas.openxmlformats.org/officeDocument/2006/relationships/slide" Target="slides/slide77.xml"/><Relationship Id="rId84" Type="http://schemas.openxmlformats.org/officeDocument/2006/relationships/slide" Target="slides/slide78.xml"/><Relationship Id="rId85" Type="http://schemas.openxmlformats.org/officeDocument/2006/relationships/slide" Target="slides/slide79.xml"/><Relationship Id="rId86" Type="http://schemas.openxmlformats.org/officeDocument/2006/relationships/slide" Target="slides/slide8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822960"/>
            <a:ext cx="2011680" cy="127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96012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A MASTERCLASS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1554480"/>
            <a:ext cx="10972800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0" b="0" i="1">
                <a:solidFill>
                  <a:srgbClr val="FFFFFF"/>
                </a:solidFill>
                <a:latin typeface="Georgia"/>
              </a:rPr>
              <a:t>Vibecoding.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79476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FAF7F0"/>
                </a:solidFill>
                <a:latin typeface="Georgia"/>
              </a:rPr>
              <a:t>Direct, verify, ship — with Claude Code.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526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&gt; a four-hour masterclass on agentic engineering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669280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FFFFFF"/>
                </a:solidFill>
                <a:latin typeface="Calibri"/>
              </a:rPr>
              <a:t>ELIAS JELINEK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5943600"/>
            <a:ext cx="9144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AF7F0"/>
                </a:solidFill>
                <a:latin typeface="Calibri"/>
              </a:rPr>
              <a:t>Place Beyond Bytes  ·  Chair of Sustainability and Innovation in Digital Ecosystems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6172200"/>
            <a:ext cx="7315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0">
                <a:solidFill>
                  <a:srgbClr val="FAF7F0"/>
                </a:solidFill>
                <a:latin typeface="Calibri"/>
              </a:rPr>
              <a:t>University of Duisburg-Essen  ·  Summer 2026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820095" y="6172200"/>
            <a:ext cx="914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WHAT THE NEXT HOUR LOOKS LIKE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02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An hour of theory and demos. Then three hours of doing.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Agenda.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19456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1945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What's possible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22199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Six live demos — code, multi-agent, browser, ML, automation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9748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6974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The mindset shift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72491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From vibe-coding to agentic engineering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20040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200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Coding workflows — the core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22783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Specs, plans, repo setup, tests, orchestrator, deploy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70332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37033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Beyond coding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373075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Daily automations, project management, Second Brain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20624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42062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AI engineering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23367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Using Claude Code to scaffold ML training, RAG, evals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70916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737360" y="47091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The wider toolbox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943600" y="473659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Cursor, Cline, Aider, Codex — when to use what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212080"/>
            <a:ext cx="7315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E8761B"/>
                </a:solidFill>
                <a:latin typeface="Consolas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737360" y="52120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Your turn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943600" y="5239512"/>
            <a:ext cx="5943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Three hours of hands-on, in pairs, in this repo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01  ·  HOOK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03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From one paragraph to a working app, in under five minutes.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4213D"/>
                </a:solidFill>
                <a:latin typeface="Georgia"/>
              </a:rPr>
              <a:t>Vibe-build an MVP.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4937760" cy="21945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4425696" cy="16824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30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"Build a Pomodoro timer.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25 min focus, 5 min rest.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Stats persist. Editorial style.</a:t>
            </a:r>
          </a:p>
          <a:p>
            <a:pPr>
              <a:lnSpc>
                <a:spcPct val="135000"/>
              </a:lnSpc>
            </a:pPr>
            <a:r>
              <a:rPr sz="1300">
                <a:solidFill>
                  <a:srgbClr val="E6E6E6"/>
                </a:solidFill>
                <a:latin typeface="Consolas"/>
              </a:rPr>
              <a:t> Cream + coral. No frameworks."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934075" y="1864994"/>
            <a:ext cx="5505450" cy="3128010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01-pomodo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0" y="1874519"/>
            <a:ext cx="5486400" cy="310896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5943600" y="5074919"/>
            <a:ext cx="54864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0" i="1">
                <a:solidFill>
                  <a:srgbClr val="6B6B6B"/>
                </a:solidFill>
                <a:latin typeface="Calibri"/>
              </a:rPr>
              <a:t>Final UI · localStorage persistence · zero dependencies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" y="4297680"/>
            <a:ext cx="51206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ONE PROMPT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663440"/>
            <a:ext cx="512064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No framework. No build step. Spec-tight prompt + plan mode + render = working app.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But this is the easy part. Now what about real software?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02  ·  THE FULL 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04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How production-ish features actually move through Claude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Spec → Plan → Implementation.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17373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SPEC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2029968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demos/02-…/spec.md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31520" y="2286000"/>
            <a:ext cx="3611880" cy="35661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2542032"/>
            <a:ext cx="30998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>
                <a:solidFill>
                  <a:srgbClr val="E8761B"/>
                </a:solidFill>
                <a:latin typeface="Consolas"/>
              </a:rPr>
              <a:t># Spec — CSV Export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7F848A"/>
                </a:solidFill>
                <a:latin typeface="Consolas"/>
              </a:rPr>
              <a:t>Owner: Elias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7F848A"/>
                </a:solidFill>
                <a:latin typeface="Consolas"/>
              </a:rPr>
              <a:t>Status: approved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## Checkable criteria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1. export_to_csv(rows, out) ...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2. Header row present.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3. UTF-8, RFC 4180.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4. Empty rows → header only.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5. Refuses to overwrite.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## Out of scope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7F848A"/>
                </a:solidFill>
                <a:latin typeface="Consolas"/>
              </a:rPr>
              <a:t>- xlsx output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7F848A"/>
                </a:solidFill>
                <a:latin typeface="Consolas"/>
              </a:rPr>
              <a:t>- multi-currency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34840" y="17373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PLAN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34840" y="2029968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demos/02-…/plan.md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34840" y="2286000"/>
            <a:ext cx="3611880" cy="35661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90872" y="2542032"/>
            <a:ext cx="30998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>
                <a:solidFill>
                  <a:srgbClr val="E8761B"/>
                </a:solidFill>
                <a:latin typeface="Consolas"/>
              </a:rPr>
              <a:t># Plan — CSV Export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→ parser.py: add export_to_csv()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→ tests/test_export.py: 3 tests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## Assumptions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- csv.DictWriter, comma delim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- Path-wrap out_path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## Done when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- 3 tests green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>- empty.csv has 1 line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138160" y="1737360"/>
            <a:ext cx="36118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DIFF + TEST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138160" y="2029968"/>
            <a:ext cx="36118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parser.py + pytest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286000"/>
            <a:ext cx="3611880" cy="35661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94192" y="2542032"/>
            <a:ext cx="30998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+ CSV_COLUMNS = ('date',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    'shop', 'item',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    'price', 'currency')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+ def export_to_csv(rows, out):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+     if out.exists():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+         raise FileExistsError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test_round_trip       PASSED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test_empty_header     PASSED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test_refuses_over     PASSED</a:t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00">
                <a:solidFill>
                  <a:srgbClr val="98C379"/>
                </a:solidFill>
                <a:latin typeface="Consolas"/>
              </a:rPr>
              <a:t>=== 3 passed in 0.04s ===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Three artifacts. Each reviewable. Each persists after the code ships.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03  ·  ORCHESTRATION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05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One conversation. Three parallel investigators. Synthesized in seconds.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Multi-agent in motion.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40233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10186416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You: Spawn three Explore subagents in parallel on this codebase. Ask: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(1) where is URL validation done?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(2) external dependencies and pinned versions?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(3) any password or token leaking into logs?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Synthesize.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[orchestrator] Dispatching 3 Explore agents in parallel...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AGENT 1  →  validators ⏎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AGENT 2  →  dependencies ⏎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AGENT 3  →  security audit ⏎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[2.4s] AGENT 1 returned (1 finding)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[2.7s] AGENT 2 returned (4 findings)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[3.1s] AGENT 3 returned (2 findings, HIGH severity)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Synthesis: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URL validation lives in validators.py:9. The shortener has a weaker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fallback regex at shortener.py:14 — recommend consolidating.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Pinned deps: requests==2.31.0, click==8.1.7, pydantic==2.6.1,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sqlalchemy==2.0.27. All current.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Three parallel agents. One synthesis. You read it like a tech lead.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04  ·  BEYOND THE TERMINAL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06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Claude Code drives a real browser — extraction, automation, admin.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Browser-driving Claude.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40233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10186416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You: Open arxiv.org/list/cs.AI/recent in Chrome. Extract the top 5 paper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titles with their submission dates. Output as JSON.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[claude] Using Chrome MCP...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98C379"/>
                </a:solidFill>
                <a:latin typeface="Consolas"/>
              </a:rPr>
              <a:t>  ✓ tab_create  https://arxiv.org/list/cs.AI/recent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98C379"/>
                </a:solidFill>
                <a:latin typeface="Consolas"/>
              </a:rPr>
              <a:t>  ✓ get_page_text                                 (1.2s)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98C379"/>
                </a:solidFill>
                <a:latin typeface="Consolas"/>
              </a:rPr>
              <a:t>  ✓ extracted 5 entries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[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{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"title": "Direct Preference Optimization for Code Agents",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"authors": "Wang, Chen, Müller",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"submitted": "2026-05-13",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"id": "2605.04812"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},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{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"title": "Spec-Driven Generation: A Survey of Production Workflows",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"authors": "Park, Iyer, Schmidt",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"submitted": "2026-05-13",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"id": "2605.04780"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},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{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"title": "Verified Subagent Composition in Multi-Agent Coding Systems",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"authors": "Garcia, Liu",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Same model, different surface. Code is just one of the surfaces.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05  ·  TRAINING A MODEL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07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20-newsgroups, four topics. Claude scaffolds the pipeline; you read the numbers.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Claude trains an ML model.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10698480" cy="40233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10186416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Loading 20-newsgroups subset (4 topics)...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Train: 2323 docs  ·  Test: 1546 docs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Classes: graphics, hockey, space, guns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Training...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Test accuracy:  0.895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Confusion matrix (rows = actual, columns = predicted):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graphics    hockey     space      guns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graphics       353         3        28         5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hockey         4       369        15        11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space        23         7       346        18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guns        13         2        34       315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Per-class report: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           precision    recall  f1-score   support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comp.graphics       0.90      0.91      0.90       389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rec.sport.hockey       0.97      0.92      0.95       399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     sci.space       0.82      0.88      0.85       394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talk.politics.guns       0.90      0.87      0.88       364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89.5% accuracy across four topics. Real dataset. Real numbers.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DEMO 06  ·  THE SECOND BRAIN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08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502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Claude Code writes to your vault. Every session ends as a note.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822960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Notes that write themselves.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1874519"/>
            <a:ext cx="6858000" cy="40233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130551"/>
            <a:ext cx="6345936" cy="35112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~/Documents/Obsidian Vault/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00-Inbox/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Inbox.md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01-Projects/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Vibecoding Masterclass.md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Inexogy Invoice Service.md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ECIS 2026 Paper.md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03-Knowledge/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Spec-Driven Development.md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Multi-Agent Patterns.md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Claude Code Hooks.md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04-People/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Mahnoor Shah.md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Khan, Güzey, Nielsen.md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05-Meetings/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2026-05-14 SUST Triannual.md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08-Sessions/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2026-05-14 Inbox.md         ← AUTO-GENERATED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├── 2026-05-13 Forderung.md     ← AUTO-GENERATED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│   └── 2026-05-12 Aktivbank.md     ← AUTO-GENERATED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└── .claude/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└── hooks/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  └── session-end.sh           ← writes today's session note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1874519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HOW IT WORKS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240280"/>
            <a:ext cx="36576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A SessionEnd hook fires when you close Claude Code.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The hook writes a markdown note to your Obsidian vault — what you worked on, decisions made, open questions.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Tomorrow's session reads it back. Nothing gets lost.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Your brain has limits. Your filesystem doesn't.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WHAT THESE DEMOS HAVE IN COMMON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09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Six demos. One shape.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The thread.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0428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You wrote the spec, not the code.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4320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prompt was a tight description of what you wanted.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7296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Claude proposed a plan before acting.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1188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Even on small demos, there's a plan you could intercept.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The output was reviewable.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48056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Test green, screenshot, diff, accuracy — evidence each time.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910328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You stayed the human in the loop.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49240"/>
            <a:ext cx="9601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Claude did the typing. You did the judging.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Now let's unpack how to actually run this discipline.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74320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5600" b="0" i="1">
                <a:solidFill>
                  <a:srgbClr val="FFFFFF"/>
                </a:solidFill>
                <a:latin typeface="Georgia"/>
              </a:rPr>
              <a:t>Now let's unpack how</a:t>
            </a:r>
          </a:p>
          <a:p>
            <a:pPr algn="l">
              <a:lnSpc>
                <a:spcPct val="110000"/>
              </a:lnSpc>
            </a:pPr>
            <a:r>
              <a:rPr sz="5600" b="0" i="1">
                <a:solidFill>
                  <a:srgbClr val="FFFFFF"/>
                </a:solidFill>
                <a:latin typeface="Georgia"/>
              </a:rPr>
              <a:t>this actually works.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FAF7F0"/>
                </a:solidFill>
                <a:latin typeface="Georgia"/>
              </a:rPr>
              <a:t>The mindset → the workflow → the wider toolbox.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10 / 80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Vibecoding →</a:t>
            </a:r>
          </a:p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Agentic Engineering.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A mindset shift, not a tool swap.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11 / 80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PREMISE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12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 the marketing says.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The promise.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560320"/>
            <a:ext cx="38100" cy="27432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188720" y="256032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Georgia"/>
              </a:rPr>
              <a:t>“Describe what you want in natural language 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88720" y="306324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A1A1A"/>
                </a:solidFill>
                <a:latin typeface="Georgia"/>
              </a:rPr>
              <a:t>the AI writes the code for you.”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114800"/>
            <a:ext cx="105156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6B6B6B"/>
                </a:solidFill>
                <a:latin typeface="Calibri"/>
              </a:rPr>
              <a:t>— every AI coding demo on every conference stage, 2024-2026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56692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And to be fair — sometimes it really does work like that.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REALITY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13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 you ship if you stop there.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And the catch.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Hallucinated APIs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3172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calls a function that doesn't exist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803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Silent scope creep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292608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asked for one feature, got four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Plausible bugs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52044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looks right; fails on the second input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690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False “done”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11480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tests not run, output not seen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6344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No paper trail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470916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 spec, no plan, can't reproduce decisions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We need engineering discipline back. With the AI, not despite it.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468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THE FRAMEWORK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788920"/>
            <a:ext cx="1828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0" b="0" i="1">
                <a:solidFill>
                  <a:srgbClr val="E8761B"/>
                </a:solidFill>
                <a:latin typeface="Georgia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291840" y="3200400"/>
            <a:ext cx="82296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FFFFFF"/>
                </a:solidFill>
                <a:latin typeface="Georgia"/>
              </a:rPr>
              <a:t>Three lies AI coding</a:t>
            </a:r>
          </a:p>
          <a:p>
            <a:pPr algn="l">
              <a:lnSpc>
                <a:spcPct val="110000"/>
              </a:lnSpc>
            </a:pPr>
            <a:r>
              <a:rPr sz="4600" b="0" i="0">
                <a:solidFill>
                  <a:srgbClr val="FFFFFF"/>
                </a:solidFill>
                <a:latin typeface="Georgia"/>
              </a:rPr>
              <a:t>tools tell us.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14 / 80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THREE LIES  ·  1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15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LIE 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1">
                <a:solidFill>
                  <a:srgbClr val="14213D"/>
                </a:solidFill>
                <a:latin typeface="Georgia"/>
              </a:rPr>
              <a:t>“It works.”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08960"/>
            <a:ext cx="457200" cy="1905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017520"/>
            <a:ext cx="96012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It looks like it works. The imports look right, the signature looks right, the README looks right.</a:t>
            </a:r>
          </a:p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But did anyone run it?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Calibri"/>
              </a:rPr>
              <a:t>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E8761B"/>
                </a:solidFill>
                <a:latin typeface="Georgia"/>
              </a:rPr>
              <a:t>Verification before done.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THREE LIES  ·  2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16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LIE 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1">
                <a:solidFill>
                  <a:srgbClr val="14213D"/>
                </a:solidFill>
                <a:latin typeface="Georgia"/>
              </a:rPr>
              <a:t>“I understand.”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08960"/>
            <a:ext cx="457200" cy="1905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017520"/>
            <a:ext cx="96012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It pattern-matched your keywords.</a:t>
            </a:r>
          </a:p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It may have grasped the surface. It rarely grasps the intent.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Calibri"/>
              </a:rPr>
              <a:t>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E8761B"/>
                </a:solidFill>
                <a:latin typeface="Georgia"/>
              </a:rPr>
              <a:t>Write a spec. Or make Claude write one — then review it.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THREE LIES  ·  3 OF 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17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LIE 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005840"/>
            <a:ext cx="109728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7200" b="0" i="1">
                <a:solidFill>
                  <a:srgbClr val="14213D"/>
                </a:solidFill>
                <a:latin typeface="Georgia"/>
              </a:rPr>
              <a:t>“I'm done.”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3108960"/>
            <a:ext cx="457200" cy="1905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371600" y="3017520"/>
            <a:ext cx="96012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2200" b="0" i="0">
                <a:solidFill>
                  <a:srgbClr val="1A1A1A"/>
                </a:solidFill>
                <a:latin typeface="Georgia"/>
              </a:rPr>
              <a:t>“Done” is a status, not a feeling. Done means the code is written, the tests pass, the output was seen — by you.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6B6B6B"/>
                </a:solidFill>
                <a:latin typeface="Calibri"/>
              </a:rPr>
              <a:t>DISCIPLINE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5806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1">
                <a:solidFill>
                  <a:srgbClr val="E8761B"/>
                </a:solidFill>
                <a:latin typeface="Georgia"/>
              </a:rPr>
              <a:t>Stop conditions. Show your work.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RHYTHM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18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five steps. In this order. Every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The rhythm.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Spec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What you want. Checkable success criteria.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34640" y="3749040"/>
            <a:ext cx="91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92608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292608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324612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24612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Plan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24612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Recipe between spec and code. Reviewable.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749040"/>
            <a:ext cx="91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12064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12064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44068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4068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Test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4068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At least one failing test before code.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3749040"/>
            <a:ext cx="91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31520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731520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63524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63524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Implement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63524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The boring step.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418320" y="3749040"/>
            <a:ext cx="91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509760" y="2377440"/>
            <a:ext cx="2103120" cy="310896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9509760" y="2377440"/>
            <a:ext cx="146304" cy="31089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9829800" y="2651760"/>
            <a:ext cx="2103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829800" y="3291840"/>
            <a:ext cx="1645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300" b="0" i="0">
                <a:solidFill>
                  <a:srgbClr val="14213D"/>
                </a:solidFill>
                <a:latin typeface="Georgia"/>
              </a:rPr>
              <a:t>Verify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829800" y="3931920"/>
            <a:ext cx="164592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Run it. See the output. Show evidence.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Skip any one of these and you didn't really ship.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Coding workflows.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Where the actual discipline lives.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19 / 80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SPECIFICATIONS  ·  01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20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 spec is not a wish list. It's a contract you can check.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4213D"/>
                </a:solidFill>
                <a:latin typeface="Georgia"/>
              </a:rPr>
              <a:t>What is a spec?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539496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5394960" cy="50292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963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VAGUE INTENT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004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6B6B"/>
                </a:solidFill>
                <a:latin typeface="Georgia"/>
              </a:rPr>
              <a:t>“Make the dashboard faster.”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7947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6B6B"/>
                </a:solidFill>
                <a:latin typeface="Georgia"/>
              </a:rPr>
              <a:t>“Improve the user experience.”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3891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6B6B"/>
                </a:solidFill>
                <a:latin typeface="Georgia"/>
              </a:rPr>
              <a:t>“Handle errors properly.”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9834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1">
                <a:solidFill>
                  <a:srgbClr val="6B6B6B"/>
                </a:solidFill>
                <a:latin typeface="Georgia"/>
              </a:rPr>
              <a:t>“Make it work for our enterprise client.”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0" y="2377440"/>
            <a:ext cx="50292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0" y="2377440"/>
            <a:ext cx="502920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675120" y="24963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CHECKABLE SUCCESS CRITERIA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675120" y="320040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4213D"/>
                </a:solidFill>
                <a:latin typeface="Georgia"/>
              </a:rPr>
              <a:t>Dashboard renders &lt; 2s at p95.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379476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4213D"/>
                </a:solidFill>
                <a:latin typeface="Georgia"/>
              </a:rPr>
              <a:t>All forms submit &lt; 250ms.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438912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4213D"/>
                </a:solidFill>
                <a:latin typeface="Georgia"/>
              </a:rPr>
              <a:t>Invalid input → 400 + body.error.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49834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600" b="0" i="0">
                <a:solidFill>
                  <a:srgbClr val="14213D"/>
                </a:solidFill>
                <a:latin typeface="Georgia"/>
              </a:rPr>
              <a:t>Multi-tenant: row isolation per tenant_id.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603504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If you can't tell whether you're done, you don't have a spec.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SPECIFICATIONS  ·  02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21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Five elements. Always.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Anatomy of a good spec.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67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Why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313432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motivation. Who asked, what problem it solves.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809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What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3026664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thing being built — one paragraph, no jargon.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9417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Checkable success criteria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739896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Numbered list. Each item testable. No interpretation.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0740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What it must NOT do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453128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Failure modes, scope boundaries, things to refuse.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1206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Out of scope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166360"/>
            <a:ext cx="58521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Explicit exclusions. Prevents scope creep mid-build.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See demos/02-spec-plan-impl/spec.md for a real example.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SPECIFICATIONS  ·  03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22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Clients give you wishes. You convert wishes into checkable criteria.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Capturing specs from clients.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“What happens when this works?”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06640" y="23317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Forces them to describe an outcome, not a feature.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718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“What does failure look like?”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06640" y="30175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Surfaces the unspoken edge cases.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6576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“Who else needs to sign off?”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06640" y="37033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Reveals the actual decision tree, not the org chart.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434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“What's explicitly OUT of scope?”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06640" y="43891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The hardest question. The most valuable answer.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92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14213D"/>
                </a:solidFill>
                <a:latin typeface="Georgia"/>
              </a:rPr>
              <a:t>“Can I read the spec back to you?”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06640" y="5074920"/>
            <a:ext cx="44805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The demo-it-back loop. Catches misalignment before code.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SPECIFICATIONS  ·  04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23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Code rots fastest. Specs rot slowest. Treat them accordingly.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0" i="0">
                <a:solidFill>
                  <a:srgbClr val="14213D"/>
                </a:solidFill>
                <a:latin typeface="Georgia"/>
              </a:rPr>
              <a:t>Specs outlive the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38100" cy="320040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22860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14213D"/>
                </a:solidFill>
                <a:latin typeface="Georgia"/>
              </a:rPr>
              <a:t>Code is an implementation.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97280" y="283464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14213D"/>
                </a:solidFill>
                <a:latin typeface="Georgia"/>
              </a:rPr>
              <a:t>It changes weekly.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97280" y="402336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0">
                <a:solidFill>
                  <a:srgbClr val="E8761B"/>
                </a:solidFill>
                <a:latin typeface="Georgia"/>
              </a:rPr>
              <a:t>The spec is the contract.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97280" y="4572000"/>
            <a:ext cx="5486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400" b="0" i="1">
                <a:solidFill>
                  <a:srgbClr val="E8761B"/>
                </a:solidFill>
                <a:latin typeface="Georgia"/>
              </a:rPr>
              <a:t>It changes when the deal changes.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15200" y="228600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WHY THIS MATTERS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0" y="2651760"/>
            <a:ext cx="457200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When a regression hits production six months later, you don't ask “what did the code do.” You ask “what was this supposed to do.”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The spec answers that. The code does not.</a:t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/>
            </a:r>
          </a:p>
          <a:p>
            <a:pPr algn="l">
              <a:lnSpc>
                <a:spcPct val="14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Store specs in version control. Reference them in PRs. They are the contract.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PLANS  ·  01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24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recipe between the spec and the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200" b="0" i="0">
                <a:solidFill>
                  <a:srgbClr val="14213D"/>
                </a:solidFill>
                <a:latin typeface="Georgia"/>
              </a:rPr>
              <a:t>What is a plan?</a:t>
            </a:r>
          </a:p>
        </p:txBody>
      </p:sp>
      <p:sp>
        <p:nvSpPr>
          <p:cNvPr id="9" name="Rectangle 8"/>
          <p:cNvSpPr/>
          <p:nvPr/>
        </p:nvSpPr>
        <p:spPr>
          <a:xfrm>
            <a:off x="1371600" y="2743200"/>
            <a:ext cx="29260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371600" y="2743200"/>
            <a:ext cx="2926080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645920" y="28529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SPEC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645920" y="34747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14213D"/>
                </a:solidFill>
                <a:latin typeface="Georgia"/>
              </a:rPr>
              <a:t>What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0" y="32918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6B6B6B"/>
                </a:solidFill>
                <a:latin typeface="Georgia"/>
              </a:rPr>
              <a:t>→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846320" y="2743200"/>
            <a:ext cx="29260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846320" y="2743200"/>
            <a:ext cx="29260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120640" y="28529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PLAN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34747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E8761B"/>
                </a:solidFill>
                <a:latin typeface="Georgia"/>
              </a:rPr>
              <a:t>How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772400" y="3291840"/>
            <a:ext cx="548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400" b="0" i="0">
                <a:solidFill>
                  <a:srgbClr val="6B6B6B"/>
                </a:solidFill>
                <a:latin typeface="Georgia"/>
              </a:rPr>
              <a:t>→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321040" y="2743200"/>
            <a:ext cx="2926080" cy="18288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321040" y="2743200"/>
            <a:ext cx="2926080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0" y="2852928"/>
            <a:ext cx="29260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595360" y="3474720"/>
            <a:ext cx="292608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1">
                <a:solidFill>
                  <a:srgbClr val="14213D"/>
                </a:solidFill>
                <a:latin typeface="Georgia"/>
              </a:rPr>
              <a:t>Done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Without a plan, the spec stays an idea and the code becomes a guess.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9436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A good plan is shorter than you expect.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PLANS  ·  02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25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Five questions on every plan Claude proposes. Always.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Anatomy of a good plan.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States its assumptions out loud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331720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“I'm assuming X.” Not silent guessing.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99232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Names the exact files it will touch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044952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parser.py:42, not “the parser”.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712464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Proposes at least one test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3758184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“Here's the test that proves this works.”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425696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Stays scoped to what you asked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471416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Count the verbs. Cut bonus features.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5486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138928"/>
            <a:ext cx="5943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900" b="0" i="0">
                <a:solidFill>
                  <a:srgbClr val="14213D"/>
                </a:solidFill>
                <a:latin typeface="Georgia"/>
              </a:rPr>
              <a:t>Doesn't claim what it can't know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98079" y="5184648"/>
            <a:ext cx="43891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0" i="1">
                <a:solidFill>
                  <a:srgbClr val="6B6B6B"/>
                </a:solidFill>
                <a:latin typeface="Consolas"/>
              </a:rPr>
              <a:t>“Following the existing convention” — which?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PLANS  ·  03 / 03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26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Plan mode = read-only exploration before any approval-gated change.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Plan mode in Claude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38328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287121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&gt; claude /plan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Task: refactor the auth middleware.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[exploring codebase ...]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[reading 14 files in ./src/auth/]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[reading 3 test files]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Plan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1. Extract token validation into auth/tokens.py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2. Replace direct DB calls with the new repo class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3. Add 5 unit tests in tests/auth/test_tokens.py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5C07B"/>
                </a:solidFill>
                <a:latin typeface="Consolas"/>
              </a:rPr>
              <a:t>Assumptions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- Keeping the existing JWT secret env var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- NOT changing the public API surface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Approve? (y/n/edit)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Nothing changes on disk until you approve. That's the point.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REPO STRUCTURE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27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 layout Claude Code can navigate without guessing.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Repo setup for agent-friendly work.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project/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README.md         ← what + how to run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├── CLAUDE.md         ← conventions, ≤ 200 lines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specs/            ← versioned specs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└── 0001-csv-export.md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src/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└── parser.py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tests/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└── test_parser.py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├── .claude/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│   ├── hooks/        ← deterministic automation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│   └── pre-commit.sh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│   └── skills/       ← capability uplift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│       └── csv-export.md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└── .github/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└── workflows/    ← CI as a verify gate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PRINCIPLES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One CLAUDE.md per repo, root level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63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Specs as first-class artifacts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Hooks for the things you forget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977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Skills for the things you repeat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434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CI = automated verify gate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No deep nesting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PERSISTENCE LAYER  ·  01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28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Read at session start. Sticks across every prompt. Keep it short.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CLAUDE.md — project DNA.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# Project conventions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## The rhythm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SPEC → PLAN → TEST → IMPL → VERIFY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## When you're working here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Use plan mode for &gt;1 file changes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Tests before implementation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Never claim done without output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Cite file:line for every reference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No real client data, ever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## What to avoid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Long try/except that swallow errors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Premature abstraction (&lt; 3 callers)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 Comments that say what code does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RULES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≤ 200 lines. Hard cap.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63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Conventions, not code.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“Why” over “what”.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977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Update when the project drifts.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434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Run `claude /init` to bootstrap.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It's advisory — ~80% compliance.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PERSISTENCE LAYER  ·  02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29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When 80% isn't good enough. Deterministic, every time.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Hooks — automate the must-haves.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# .claude/settings.json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"hooks": 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"PreToolUse": [{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"matcher": "Edit|Write",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      "command": "ruff format --check"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}],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"PostToolUse": [{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  "matcher": "Edit",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      "command": "pytest -q tests/"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}],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"SessionEnd": [{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      "command": "~/.claude/session-note.sh"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  }]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}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}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USE FOR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Linting and formatting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632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Security checks before commit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520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Auto-tests on file changes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9776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Session notes to your vault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4348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Logging, telemetry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892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Refusing forbidden patterns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PERSISTENCE LAYER  ·  03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30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Two kinds: give Claude new abilities, or encode your taste.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Skills — capabilities + preferences.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539496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5394960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0487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CAPABILITY UPLIFT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Give Claude a new ability.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862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pdf — read and edit PDF files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0624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browser — open pages, fill forms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2628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playwright — generate E2E tests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84632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fastapi-backend-design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6636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database-design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486400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ml-training-pipelines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400800" y="2286000"/>
            <a:ext cx="5029200" cy="34747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400800" y="2286000"/>
            <a:ext cx="502920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675120" y="240487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ENCODED PREFERENCE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15468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Guide existing capabilities.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8862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german-client-communication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20624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gdpr-dsgvo-compliance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52628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meeting-to-actions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writing-plans (this discipline!)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516636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polished-ui-design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5486400"/>
            <a:ext cx="45720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onsolas"/>
              </a:rPr>
              <a:t>·  verification-before-completion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761B"/>
                </a:solidFill>
                <a:latin typeface="Georgia"/>
              </a:rPr>
              <a:t>Skills are markdown. MCP is JSON-RPC. Skills know things; MCP does things.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THE PERSISTENCE LAYER  ·  04 / 04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31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Claude can now act outside the terminal — through any MCP-speaking tool.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MCP — the action layer.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$ claude mcp add notion --token=...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$ claude mcp add slack --workspace=...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$ claude mcp add postgres --conn=...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$ claude mcp add chrome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$ claude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&gt; "Read today's standup notes from Slack,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create a Notion page summarising blockers,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then open chrome to file the bug."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mcp__slack__read_channel 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mcp__notion__create-pages 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mcp__chrome__navigate 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mcp__chrome__form_input ...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POPULAR MCP SERVERS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Notion (docs, databases)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175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Slack (channels, threads)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Linear (issues, projects)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8404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Gmail / Google Calendar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2519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Chrome (browser automation)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663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GitHub (via gh CLI)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074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Postgres / SQLite / DuckDB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498079" y="54864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Filesystem with permissions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TESTING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32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Tests aren't safety nets. They're the spec, executable.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Unit tests — what they actually are.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8580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63459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7F848A"/>
                </a:solidFill>
                <a:latin typeface="Consolas"/>
              </a:rPr>
              <a:t># tests/test_export.py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from parser import export_to_csv, parse_receipts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def test_round_trip(tmp_path):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rows = parse_receipts(SAMPLE)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out = tmp_path / "out.csv"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export_to_csv(rows, out)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assert out.read_text().count("\n") == 14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def test_empty_writes_header_only(tmp_path):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out = tmp_path / "empty.csv"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export_to_csv([], out)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assert out.read_text().splitlines() == [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"date,shop,item,price,currency"]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def test_refuses_overwrite(tmp_path):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out = tmp_path / "x.csv"; out.touch()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with pytest.raises(FileExistsError):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export_to_csv([], out)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194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GOOD UNIT TESTS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6060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Test one behavior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863840" y="30632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Read like a 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863840" y="35204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Fail loudly with a clear message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39776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Don't share state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0" y="44348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Run in milliseconds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63840" y="489204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Cover happy path AND one failure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TESTING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33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Standard TDD. Just with Claude as the typist.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Red, green, refactor.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46888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468880"/>
            <a:ext cx="3611880" cy="502920"/>
          </a:xfrm>
          <a:prstGeom prst="rect">
            <a:avLst/>
          </a:prstGeom>
          <a:solidFill>
            <a:srgbClr val="E06C7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58775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RED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24612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Failing tests first.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34840" y="246888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34840" y="2468880"/>
            <a:ext cx="3611880" cy="502920"/>
          </a:xfrm>
          <a:prstGeom prst="rect">
            <a:avLst/>
          </a:prstGeom>
          <a:solidFill>
            <a:srgbClr val="98C3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09160" y="258775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GREEN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709160" y="324612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Simplest code that passes.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138160" y="246888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138160" y="2468880"/>
            <a:ext cx="36118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12480" y="258775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REFACTOR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12480" y="3246120"/>
            <a:ext cx="3063240" cy="1554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Only if simpler. Else stop.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4864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Claude *will* try to write the function first. Correct it. Always.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E2E TESTING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34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Web UI? Then Playwright tests, autogenerated from the spec.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Playwright + Claude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// Generated by Claude Code from spec.md in 90 seconds.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import { test, expect } from "@playwright/test";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test.describe("Pomodoro", ()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test.beforeEach(async ({ page })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page.goto("file://" + process.cwd() + "/demos/01-mvp-pomodoro/index.html");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});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test("starts at 25:00 in FOCUS mode", async ({ page })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expect(page.locator("#timer")).toHaveText("25:00");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expect(page.locator("#mode")).toHaveText("FOCUS");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});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test("ticks down after START", async ({ page })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page.click("#start");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page.waitForTimeout(1100);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const txt = await page.locator("#timer").textContent();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expect(txt).toBe("24:59");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});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test("PAUSE freezes the timer", async ({ page }) =&gt; {</a:t>
            </a:r>
          </a:p>
          <a:p>
            <a:pPr>
              <a:lnSpc>
                <a:spcPct val="135000"/>
              </a:lnSpc>
            </a:pPr>
            <a:r>
              <a:rPr sz="1050">
                <a:solidFill>
                  <a:srgbClr val="E6E6E6"/>
                </a:solidFill>
                <a:latin typeface="Consolas"/>
              </a:rPr>
              <a:t>    await page.click("#start");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Generated from the spec for the Pomodoro app. 90 seconds.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VERIFICATION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35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Green tests are necessary. Not sufficient.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Verify properly.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67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Run the feature end-to-end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035040" y="23134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Not the test. The actual feature, as a user would.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535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Inspect the artifact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0" y="29992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Open the CSV. Read the rendered page. Curl the endpoint.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393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Try one adversarial input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035040" y="36850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Empty list. Special chars. Concurrency. The thing that scared you.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3251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Compare to the spec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035040" y="43708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Each checkable criterion: tick or not?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0109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Show evidence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035040" y="5056632"/>
            <a:ext cx="58521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Paste output, attach screenshot, save the log. Make it visible.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ITERATION CYCLES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36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Feature by feature. Evidence each loop. No skipping.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Iteration cycles.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10698480" cy="356616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42032"/>
            <a:ext cx="10186416" cy="305409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98C379"/>
                </a:solidFill>
                <a:latin typeface="Consolas"/>
              </a:rPr>
              <a:t>loop: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1. pick the next spec criterion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2. /plan — propose, review, approve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3. write failing test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4. implement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5. run test → green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6. run feature end-to-end → works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7. paste evidence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5C07B"/>
                </a:solidFill>
                <a:latin typeface="Consolas"/>
              </a:rPr>
              <a:t>    8. check against spec — drift? regenerate plan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    9. commit with spec reference in message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98C379"/>
                </a:solidFill>
                <a:latin typeface="Consolas"/>
              </a:rPr>
              <a:t>   10. ↺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06C75"/>
                </a:solidFill>
                <a:latin typeface="Consolas"/>
              </a:rPr>
              <a:t># do not move on while step 6 or 7 is incomplete.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Small loops. Small reviews. Small risks. The compounding wins.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 DRIFT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37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silent project killer in agentic workflows.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What is spec drift?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377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Plan grows beyond the spec — Claude offers a “bonus” feature, you accept.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971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29718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Spec ambiguity resolved in conversation — but not written back.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5661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88720" y="35661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Tests cover the new shape, not the original criteria — green still ships drift.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1605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41605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Stakeholder asks for “one tweak” mid-build — not added to the spec.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7548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·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88720" y="47548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Subagent decides on its own what done means — you don't notice.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58521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By month two, no one can tell you what the system is supposed to do.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SPEC DRIFT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38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spec stays canonical. Plans regenerate against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Preventing drift.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67712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Spec is in version control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0" y="2313432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Reviewable like code. Every change has a PR.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80944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Plans checked against the spec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92240" y="3026664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Before approving a plan, ask: does it stay inside?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94176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Tests reference spec line numbers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39896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test docstring: “spec.md §2.3”. Drift visible in CI.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07408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Mid-build asks update the spec first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4453128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If the spec doesn't change, the feature doesn't.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120640"/>
            <a:ext cx="45720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Subagents inherit the spec, not the chat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5166360"/>
            <a:ext cx="539496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Pass spec as a file reference, not chat context.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MULTI-AGENT  ·  01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39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One team lead. N subagents per feature. Verified handoffs.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The orchestrator pattern.</a:t>
            </a:r>
          </a:p>
        </p:txBody>
      </p:sp>
      <p:sp>
        <p:nvSpPr>
          <p:cNvPr id="9" name="Rectangle 8"/>
          <p:cNvSpPr/>
          <p:nvPr/>
        </p:nvSpPr>
        <p:spPr>
          <a:xfrm>
            <a:off x="4480560" y="2286000"/>
            <a:ext cx="3291840" cy="82296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80560" y="2423160"/>
            <a:ext cx="32918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FFFFFF"/>
                </a:solidFill>
                <a:latin typeface="Georgia"/>
              </a:rPr>
              <a:t>ORCHESTRATOR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80560" y="3246120"/>
            <a:ext cx="329184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1" spc="120">
                <a:solidFill>
                  <a:srgbClr val="6B6B6B"/>
                </a:solidFill>
                <a:latin typeface="Calibri"/>
              </a:rPr>
              <a:t>holds the spec  ·  routes work  ·  verifies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286000" y="3840480"/>
            <a:ext cx="9525" cy="7315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280160" y="4572000"/>
            <a:ext cx="21031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280160" y="4572000"/>
            <a:ext cx="2103120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462686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FEATURE 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417320" y="5074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spec § 2.1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subagent runs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in own context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840480"/>
            <a:ext cx="9525" cy="7315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120640" y="4572000"/>
            <a:ext cx="21031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20640" y="4572000"/>
            <a:ext cx="2103120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257800" y="462686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FEATURE B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5074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spec § 2.2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parallel,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verified handoff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9966960" y="3840480"/>
            <a:ext cx="9525" cy="7315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961120" y="4572000"/>
            <a:ext cx="2103120" cy="15544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961120" y="4572000"/>
            <a:ext cx="2103120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098280" y="4626864"/>
            <a:ext cx="18288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FEATURE C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098280" y="5074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spec § 2.3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reports back</a:t>
            </a:r>
          </a:p>
          <a:p>
            <a:pPr algn="l">
              <a:lnSpc>
                <a:spcPct val="130000"/>
              </a:lnSpc>
            </a:pPr>
            <a:r>
              <a:rPr sz="1300" b="0" i="0">
                <a:solidFill>
                  <a:srgbClr val="14213D"/>
                </a:solidFill>
                <a:latin typeface="Georgia"/>
              </a:rPr>
              <a:t>with evidence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MULTI-AGENT  ·  02 / 02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40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Two patterns. Pick by the shape of the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Orchestrator vs Conductor.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539496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5394960" cy="50292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963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ORCHESTRATOR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One ensemble. One context.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8404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One agent runs the show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420624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Subagents return summaries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5720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Best for: research, refactor, planning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93776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Cheap and predictable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30352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Limit: serial bottlenecks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0" y="2377440"/>
            <a:ext cx="50292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400800" y="2377440"/>
            <a:ext cx="502920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675120" y="24963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CONDUCTOR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3154680"/>
            <a:ext cx="4572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Many agents. Bounded subtasks.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675120" y="38404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Each agent owns a feature end-to-end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420624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Message bus / shared task list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45720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Best for: parallel features, async work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493776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More expensive, more coordination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530352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Limit: handoffs are where bugs live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DEPLOYMENT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41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verify gate has to keep working when you're not looking.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Deployment.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400800" cy="3749039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5888736" cy="3236975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 .github/workflows/ci.yml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name: verify-before-ship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on: [push, pull_request]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jobs: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test: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runs-on: ubuntu-latest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steps: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- uses: actions/checkout@v4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    - run: pip install -e .[test]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      - run: pytest -q --cov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      - run: ruff check 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      - run: playwright test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      - run: ./scripts/smoke.sh staging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 main is locked. PRs only.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 smoke.sh hits a real URL on staging.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1945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GATES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79" y="26060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Tests pass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79" y="30175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Linter clean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79" y="3429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E2E green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79" y="38404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Smoke test on staging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79" y="42519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Spec criteria checked off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79" y="4663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Manual approval for main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79" y="50749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Auto-rollback on health-fail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PRE-SHIP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42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Eight items. Walk through them every time. No exceptions.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Production checklist.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Spec criteria each ticked off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7889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7889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Tests green locally AND in CI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2918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32918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Feature exercised end-to-end (not just unit-tested)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79476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One adversarial input tried, behaved as expected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976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29768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Smoke test on staging green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8006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480060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Rollback path verified (one command)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3035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30352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Observability in place — logs, error alerts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806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5806440"/>
            <a:ext cx="10515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PR description references spec, plan, evidence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Beyond coding.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Claude Code is an agent harness. Code is just one surface.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43 / 80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REFRAMING THE TOOL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44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It edits files. Also reads emails, opens browsers, writes notes, runs cron.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Claude Code is not a code editor.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0" y="3017520"/>
            <a:ext cx="3017520" cy="1371600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3246120"/>
            <a:ext cx="301752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FFFFFF"/>
                </a:solidFill>
                <a:latin typeface="Georgia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0" y="3794760"/>
            <a:ext cx="3017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000" b="0" i="0" spc="200">
                <a:solidFill>
                  <a:srgbClr val="8899B0"/>
                </a:solidFill>
                <a:latin typeface="Calibri"/>
              </a:rPr>
              <a:t>an agent harness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468880"/>
            <a:ext cx="29260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31520" y="2468880"/>
            <a:ext cx="2926080" cy="3200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05840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288036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4213D"/>
                </a:solidFill>
                <a:latin typeface="Georgia"/>
              </a:rPr>
              <a:t>src/, tests/, deploy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412480" y="2468880"/>
            <a:ext cx="29260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412480" y="2468880"/>
            <a:ext cx="2926080" cy="3200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0" y="251460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BROWSER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0" y="288036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4213D"/>
                </a:solidFill>
                <a:latin typeface="Georgia"/>
              </a:rPr>
              <a:t>Chrome MCP, scrapes, forms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31520" y="4572000"/>
            <a:ext cx="29260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31520" y="4572000"/>
            <a:ext cx="2926080" cy="3200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4617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FILES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05840" y="49834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4213D"/>
                </a:solidFill>
                <a:latin typeface="Georgia"/>
              </a:rPr>
              <a:t>Obsidian, PDFs, spreadsheets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412480" y="4572000"/>
            <a:ext cx="2926080" cy="9144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412480" y="4572000"/>
            <a:ext cx="2926080" cy="3200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0" y="4617720"/>
            <a:ext cx="2743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APIS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0" y="4983480"/>
            <a:ext cx="27432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4213D"/>
                </a:solidFill>
                <a:latin typeface="Georgia"/>
              </a:rPr>
              <a:t>Notion, Slack, Linear, Gmail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PROJECT MANAGEMENT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45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PM work nobody actually wants to do. Delegate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Claude as co-PM.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Sprint reviews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17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Read the PRs, write demo notes, draft retro.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Status writeups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0175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Daily standup digest from Slack threads.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Blocker triage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7033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Scan tickets, group by theme, propose owners.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Risk surfacing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891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Compare burndown to scope. Flag silently dropped items.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Decision logs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749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Every accepted plan auto-logged with context.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AUTOMATIONS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46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Anything you do twice a week is a candidate.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Daily automations.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$ crontab -l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 Vibecoding daily automation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0  6  *  *  *   ~/.bin/digest.sh          &gt;&gt; ~/.log/digest.log 2&gt;&amp;1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0  18 *  *  *   ~/.bin/standup-prep.sh    &gt;&gt; ~/.log/standup.log 2&gt;&amp;1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$ tail ~/.log/digest.log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06:00  digest started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06:00  scanning 27 new PDFs in ~/Drop/inbox/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06:01  claude → summarise each ≤120 words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06:01  claude → tag by topic, link related notes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06:02  wrote 27 notes to ~/Vault/00-Inbox/digests/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06:02  emailed daily digest to elias@quershift.com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2026-05-14 06:02  digest done in 2m 14s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$ head -25 ~/Vault/00-Inbox/digests/2026-05-14.md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---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type: digest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date: 2026-05-14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items: 27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---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## Today's reading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Cron + Claude + a few scripts. Your inbox, triaged. Every morning.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BROWSER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47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The web is a UI. UIs are scriptable. So are people, occasionally.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Browser automation.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Data extraction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17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Scrape competitor pricing weekly. Slack a diff.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Form filling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0175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Submit timesheets. Pull data from project tools.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QA replay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7033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Walk through critical flows. Screenshot results.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Admin work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891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Onboarding portals, expense filings, account cleanup.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Research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74920"/>
            <a:ext cx="621792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Open 20 tabs, summarize each, output markdown brief.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EMAIL + CALENDAR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48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Drafts, summaries, triage. You stay the final say.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Email and calendar.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47472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29626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"Summarise unread emails since Friday.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Group by sender. Flag what needs reply today.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Draft replies for me to review."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mcp__gmail__list_messages ...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7F848A"/>
                </a:solidFill>
                <a:latin typeface="Consolas"/>
              </a:rPr>
              <a:t>[claude] mcp__gmail__read_message ... × 47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98C379"/>
                </a:solidFill>
                <a:latin typeface="Consolas"/>
              </a:rPr>
              <a:t>Inbox (47 unread, since 2026-05-10):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• 3 from clients   →  reply today    [drafts ready]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• 12 newsletters   →  auto-archive   [done]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• 8 from team      →  read &amp; reply   [drafts ready]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>  • 24 misc          →  triaged later  [labelled]</a:t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50">
                <a:solidFill>
                  <a:srgbClr val="E8761B"/>
                </a:solidFill>
                <a:latin typeface="Consolas"/>
              </a:rPr>
              <a:t>→ Drafts saved. Open Gmail to review and send.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House rule: never let Claude send. Always review the draft.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INTEGRATIONS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49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Every MCP server is a verb Claude can use.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Integrations through MCP.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37744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SERVER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377440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VERBS YOU GET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2880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NOTION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28986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create-pages, fetch, search, update-page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1520" y="3337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SLACK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33558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send-message, read-channel, search, create-canvas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94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GMAIL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0" y="3813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list, read, reply (drafts only by rule)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42519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CALENDAR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2702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list-events, create-event, find-free-slot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47091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LINEAR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47274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list-issues, create-issue, update-status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663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GITHUB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72000" y="51846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via gh CLI — issues, PRs, releases,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" y="56235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CHROME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0" y="56418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navigate, click, get-text, screenshot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608076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14213D"/>
                </a:solidFill>
                <a:latin typeface="Consolas"/>
              </a:rPr>
              <a:t>FS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6099048"/>
            <a:ext cx="7315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with permissions — your filesystem + your vault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SECOND BRAIN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50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Capture, distill, link. Your brain isn't a database — your vault 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The Second Brain method.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146304" cy="23774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256032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51560" y="3154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CAPTURE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370332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Anything that resonates. Lower the bar to entry.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34840" y="228600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434840" y="2286000"/>
            <a:ext cx="146304" cy="23774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754880" y="256032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754880" y="3154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DISTILL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754880" y="370332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Progressively summarise: highlight → bold → summary → gist.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8138160" y="2286000"/>
            <a:ext cx="3611880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138160" y="2286000"/>
            <a:ext cx="146304" cy="237744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458200" y="2560320"/>
            <a:ext cx="36118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3154680"/>
            <a:ext cx="315468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LINK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58200" y="3703320"/>
            <a:ext cx="315468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Connect to existing notes — backlinks make the graph.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1">
                <a:solidFill>
                  <a:srgbClr val="E8761B"/>
                </a:solidFill>
                <a:latin typeface="Georgia"/>
              </a:rPr>
              <a:t>Claude Code is the perfect Distill + Link tool. Capture is still you.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OBSIDIAN + CLAUDE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51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 SessionEnd hook writes today's note. Tomorrow's session reads it.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Obsidian + Claude Code.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685800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634593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~/Documents/Obsidian Vault/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00-Inbox/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Inbox.md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01-Projects/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Vibecoding Masterclass.md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Inexogy Invoice Service.md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ECIS 2026 Paper.md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03-Knowledge/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Spec-Driven Development.md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Multi-Agent Patterns.md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Claude Code Hooks.md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04-People/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Mahnoor Shah.md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Khan, Güzey, Nielsen.md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05-Meetings/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2026-05-14 SUST Triannual.md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├── 08-Sessions/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2026-05-14 Inbox.md         ← AUTO-GENERATED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├── 2026-05-13 Forderung.md     ← AUTO-GENERATED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│   └── 2026-05-12 Aktivbank.md     ← AUTO-GENERATED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└── .claude/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└── hooks/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194560"/>
            <a:ext cx="38404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THE LOOP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63840" y="2560320"/>
            <a:ext cx="3840480" cy="3200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Session starts: hook injects today's project note as context.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Session ends: hook captures what you worked on, what was decided, what's open.</a:t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/>
            </a:r>
          </a:p>
          <a:p>
            <a:pPr algn="l">
              <a:lnSpc>
                <a:spcPct val="150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No state is lost. No retelling tomorrow.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THE SETUP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52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What's running on my machine right now. Yours can look similar.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Example: my own setup.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Claude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0" y="23317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Primary terminal interface, two named sessions, prompt caching 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346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346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MCP servers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0" y="288036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Notion, Slack, Gmail, Chrome, Filesystem (permissioned)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3832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38328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Skills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029200" y="342900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~50 personal skills — German comm, GDPR, debugging, plan-writing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9319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393192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Hooks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0" y="397764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SessionEnd → Obsidian, pre-commit → tests + lint, push → vault log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4805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48056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Obsidian Vault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0" y="452628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PARA structure, 800+ notes, daily session captures, linked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02920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Cron + Routines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29200" y="507492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06:00 digest, 18:00 standup prep, weekly review on Fridays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55778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188720" y="5577840"/>
            <a:ext cx="36576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Worktrees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0" y="5623560"/>
            <a:ext cx="68580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50" b="0" i="0">
                <a:solidFill>
                  <a:srgbClr val="1A1A1A"/>
                </a:solidFill>
                <a:latin typeface="Calibri"/>
              </a:rPr>
              <a:t>Per-feature isolated branches, parallel work without churn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BEYOND  ·  NON-CODE WORK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53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Most of your job isn't writing code. Most of your code isn't writing code.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Workflows for non-coders.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Proposals &amp; funding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Draft a Förderantrag. Match required structure.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88036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Status reports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92608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Monthly client update from project tool + git activity.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47472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Client comms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52044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Tone-correct drafts in your language, your style.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06908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Research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11480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“Read these 15 PDFs and tell me what they disagree on.”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46634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Spreadsheets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70916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Clean messy CSVs. Build pivot tables. Generate charts.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57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88720" y="5257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Decks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3035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Like this one. Generated by the script you're looking at.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19456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WHAT YOU COULD BUILD FOR YOURSELF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606040"/>
            <a:ext cx="10972800" cy="22860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5400" b="0" i="0">
                <a:solidFill>
                  <a:srgbClr val="14213D"/>
                </a:solidFill>
                <a:latin typeface="Georgia"/>
              </a:rPr>
              <a:t>One weekend.</a:t>
            </a:r>
          </a:p>
          <a:p>
            <a:pPr algn="l">
              <a:lnSpc>
                <a:spcPct val="105000"/>
              </a:lnSpc>
            </a:pPr>
            <a:r>
              <a:rPr sz="5400" b="0" i="0">
                <a:solidFill>
                  <a:srgbClr val="14213D"/>
                </a:solidFill>
                <a:latin typeface="Georgia"/>
              </a:rPr>
              <a:t>One useful tool.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1">
                <a:solidFill>
                  <a:srgbClr val="E8761B"/>
                </a:solidFill>
                <a:latin typeface="Georgia"/>
              </a:rPr>
              <a:t>Spec it. Plan it. Test it. Ship it. By Sunday evening.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54 / 80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AI engineering</a:t>
            </a:r>
          </a:p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with Claude Code.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Scaffold the pipeline. Read the numbers. Judge the model.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55 / 80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FRAMING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56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Claude doesn't invent new architectures. It wires up the boring parts.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Where Claude shines in ML.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377440"/>
            <a:ext cx="539496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377440"/>
            <a:ext cx="539496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96312"/>
            <a:ext cx="5029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GOOD 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5468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Data prep &amp; cleaning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483864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Dataloader scaffolding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81304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Training loop boilerplate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42232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Hyperparameter sweeps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471416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Eval metric reporting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4800600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Result visualization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5129784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RAG pipelines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05840" y="5458968"/>
            <a:ext cx="50292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Georgia"/>
              </a:rPr>
              <a:t>·  LoRA / adapter fine-tuning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400800" y="2377440"/>
            <a:ext cx="502920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00800" y="2377440"/>
            <a:ext cx="5029200" cy="502920"/>
          </a:xfrm>
          <a:prstGeom prst="rect">
            <a:avLst/>
          </a:prstGeom>
          <a:solidFill>
            <a:srgbClr val="6B6B6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75120" y="2496312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alibri"/>
              </a:rPr>
              <a:t>STILL YOUR JOB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315468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Choosing the problem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675120" y="348386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Designing the dataset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381304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Picking the right loss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675120" y="4142232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Diagnosing why metrics moved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4471416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Reading model failures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675120" y="4800600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Deciding when it's good enough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5129784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Ethical scrutiny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675120" y="5458968"/>
            <a:ext cx="45720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6B6B6B"/>
                </a:solidFill>
                <a:latin typeface="Georgia"/>
              </a:rPr>
              <a:t>·  Buying the GPU time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SCAFFOLDING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57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From “I have a CSV” to “I have a trained model with eval” — in 30 minutes.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Scaffolding a training pipeline.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200">
                <a:solidFill>
                  <a:srgbClr val="E8761B"/>
                </a:solidFill>
                <a:latin typeface="Consolas"/>
              </a:rPr>
              <a:t>&gt; claude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"I have reviews.csv with `text` and `label` columns.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Build me a sentiment classifier. TF-IDF + Naive Bayes or LR.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Show me train/test accuracy and a confusion matrix."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7F848A"/>
                </a:solidFill>
                <a:latin typeface="Consolas"/>
              </a:rPr>
              <a:t>[claude] /plan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Plan: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1. Load CSV → DataFrame, drop NA, stratified split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2. Pipeline: TfidfVectorizer → LinearSVC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3. Fit, predict, report classification_report + cm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4. Save metrics to results.json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>  5. Smoke test: predict on hand-crafted pos + neg</a:t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200">
                <a:solidFill>
                  <a:srgbClr val="98C379"/>
                </a:solidFill>
                <a:latin typeface="Consolas"/>
              </a:rPr>
              <a:t>Approve? (y/n)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The pipeline is mechanical. The judgement is yours.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THE NUMBERS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58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Real dataset. Real classifier. Real test accuracy.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Demo 5 in detail.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194560"/>
            <a:ext cx="10698480" cy="365760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450592"/>
            <a:ext cx="10186416" cy="314553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Loading 20-newsgroups subset (4 topics)...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Train: 2323 docs  ·  Test: 1546 docs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Classes: graphics, hockey, space, guns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Training...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Test accuracy:  0.895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Confusion matrix (rows = actual, columns = predicted):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   graphics    hockey     space      guns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graphics       353         3        28         5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hockey         4       369        15        11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space        23         7       346        18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guns        13         2        34       315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Per-class report: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              precision    recall  f1-score   support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comp.graphics       0.90      0.91      0.90       389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rec.sport.hockey       0.97      0.92      0.95       399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         sci.space       0.82      0.88      0.85       394</a:t>
            </a:r>
          </a:p>
          <a:p>
            <a:pPr>
              <a:lnSpc>
                <a:spcPct val="135000"/>
              </a:lnSpc>
            </a:pPr>
            <a:r>
              <a:rPr sz="1100">
                <a:solidFill>
                  <a:srgbClr val="E6E6E6"/>
                </a:solidFill>
                <a:latin typeface="Consolas"/>
              </a:rPr>
              <a:t>    talk.politics.guns       0.90      0.87      0.88       364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761B"/>
                </a:solidFill>
                <a:latin typeface="Georgia"/>
              </a:rPr>
              <a:t>4 topics. 2,323 train docs. LinearSVC. 89.5% test accuracy. Fifteen minutes.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READING OUTPUT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59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What to look at. What to ignore.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Training output, decoded.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0428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Accuracy ≠ everything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0662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A 95% accurate spam filter that misses every actual spam is useless. Look at recall on the rare class.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7296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Confusion matrix &gt; single number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57530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Which classes does it confuse? That's where you'd add data.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Train &gt;&gt; test accuracy?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44398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Overfitting. Regularize, simplify, or get more data.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910328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Per-class precision/recall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12664"/>
            <a:ext cx="100584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“macro avg” weights every class equally. “weighted avg” weights by support.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EVALUATION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60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An eval harness is just a test suite for your model.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Evaluation harnesses.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737360" y="2267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Hold out a real test set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0" y="2331720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Never train on it. Don't peek.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737360" y="29809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Define what good means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943600" y="3044952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Numbers from the spec. Accuracy, FP rate, latency.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37360" y="369417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Run the harness in CI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943600" y="3758184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Every model change. Same as code tests.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440740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Add adversarial cases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943600" y="4471416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Things you've seen fail. Edge inputs. Known-hard examples.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737360" y="51206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Log + compare runs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943600" y="5184648"/>
            <a:ext cx="5943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Today vs yesterday. Track regressions like bugs.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RAG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61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For most teams in 2026: RAG beats fine-tuning. Try it first.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Retrieval-Augmented Generation.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INGEST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14400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Read your docs. Split by paragraph or section.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53512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953512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36392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136392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EMBED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136392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Each chunk → vector via embedding model.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175504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175504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358384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58384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STORE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58384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Vector DB — LanceDB, pgvector, Pinecone.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397496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97496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580376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04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580376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RETRIEVE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580376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User query → vector → top-k chunks.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619488" y="2286000"/>
            <a:ext cx="2157984" cy="23774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619488" y="2286000"/>
            <a:ext cx="2157984" cy="36576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9802368" y="2350008"/>
            <a:ext cx="2157984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300">
                <a:solidFill>
                  <a:srgbClr val="FFFFFF"/>
                </a:solidFill>
                <a:latin typeface="Consolas"/>
              </a:rP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802368" y="2788920"/>
            <a:ext cx="188366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GENERATE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802368" y="3291840"/>
            <a:ext cx="188366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i="0">
                <a:solidFill>
                  <a:srgbClr val="1A1A1A"/>
                </a:solidFill>
                <a:latin typeface="Calibri"/>
              </a:rPr>
              <a:t>Stuff chunks into the prompt. Claude answers grounded.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0749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1A1A1A"/>
                </a:solidFill>
                <a:latin typeface="Georgia"/>
              </a:rPr>
              <a:t>Claude Code scaffolds all five steps. You bring the docs and the questions.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FINE-TUNING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62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When prompt + RAG aren't enough. Rare. But real.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Fine-tuning, briefly.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LoRA / QLoRA adapters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Train a small adapter on top of a frozen base model. Fast and cheap.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Hugging Face skills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0175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Claude Code has a `hf-skills-training` flow that wraps the boilerplate.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Domain vocabulary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7033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Best use case: highly specialized terminology a base model doesn't know.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Style / format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3891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Second-best: you need consistent output in a specific shape.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Not a substitute for data quality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0749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If your prompt-engineering doesn't work, fine-tuning rarely fixes it.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ML WITH CLAUDE  ·  WHEN NOT 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63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Most “we should train a model” problems aren't model problems.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14213D"/>
                </a:solidFill>
                <a:latin typeface="Georgia"/>
              </a:rPr>
              <a:t>When ML training is the wrong tool.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a regex or SQL query would do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17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Don't train a classifier to find “invoice” in emails.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the rule is known and simple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0175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Write the rule. Tests pass. Move on.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labelling will take longer than the project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7033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Time-box. If labelling &gt; 1 week, reconsider.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prompting + RAG already works at 90%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891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Get the last 10% with rules + human review.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you can't measure success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749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Without an eval set, you have a vibe-classifier.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18288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AN OPEN QUESTION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972800" cy="2743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What should the</a:t>
            </a:r>
          </a:p>
          <a:p>
            <a:pPr algn="l">
              <a:lnSpc>
                <a:spcPct val="110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AI engineer of 2027</a:t>
            </a:r>
          </a:p>
          <a:p>
            <a:pPr algn="l">
              <a:lnSpc>
                <a:spcPct val="110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know how to do alone?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4864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1">
                <a:solidFill>
                  <a:srgbClr val="E8761B"/>
                </a:solidFill>
                <a:latin typeface="Georgia"/>
              </a:rPr>
              <a:t>Discuss with your buddy for two minutes.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64 / 80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The wider toolbox.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Claude Code is one of many. Know the others.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65 / 80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01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66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IDE-native. Fast. Parallel agent tabs.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Cursor.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VS-Code-derived UI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0" y="23317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Pleasant for IDE-first workflows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8036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Cloud agents on isolated VMs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0" y="292608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Worktree per task, parallel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✓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Inline edits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0" y="35204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Faster than terminal for small changes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6B6B6B"/>
                </a:solidFill>
                <a:latin typeface="Georgia"/>
              </a:rPr>
              <a:t>✗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6908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Stalls at ambiguous decisions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00800" y="411480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Without supervision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6B6B6B"/>
                </a:solidFill>
                <a:latin typeface="Georgia"/>
              </a:rPr>
              <a:t>✗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6344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No long-running autonomous mode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0" y="470916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Not built for overnight work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57800"/>
            <a:ext cx="4572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6B6B6B"/>
                </a:solidFill>
                <a:latin typeface="Georgia"/>
              </a:rPr>
              <a:t>✗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257800"/>
            <a:ext cx="5029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Less context flexibility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0" y="530352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Tied to current file/workspace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02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67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Open-source. Model-agnostic. Bring your own provider.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Cline · Codex CLI · Aider.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36118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31520" y="2286000"/>
            <a:ext cx="36118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05840" y="240487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CLINE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06324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6B6B"/>
                </a:solidFill>
                <a:latin typeface="Consolas"/>
              </a:rPr>
              <a:t>Apache 2.0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5661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VS Code + JetBrains + Zed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95020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Bring your own model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33425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OpenAI / Anthropic / Bedrock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05840" y="471830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5M+ installs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5102352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Great for cost-sensitive teams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34840" y="2286000"/>
            <a:ext cx="36118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4434840" y="2286000"/>
            <a:ext cx="36118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4709160" y="240487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CODEX CLI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09160" y="306324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6B6B"/>
                </a:solidFill>
                <a:latin typeface="Consolas"/>
              </a:rPr>
              <a:t>OpenAI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709160" y="35661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Terminal-first, OpenAI-only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709160" y="395020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Open-source harness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709160" y="433425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Strong on patches &amp; refactors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709160" y="471830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Good plugin ecosystem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138160" y="2286000"/>
            <a:ext cx="3611880" cy="338328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138160" y="2286000"/>
            <a:ext cx="3611880" cy="502920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412480" y="2404872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 i="0" spc="300">
                <a:solidFill>
                  <a:srgbClr val="FFFFFF"/>
                </a:solidFill>
                <a:latin typeface="Calibri"/>
              </a:rPr>
              <a:t>AIDER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412480" y="3063240"/>
            <a:ext cx="36118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1">
                <a:solidFill>
                  <a:srgbClr val="6B6B6B"/>
                </a:solidFill>
                <a:latin typeface="Consolas"/>
              </a:rPr>
              <a:t>OG, model-agnostic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412480" y="3566160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The original terminal CLI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412480" y="3950208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Auto-commits to git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412480" y="4334256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Bring your own model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412480" y="4718304"/>
            <a:ext cx="315468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·  Gold standard for pair-coding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03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68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Anthropic's “supervised autonomous” mode. The future of overnight work.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600" b="0" i="0">
                <a:solidFill>
                  <a:srgbClr val="14213D"/>
                </a:solidFill>
                <a:latin typeface="Georgia"/>
              </a:rPr>
              <a:t>Anthropic Routines.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Package a Claude config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Prompt + repos + tools + permissions, as one bundle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88720" y="299923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Schedule it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04495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Nightly, hourly, or on GitHub events (PR opened, release tagged)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188720" y="371246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Runs on Anthropic-managed cloud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75818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Not on your laptop. Your laptop can sleep.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88720" y="442569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Result-validation loops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47141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Re-runs if tests fail, escalates if they keep failing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88720" y="513892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Handoffs to humans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846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Pings you when judgement is needed; otherwise keeps going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04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69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Quick decision matrix. Read it once, internalise.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When to use which.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YOUR NEED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72000" y="228600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PICK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228600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00" b="1" i="0" spc="300">
                <a:solidFill>
                  <a:srgbClr val="E8761B"/>
                </a:solidFill>
                <a:latin typeface="Calibri"/>
              </a:rPr>
              <a:t>WHY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31520" y="2651760"/>
            <a:ext cx="1072865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31520" y="278892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Long autonomous runs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0" y="278892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Claude Code + Routines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0" y="278892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Built for it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31520" y="322783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Inline IDE editing speed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322783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Cursor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0" y="322783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Fastest small-change loop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1520" y="366674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Cost-sensitive, open-source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0" y="366674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863840" y="366674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BYO model, free harness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31520" y="4105656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Terminal pair-programming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0" y="4105656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Aider or Claude Code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4105656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Both terminal-native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31520" y="4544568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OpenAI-only stack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0" y="4544568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Codex CLI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0" y="4544568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Best fit for that model family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4983480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Production workflows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4983480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Claude Code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863840" y="4983480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Plan mode, hooks, MCP, skills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1520" y="5422392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Multi-agent orchestration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0" y="5422392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Claude Code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863840" y="5422392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First-class subagents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31520" y="5861304"/>
            <a:ext cx="36576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1A1A1A"/>
                </a:solidFill>
                <a:latin typeface="Georgia"/>
              </a:rPr>
              <a:t>Browser-driving tasks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4572000" y="5861304"/>
            <a:ext cx="31089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1" i="0">
                <a:solidFill>
                  <a:srgbClr val="E8761B"/>
                </a:solidFill>
                <a:latin typeface="Georgia"/>
              </a:rPr>
              <a:t>Claude Code + Chrome MCP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863840" y="5861304"/>
            <a:ext cx="40233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Georgia"/>
              </a:rPr>
              <a:t>Best surface today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ECOSYSTEM  ·  05 / 05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70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Where this is going, late 2026 and beyond.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What's coming.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67712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Multi-agent harnesses become first-class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Less DIY orchestration; more declarative agent teams.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99232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980944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Agentic IDEs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3044952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VS Code-style tools but agent-native — Cursor 4, Zed AI, Windsurf.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712464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694176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Cheaper long-running autonomy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758184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Routines + cheap inference make overnight work the default.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425696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407408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Verified handoffs as primitive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471416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Subagents return cryptographic “done” proofs, not just text.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138928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512064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Tighter loops with formal methods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5184648"/>
            <a:ext cx="6400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Specs as types. Plans as checked artifacts. Less drift.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PART 07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103120"/>
            <a:ext cx="10972800" cy="2377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Your turn.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5720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FAF7F0"/>
                </a:solidFill>
                <a:latin typeface="Georgia"/>
              </a:rPr>
              <a:t>Three hours. The repo. Pair up. Go deep.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822960"/>
            <a:ext cx="73152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800" b="0" i="0">
                <a:solidFill>
                  <a:srgbClr val="E8761B"/>
                </a:solidFill>
                <a:latin typeface="Consolas"/>
              </a:rPr>
              <a:t>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71 / 80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HANDS-ON  ·  THE REPO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72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Everything from today, plus the demos, plus the exercises.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Clone this.</a:t>
            </a:r>
          </a:p>
        </p:txBody>
      </p:sp>
      <p:sp>
        <p:nvSpPr>
          <p:cNvPr id="9" name="Rectangle 8"/>
          <p:cNvSpPr/>
          <p:nvPr/>
        </p:nvSpPr>
        <p:spPr>
          <a:xfrm>
            <a:off x="731520" y="2286000"/>
            <a:ext cx="10698480" cy="2377440"/>
          </a:xfrm>
          <a:prstGeom prst="rect">
            <a:avLst/>
          </a:prstGeom>
          <a:solidFill>
            <a:srgbClr val="1E212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87552" y="2542032"/>
            <a:ext cx="10186416" cy="186537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$ git clone \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8761B"/>
                </a:solidFill>
                <a:latin typeface="Consolas"/>
              </a:rPr>
              <a:t>    https://github.com/Place-Beyond-Bytes/pbb-vibecoding-masterclass.git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$ cd pbb-vibecoding-masterclass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>$ bash check.sh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98C379"/>
                </a:solidFill>
                <a:latin typeface="Consolas"/>
              </a:rPr>
              <a:t>  ✓ Node.js 20+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98C379"/>
                </a:solidFill>
                <a:latin typeface="Consolas"/>
              </a:rPr>
              <a:t>  ✓ git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98C379"/>
                </a:solidFill>
                <a:latin typeface="Consolas"/>
              </a:rPr>
              <a:t>  ✓ Claude Code installed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98C379"/>
                </a:solidFill>
                <a:latin typeface="Consolas"/>
              </a:rPr>
              <a:t>  ✓ api.anthropic.com reachable</a:t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E6E6E6"/>
                </a:solidFill>
                <a:latin typeface="Consolas"/>
              </a:rPr>
              <a:t/>
            </a:r>
          </a:p>
          <a:p>
            <a:pPr>
              <a:lnSpc>
                <a:spcPct val="135000"/>
              </a:lnSpc>
            </a:pPr>
            <a:r>
              <a:rPr sz="1400">
                <a:solidFill>
                  <a:srgbClr val="98C379"/>
                </a:solidFill>
                <a:latin typeface="Consolas"/>
              </a:rPr>
              <a:t>  All good. See you on the day.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50292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E8761B"/>
                </a:solidFill>
                <a:latin typeface="Georgia"/>
              </a:rPr>
              <a:t>If check.sh isn't green, raise your hand. Your buddy starts without you.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HANDS-ON  ·  EXERCISES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73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Ten exercises. Work in order until the break, then mix freely.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200" b="0" i="0">
                <a:solidFill>
                  <a:srgbClr val="14213D"/>
                </a:solidFill>
                <a:latin typeface="Georgia"/>
              </a:rPr>
              <a:t>The ten exercises.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402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645920" y="22402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First contact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26771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Read code, plan an improvement — no edits.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60604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645920" y="26060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Specs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6334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Convert a fuzzy client wish into checkable criteria.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29718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645920" y="29718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Plans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29992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Critique three plans. Reject what's wrong.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33375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645920" y="33375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TDD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336499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Red → green → refactor on validate_german_phone.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37033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645920" y="37033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Debug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373075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Name the root cause before the fix.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406908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06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645920" y="406908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Subagents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409651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Spawn three parallel investigators. Verify one claim.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31520" y="443484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645920" y="443484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Orchestrator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0" y="446227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Feature-by-feature build with verified handoffs.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1520" y="480060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645920" y="480060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Playwright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486400" y="482803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Generate E2E tests for the Pomodoro app.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731520" y="516636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09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645920" y="516636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Second Brain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0" y="519379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Wire up an Obsidian SessionEnd hook.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31520" y="5532120"/>
            <a:ext cx="73152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E8761B"/>
                </a:solidFill>
                <a:latin typeface="Consolas"/>
              </a:rPr>
              <a:t>10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645920" y="5532120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500" b="0" i="0">
                <a:solidFill>
                  <a:srgbClr val="14213D"/>
                </a:solidFill>
                <a:latin typeface="Georgia"/>
              </a:rPr>
              <a:t>ML scaffold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486400" y="5559552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1A1A1A"/>
                </a:solidFill>
                <a:latin typeface="Calibri"/>
              </a:rPr>
              <a:t>Train your own classifier. Read the numbers.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1520" y="598932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1">
                <a:solidFill>
                  <a:srgbClr val="E8761B"/>
                </a:solidFill>
                <a:latin typeface="Georgia"/>
              </a:rPr>
              <a:t>Plus 11-build: pick a project, ship it, demo it.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HANDS-ON  ·  PAIR UP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74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Mixed pairs. High-experience with low. Buddy stays for the 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Trios, not duos.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28800" y="230428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Pair up by show of hands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28800" y="274320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Experience: 1 (never) → 5 (daily). Highs and lows pair.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17296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Negotiate before prompting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28800" y="361188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Two humans align on the prompt. Claude is the third party.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4164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Driver/navigator rotates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28800" y="448056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Every 15 minutes. Both seats teach you different things.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82296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28800" y="4910328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000" b="0" i="0">
                <a:solidFill>
                  <a:srgbClr val="14213D"/>
                </a:solidFill>
                <a:latin typeface="Georgia"/>
              </a:rPr>
              <a:t>Talk through your plan out loud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28800" y="534924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Your buddy is the first reviewer. Claude is the second.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HANDS-ON  ·  HOUSE RULES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75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On the wall the whole time. Live by them today.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800" b="0" i="0">
                <a:solidFill>
                  <a:srgbClr val="14213D"/>
                </a:solidFill>
                <a:latin typeface="Georgia"/>
              </a:rPr>
              <a:t>Four rules for the room.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8761B"/>
                </a:solidFill>
                <a:latin typeface="Consolas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11680" y="233172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Trios, not duos.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011680" y="274320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You, your buddy, and Claude. Two humans negotiate before either prompts.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315468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8761B"/>
                </a:solidFill>
                <a:latin typeface="Consolas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011680" y="320040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Show your plan before your code.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11680" y="361188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If you're stuck and ask me, the first question back is “what's your plan?”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402336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8761B"/>
                </a:solidFill>
                <a:latin typeface="Consolas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11680" y="406908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Evidence wins.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011680" y="448056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“It works” is not done. Show the green test. Show the screenshot. Verify.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892040"/>
            <a:ext cx="914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800" b="0" i="0">
                <a:solidFill>
                  <a:srgbClr val="E8761B"/>
                </a:solidFill>
                <a:latin typeface="Consolas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011680" y="4937760"/>
            <a:ext cx="96012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14213D"/>
                </a:solidFill>
                <a:latin typeface="Georgia"/>
              </a:rPr>
              <a:t>No real client data.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011680" y="5349240"/>
            <a:ext cx="9601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0">
                <a:solidFill>
                  <a:srgbClr val="1A1A1A"/>
                </a:solidFill>
                <a:latin typeface="Calibri"/>
              </a:rPr>
              <a:t>Synthetic data only. No keys, no PII, no NDA-covered material.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286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YOUR TURN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2286000"/>
            <a:ext cx="109728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0" b="0" i="1">
                <a:solidFill>
                  <a:srgbClr val="FFFFFF"/>
                </a:solidFill>
                <a:latin typeface="Georgia"/>
              </a:rPr>
              <a:t>Go.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8899B0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76 / 80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WRAP-UP  ·  THE RHYTHM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77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If you take one thing home, take this.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0" i="0">
                <a:solidFill>
                  <a:srgbClr val="14213D"/>
                </a:solidFill>
                <a:latin typeface="Georgia"/>
              </a:rPr>
              <a:t>The rhythm, again.</a:t>
            </a:r>
          </a:p>
        </p:txBody>
      </p:sp>
      <p:sp>
        <p:nvSpPr>
          <p:cNvPr id="9" name="Rectangle 8"/>
          <p:cNvSpPr/>
          <p:nvPr/>
        </p:nvSpPr>
        <p:spPr>
          <a:xfrm>
            <a:off x="777240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77240" y="2743200"/>
            <a:ext cx="2011680" cy="16459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051560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4213D"/>
                </a:solidFill>
                <a:latin typeface="Georgia"/>
              </a:rPr>
              <a:t>SPEC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88920" y="3200400"/>
            <a:ext cx="146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35224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2935224" y="2743200"/>
            <a:ext cx="2011680" cy="16459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209544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4213D"/>
                </a:solidFill>
                <a:latin typeface="Georgia"/>
              </a:rPr>
              <a:t>PLAN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946904" y="3200400"/>
            <a:ext cx="146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93208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5093208" y="2743200"/>
            <a:ext cx="2011680" cy="16459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367528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4213D"/>
                </a:solidFill>
                <a:latin typeface="Georgia"/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104888" y="3200400"/>
            <a:ext cx="146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251192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251192" y="2743200"/>
            <a:ext cx="2011680" cy="164592"/>
          </a:xfrm>
          <a:prstGeom prst="rect">
            <a:avLst/>
          </a:prstGeom>
          <a:solidFill>
            <a:srgbClr val="14213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525512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14213D"/>
                </a:solidFill>
                <a:latin typeface="Georgia"/>
              </a:rPr>
              <a:t>IMPLEMENT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62872" y="3200400"/>
            <a:ext cx="146304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000" b="0" i="0">
                <a:solidFill>
                  <a:srgbClr val="E8761B"/>
                </a:solidFill>
                <a:latin typeface="Georgia"/>
              </a:rPr>
              <a:t>→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09176" y="2743200"/>
            <a:ext cx="2011680" cy="146304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409176" y="2743200"/>
            <a:ext cx="2011680" cy="164592"/>
          </a:xfrm>
          <a:prstGeom prst="rect">
            <a:avLst/>
          </a:prstGeom>
          <a:solidFill>
            <a:srgbClr val="E8761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83496" y="3291840"/>
            <a:ext cx="20116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2200" b="0" i="1">
                <a:solidFill>
                  <a:srgbClr val="E8761B"/>
                </a:solidFill>
                <a:latin typeface="Georgia"/>
              </a:rPr>
              <a:t>VERIFY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1520" y="50292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15000"/>
              </a:lnSpc>
            </a:pPr>
            <a:r>
              <a:rPr sz="1800" b="0" i="1">
                <a:solidFill>
                  <a:srgbClr val="E8761B"/>
                </a:solidFill>
                <a:latin typeface="Georgia"/>
              </a:rPr>
              <a:t>In that order. Every time. Skip Verify and you didn't finish.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WRAP-UP  ·  HONESTY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78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We spent today on the right way. Here's the other half.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000" b="0" i="0">
                <a:solidFill>
                  <a:srgbClr val="14213D"/>
                </a:solidFill>
                <a:latin typeface="Georgia"/>
              </a:rPr>
              <a:t>When NOT to use Claude Code.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22860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High-stakes security-critical code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0" y="23317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Human review is non-negotiable.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9718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29718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Code touching real client data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0" y="30175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Confidentiality rules apply. Personal accounts only.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6576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6576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you don't know what you want yet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0" y="37033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Talk to a human first. Claude can't decide what to build.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3434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3434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Five-line tweaks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0" y="43891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Just type them. Overhead isn't worth it.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5029200"/>
            <a:ext cx="4572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1" i="0">
                <a:solidFill>
                  <a:srgbClr val="E8761B"/>
                </a:solidFill>
                <a:latin typeface="Georgia"/>
              </a:rPr>
              <a:t>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371600" y="5029200"/>
            <a:ext cx="4114800" cy="4114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800" b="0" i="0">
                <a:solidFill>
                  <a:srgbClr val="14213D"/>
                </a:solidFill>
                <a:latin typeface="Georgia"/>
              </a:rPr>
              <a:t>When the problem isn't a software problem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0" y="5074920"/>
            <a:ext cx="621792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300" b="0" i="0">
                <a:solidFill>
                  <a:srgbClr val="1A1A1A"/>
                </a:solidFill>
                <a:latin typeface="Calibri"/>
              </a:rPr>
              <a:t>Most “tech” problems are coordination problems.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AF7F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48640" y="6263640"/>
            <a:ext cx="11094415" cy="9525"/>
          </a:xfrm>
          <a:prstGeom prst="rect">
            <a:avLst/>
          </a:prstGeom>
          <a:solidFill>
            <a:srgbClr val="E5E0D5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48640" y="6355080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120">
                <a:solidFill>
                  <a:srgbClr val="6B6B6B"/>
                </a:solidFill>
                <a:latin typeface="Calibri"/>
              </a:rPr>
              <a:t>CHAIR OF SUSTAINABILITY AND INNOVATION IN DIGITAL ECOSYSTEMS  ·  UNIVERSITY OF DUISBURG-ESSEN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6583680"/>
            <a:ext cx="64008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50" b="1" i="0" spc="200">
                <a:solidFill>
                  <a:srgbClr val="14213D"/>
                </a:solidFill>
                <a:latin typeface="Calibri"/>
              </a:rPr>
              <a:t>WRAP-UP  ·  TAKE WITH YOU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820095" y="640080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6B6B6B"/>
                </a:solidFill>
                <a:latin typeface="Consolas"/>
              </a:rPr>
              <a:t>79 / 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64008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400" b="0" i="1">
                <a:solidFill>
                  <a:srgbClr val="6B6B6B"/>
                </a:solidFill>
                <a:latin typeface="Georgia"/>
              </a:rPr>
              <a:t>Bookmark these. Office hours open for two weeks.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960120"/>
            <a:ext cx="109728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4400" b="0" i="0">
                <a:solidFill>
                  <a:srgbClr val="14213D"/>
                </a:solidFill>
                <a:latin typeface="Georgia"/>
              </a:rPr>
              <a:t>Resources.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22860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80160" y="22860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Workshop repo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0" y="23317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github.com/Place-Beyond-Bytes/pbb-vibecoding-masterclass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288036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80160" y="288036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Anthropic docs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0" y="292608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code.claude.com/docs/en  ·  the source of truth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1520" y="347472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80160" y="347472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Anthropic Skilljar (free)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486400" y="352044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Claude Code in Action — official video course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406908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280160" y="406908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Cheatsheet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0" y="411480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_handouts/cheatsheet.md — top commands and anti-patterns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31520" y="466344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280160" y="466344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Plan Critique Checklist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486400" y="470916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_handouts/plan-critique-checklist.md — the five questions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31520" y="5257800"/>
            <a:ext cx="36576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2200" b="0" i="0">
                <a:solidFill>
                  <a:srgbClr val="E8761B"/>
                </a:solidFill>
                <a:latin typeface="Georgia"/>
              </a:rPr>
              <a:t>›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280160" y="5257800"/>
            <a:ext cx="4114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700" b="0" i="0">
                <a:solidFill>
                  <a:srgbClr val="14213D"/>
                </a:solidFill>
                <a:latin typeface="Georgia"/>
              </a:rPr>
              <a:t>Office hours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0" y="5303520"/>
            <a:ext cx="6400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6B6B6B"/>
                </a:solidFill>
                <a:latin typeface="Consolas"/>
              </a:rPr>
              <a:t>30-min slots for two weeks. Email me to book.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42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82296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ONE THING TO TAKE HOME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128016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Spec.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224028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Plan.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320040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Test.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416052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FFFFFF"/>
                </a:solidFill>
                <a:latin typeface="Georgia"/>
              </a:rPr>
              <a:t>Implement.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5120640"/>
            <a:ext cx="1097280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6400" b="0" i="1">
                <a:solidFill>
                  <a:srgbClr val="E8761B"/>
                </a:solidFill>
                <a:latin typeface="Georgia"/>
              </a:rPr>
              <a:t>Verify.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162495" y="173736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IN THAT ORDER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2495" y="2148840"/>
            <a:ext cx="4572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1100" b="1" i="0" spc="400">
                <a:solidFill>
                  <a:srgbClr val="E8761B"/>
                </a:solidFill>
                <a:latin typeface="Calibri"/>
              </a:rPr>
              <a:t>EVERY TIME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62495" y="4114800"/>
            <a:ext cx="45720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4400" b="0" i="1">
                <a:solidFill>
                  <a:srgbClr val="FFFFFF"/>
                </a:solidFill>
                <a:latin typeface="Georgia"/>
              </a:rPr>
              <a:t>Thank you.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6355080"/>
            <a:ext cx="8229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800" b="0" i="0" spc="200">
                <a:solidFill>
                  <a:srgbClr val="8899B0"/>
                </a:solidFill>
                <a:latin typeface="Calibri"/>
              </a:rPr>
              <a:t>ELIAS JELINEK  ·  PLACE BEYOND BYTES  ·  SUST  ·  UDE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820095" y="6355080"/>
            <a:ext cx="82296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15000"/>
              </a:lnSpc>
            </a:pPr>
            <a:r>
              <a:rPr sz="900" b="0" i="0">
                <a:solidFill>
                  <a:srgbClr val="8899B0"/>
                </a:solidFill>
                <a:latin typeface="Consolas"/>
              </a:rPr>
              <a:t>80 / 80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